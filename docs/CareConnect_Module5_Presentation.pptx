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891B2"/>
                </a:solidFill>
                <a:latin typeface="Arial"/>
              </a:defRPr>
            </a:pPr>
            <a:r>
              <a:rPr sz="1400" b="0" i="0" u="none" strike="noStrike">
                <a:solidFill>
                  <a:srgbClr val="0891B2"/>
                </a:solidFill>
                <a:latin typeface="Arial"/>
              </a:rPr>
              <a:t>Missed visits by days booked ahead (%)</a:t>
            </a:r>
          </a:p>
        </c:rich>
      </c:tx>
      <c:layout/>
      <c:overlay val="0"/>
    </c:title>
    <c:autoTitleDeleted val="0"/>
    <c:plotArea>
      <c:layout/>
      <c:barChart>
        <c:barDir val="col"/>
        <c:grouping val="clustered"/>
        <c:varyColors val="0"/>
        <c:ser>
          <c:idx val="0"/>
          <c:order val="0"/>
          <c:tx>
            <c:strRef>
              <c:f>Sheet1!$B$1</c:f>
              <c:strCache>
                <c:ptCount val="1"/>
                <c:pt idx="0">
                  <c:v>% missed</c:v>
                </c:pt>
              </c:strCache>
            </c:strRef>
          </c:tx>
          <c:spPr>
            <a:solidFill>
              <a:srgbClr val="0891B2"/>
            </a:solidFill>
            <a:effectLst/>
          </c:spPr>
          <c:invertIfNegative val="0"/>
          <c:dLbls>
            <c:numFmt formatCode="0&quot;%&quot;"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cat>
            <c:multiLvlStrRef>
              <c:f>Sheet1!$A$2:$A$7</c:f>
              <c:multiLvlStrCache>
                <c:ptCount val="6"/>
                <c:lvl>
                  <c:pt idx="0">
                    <c:v>Same day</c:v>
                  </c:pt>
                  <c:pt idx="1">
                    <c:v>1-3 days</c:v>
                  </c:pt>
                  <c:pt idx="2">
                    <c:v>4-7 days</c:v>
                  </c:pt>
                  <c:pt idx="3">
                    <c:v>8-14 days</c:v>
                  </c:pt>
                  <c:pt idx="4">
                    <c:v>15-30 days</c:v>
                  </c:pt>
                  <c:pt idx="5">
                    <c:v>31+ days</c:v>
                  </c:pt>
                </c:lvl>
              </c:multiLvlStrCache>
            </c:multiLvlStrRef>
          </c:cat>
          <c:val>
            <c:numRef>
              <c:f>Sheet1!$B$2:$B$7</c:f>
              <c:numCache>
                <c:formatCode>General</c:formatCode>
                <c:ptCount val="6"/>
                <c:pt idx="0">
                  <c:v>4.6</c:v>
                </c:pt>
                <c:pt idx="1">
                  <c:v>22.9</c:v>
                </c:pt>
                <c:pt idx="2">
                  <c:v>25.2</c:v>
                </c:pt>
                <c:pt idx="3">
                  <c:v>30.5</c:v>
                </c:pt>
                <c:pt idx="4">
                  <c:v>32.6</c:v>
                </c:pt>
                <c:pt idx="5">
                  <c:v>33</c:v>
                </c:pt>
              </c:numCache>
            </c:numRef>
          </c:val>
        </c:ser>
        <c:dLbls>
          <c:numFmt formatCode="0&quot;%&quot;"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891B2"/>
                </a:solidFill>
                <a:latin typeface="Arial"/>
              </a:defRPr>
            </a:pPr>
            <a:r>
              <a:rPr sz="1400" b="0" i="0" u="none" strike="noStrike">
                <a:solidFill>
                  <a:srgbClr val="0891B2"/>
                </a:solidFill>
                <a:latin typeface="Arial"/>
              </a:rPr>
              <a:t>By score group, 1 lowest to 10 highest (%)</a:t>
            </a:r>
          </a:p>
        </c:rich>
      </c:tx>
      <c:layout/>
      <c:overlay val="0"/>
    </c:title>
    <c:autoTitleDeleted val="0"/>
    <c:plotArea>
      <c:layout/>
      <c:barChart>
        <c:barDir val="col"/>
        <c:grouping val="clustered"/>
        <c:varyColors val="0"/>
        <c:ser>
          <c:idx val="0"/>
          <c:order val="0"/>
          <c:tx>
            <c:strRef>
              <c:f>Sheet1!$B$1</c:f>
              <c:strCache>
                <c:ptCount val="1"/>
                <c:pt idx="0">
                  <c:v>Actually missed</c:v>
                </c:pt>
              </c:strCache>
            </c:strRef>
          </c:tx>
          <c:spPr>
            <a:solidFill>
              <a:srgbClr val="0891B2"/>
            </a:solidFill>
            <a:effectLst/>
          </c:spPr>
          <c:invertIfNegative val="0"/>
          <c:dLbls>
            <c:numFmt formatCode="#,##0" sourceLinked="0"/>
            <c:txPr>
              <a:bodyPr/>
              <a:lstStyle/>
              <a:p>
                <a:pPr>
                  <a:defRPr b="0" i="0" strike="noStrike" sz="1100" u="none">
                    <a:solidFill>
                      <a:srgbClr val="0F172A"/>
                    </a:solidFill>
                    <a:latin typeface="Arial"/>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2.1</c:v>
                </c:pt>
                <c:pt idx="1">
                  <c:v>2.9</c:v>
                </c:pt>
                <c:pt idx="2">
                  <c:v>4.6</c:v>
                </c:pt>
                <c:pt idx="3">
                  <c:v>13.3</c:v>
                </c:pt>
                <c:pt idx="4">
                  <c:v>17.7</c:v>
                </c:pt>
                <c:pt idx="5">
                  <c:v>22.4</c:v>
                </c:pt>
                <c:pt idx="6">
                  <c:v>26.6</c:v>
                </c:pt>
                <c:pt idx="7">
                  <c:v>31.3</c:v>
                </c:pt>
                <c:pt idx="8">
                  <c:v>34.7</c:v>
                </c:pt>
                <c:pt idx="9">
                  <c:v>46.3</c:v>
                </c:pt>
              </c:numCache>
            </c:numRef>
          </c:val>
        </c:ser>
        <c:ser>
          <c:idx val="1"/>
          <c:order val="1"/>
          <c:tx>
            <c:strRef>
              <c:f>Sheet1!$C$1</c:f>
              <c:strCache>
                <c:ptCount val="1"/>
                <c:pt idx="0">
                  <c:v>Model's average score</c:v>
                </c:pt>
              </c:strCache>
            </c:strRef>
          </c:tx>
          <c:spPr>
            <a:solidFill>
              <a:srgbClr val="DB2777"/>
            </a:solidFill>
            <a:effectLst/>
          </c:spPr>
          <c:invertIfNegative val="0"/>
          <c:dLbls>
            <c:numFmt formatCode="#,##0" sourceLinked="0"/>
            <c:txPr>
              <a:bodyPr/>
              <a:lstStyle/>
              <a:p>
                <a:pPr>
                  <a:defRPr b="0" i="0" strike="noStrike" sz="1100" u="none">
                    <a:solidFill>
                      <a:srgbClr val="0F172A"/>
                    </a:solidFill>
                    <a:latin typeface="Arial"/>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3.1</c:v>
                </c:pt>
                <c:pt idx="1">
                  <c:v>3.6</c:v>
                </c:pt>
                <c:pt idx="2">
                  <c:v>4.6</c:v>
                </c:pt>
                <c:pt idx="3">
                  <c:v>13.9</c:v>
                </c:pt>
                <c:pt idx="4">
                  <c:v>20.6</c:v>
                </c:pt>
                <c:pt idx="5">
                  <c:v>23.5</c:v>
                </c:pt>
                <c:pt idx="6">
                  <c:v>26.4</c:v>
                </c:pt>
                <c:pt idx="7">
                  <c:v>29.8</c:v>
                </c:pt>
                <c:pt idx="8">
                  <c:v>33.8</c:v>
                </c:pt>
                <c:pt idx="9">
                  <c:v>43</c:v>
                </c:pt>
              </c:numCache>
            </c:numRef>
          </c:val>
        </c:ser>
        <c:dLbls>
          <c:numFmt formatCode="#,##0" sourceLinked="0"/>
          <c:txPr>
            <a:bodyPr/>
            <a:lstStyle/>
            <a:p>
              <a:pPr>
                <a:defRPr b="0" i="0" strike="noStrike" sz="1100" u="none">
                  <a:solidFill>
                    <a:srgbClr val="0F172A"/>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172A"/>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891B2"/>
                </a:solidFill>
                <a:latin typeface="Arial"/>
              </a:defRPr>
            </a:pPr>
            <a:r>
              <a:rPr sz="1400" b="0" i="0" u="none" strike="noStrike">
                <a:solidFill>
                  <a:srgbClr val="0891B2"/>
                </a:solidFill>
                <a:latin typeface="Arial"/>
              </a:rPr>
              <a:t>Share of the model's decision-making (%)</a:t>
            </a:r>
          </a:p>
        </c:rich>
      </c:tx>
      <c:layout/>
      <c:overlay val="0"/>
    </c:title>
    <c:autoTitleDeleted val="0"/>
    <c:plotArea>
      <c:layout/>
      <c:barChart>
        <c:barDir val="bar"/>
        <c:grouping val="clustered"/>
        <c:varyColors val="0"/>
        <c:ser>
          <c:idx val="0"/>
          <c:order val="0"/>
          <c:tx>
            <c:strRef>
              <c:f>Sheet1!$B$1</c:f>
              <c:strCache>
                <c:ptCount val="1"/>
                <c:pt idx="0">
                  <c:v>Share of influence</c:v>
                </c:pt>
              </c:strCache>
            </c:strRef>
          </c:tx>
          <c:spPr>
            <a:solidFill>
              <a:srgbClr val="0891B2"/>
            </a:solidFill>
            <a:effectLst/>
          </c:spPr>
          <c:invertIfNegative val="0"/>
          <c:dLbls>
            <c:numFmt formatCode="0&quot;%&quot;"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cat>
            <c:multiLvlStrRef>
              <c:f>Sheet1!$A$2:$A$9</c:f>
              <c:multiLvlStrCache>
                <c:ptCount val="8"/>
                <c:lvl>
                  <c:pt idx="0">
                    <c:v>Number of past misses</c:v>
                  </c:pt>
                  <c:pt idx="1">
                    <c:v>Neighbourhood</c:v>
                  </c:pt>
                  <c:pt idx="2">
                    <c:v>Month of visit</c:v>
                  </c:pt>
                  <c:pt idx="3">
                    <c:v>Number of past visits</c:v>
                  </c:pt>
                  <c:pt idx="4">
                    <c:v>Reminder SMS sent</c:v>
                  </c:pt>
                  <c:pt idx="5">
                    <c:v>Share of past visits missed</c:v>
                  </c:pt>
                  <c:pt idx="6">
                    <c:v>Patient age</c:v>
                  </c:pt>
                  <c:pt idx="7">
                    <c:v>Days booked ahead</c:v>
                  </c:pt>
                </c:lvl>
              </c:multiLvlStrCache>
            </c:multiLvlStrRef>
          </c:cat>
          <c:val>
            <c:numRef>
              <c:f>Sheet1!$B$2:$B$9</c:f>
              <c:numCache>
                <c:formatCode>General</c:formatCode>
                <c:ptCount val="8"/>
                <c:pt idx="0">
                  <c:v>2.1</c:v>
                </c:pt>
                <c:pt idx="1">
                  <c:v>2.4</c:v>
                </c:pt>
                <c:pt idx="2">
                  <c:v>2.6</c:v>
                </c:pt>
                <c:pt idx="3">
                  <c:v>2.9</c:v>
                </c:pt>
                <c:pt idx="4">
                  <c:v>3.7</c:v>
                </c:pt>
                <c:pt idx="5">
                  <c:v>9.1</c:v>
                </c:pt>
                <c:pt idx="6">
                  <c:v>10.5</c:v>
                </c:pt>
                <c:pt idx="7">
                  <c:v>61.4</c:v>
                </c:pt>
              </c:numCache>
            </c:numRef>
          </c:val>
        </c:ser>
        <c:dLbls>
          <c:numFmt formatCode="0&quot;%&quot;"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75"/>
          <c:min val="0"/>
        </c:scaling>
        <c:delete val="0"/>
        <c:axPos val="b"/>
        <c:majorGridlines>
          <c:spPr>
            <a:ln w="6350" cap="flat">
              <a:solidFill>
                <a:srgbClr val="E2E8F0"/>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891B2"/>
                </a:solidFill>
                <a:latin typeface="Arial"/>
              </a:defRPr>
            </a:pPr>
            <a:r>
              <a:rPr sz="1400" b="0" i="0" u="none" strike="noStrike">
                <a:solidFill>
                  <a:srgbClr val="0891B2"/>
                </a:solidFill>
                <a:latin typeface="Arial"/>
              </a:rPr>
              <a:t>Average change in risk score (points)</a:t>
            </a:r>
          </a:p>
        </c:rich>
      </c:tx>
      <c:layout/>
      <c:overlay val="0"/>
    </c:title>
    <c:autoTitleDeleted val="0"/>
    <c:plotArea>
      <c:layout/>
      <c:barChart>
        <c:barDir val="bar"/>
        <c:grouping val="clustered"/>
        <c:varyColors val="0"/>
        <c:ser>
          <c:idx val="0"/>
          <c:order val="0"/>
          <c:tx>
            <c:strRef>
              <c:f>Sheet1!$B$1</c:f>
              <c:strCache>
                <c:ptCount val="1"/>
                <c:pt idx="0">
                  <c:v>Points</c:v>
                </c:pt>
              </c:strCache>
            </c:strRef>
          </c:tx>
          <c:spPr>
            <a:solidFill>
              <a:srgbClr val="0891B2"/>
            </a:solidFill>
            <a:effectLst/>
          </c:spPr>
          <c:invertIfNegative val="0"/>
          <c:dLbls>
            <c:numFmt formatCode="+0.0;-0.0"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cat>
            <c:multiLvlStrRef>
              <c:f>Sheet1!$A$2:$A$6</c:f>
              <c:multiLvlStrCache>
                <c:ptCount val="5"/>
                <c:lvl>
                  <c:pt idx="0">
                    <c:v>No past missed visits</c:v>
                  </c:pt>
                  <c:pt idx="1">
                    <c:v>Nobody marked 'SMS sent'</c:v>
                  </c:pt>
                  <c:pt idx="2">
                    <c:v>Everyone marked 'SMS sent'</c:v>
                  </c:pt>
                  <c:pt idx="3">
                    <c:v>Booked 14 days ahead at most</c:v>
                  </c:pt>
                  <c:pt idx="4">
                    <c:v>Booked 7 days ahead at most</c:v>
                  </c:pt>
                </c:lvl>
              </c:multiLvlStrCache>
            </c:multiLvlStrRef>
          </c:cat>
          <c:val>
            <c:numRef>
              <c:f>Sheet1!$B$2:$B$6</c:f>
              <c:numCache>
                <c:formatCode>General</c:formatCode>
                <c:ptCount val="5"/>
                <c:pt idx="0">
                  <c:v>-1.4</c:v>
                </c:pt>
                <c:pt idx="1">
                  <c:v>1.1</c:v>
                </c:pt>
                <c:pt idx="2">
                  <c:v>-0.8</c:v>
                </c:pt>
                <c:pt idx="3">
                  <c:v>-0.4</c:v>
                </c:pt>
                <c:pt idx="4">
                  <c:v>-1.9</c:v>
                </c:pt>
              </c:numCache>
            </c:numRef>
          </c:val>
        </c:ser>
        <c:dLbls>
          <c:numFmt formatCode="+0.0;-0.0"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2"/>
          <c:min val="-2.6"/>
        </c:scaling>
        <c:delete val="0"/>
        <c:axPos val="b"/>
        <c:majorGridlines>
          <c:spPr>
            <a:ln w="6350" cap="flat">
              <a:solidFill>
                <a:srgbClr val="E2E8F0"/>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891B2"/>
                </a:solidFill>
                <a:latin typeface="Arial"/>
              </a:defRPr>
            </a:pPr>
            <a:r>
              <a:rPr sz="1400" b="0" i="0" u="none" strike="noStrike">
                <a:solidFill>
                  <a:srgbClr val="0891B2"/>
                </a:solidFill>
                <a:latin typeface="Arial"/>
              </a:rPr>
              <a:t>By age group (%)</a:t>
            </a:r>
          </a:p>
        </c:rich>
      </c:tx>
      <c:layout/>
      <c:overlay val="0"/>
    </c:title>
    <c:autoTitleDeleted val="0"/>
    <c:plotArea>
      <c:layout/>
      <c:barChart>
        <c:barDir val="col"/>
        <c:grouping val="clustered"/>
        <c:varyColors val="0"/>
        <c:ser>
          <c:idx val="0"/>
          <c:order val="0"/>
          <c:tx>
            <c:strRef>
              <c:f>Sheet1!$B$1</c:f>
              <c:strCache>
                <c:ptCount val="1"/>
                <c:pt idx="0">
                  <c:v>Actually missed</c:v>
                </c:pt>
              </c:strCache>
            </c:strRef>
          </c:tx>
          <c:spPr>
            <a:solidFill>
              <a:srgbClr val="64748B"/>
            </a:solidFill>
            <a:effectLst/>
          </c:spPr>
          <c:invertIfNegative val="0"/>
          <c:dLbls>
            <c:numFmt formatCode="#,##0" sourceLinked="0"/>
            <c:txPr>
              <a:bodyPr/>
              <a:lstStyle/>
              <a:p>
                <a:pPr>
                  <a:defRPr b="0" i="0" strike="noStrike" sz="1100" u="none">
                    <a:solidFill>
                      <a:srgbClr val="0F172A"/>
                    </a:solidFill>
                    <a:latin typeface="Arial"/>
                  </a:defRPr>
                </a:pPr>
              </a:p>
            </c:txPr>
            <c:showLegendKey val="0"/>
            <c:showVal val="0"/>
            <c:showCatName val="0"/>
            <c:showSerName val="0"/>
            <c:showPercent val="0"/>
            <c:showBubbleSize val="0"/>
            <c:showLeaderLines val="0"/>
          </c:dLbls>
          <c:cat>
            <c:multiLvlStrRef>
              <c:f>Sheet1!$A$2:$A$7</c:f>
              <c:multiLvlStrCache>
                <c:ptCount val="6"/>
                <c:lvl>
                  <c:pt idx="0">
                    <c:v>Child 0-12</c:v>
                  </c:pt>
                  <c:pt idx="1">
                    <c:v>Teen 13-18</c:v>
                  </c:pt>
                  <c:pt idx="2">
                    <c:v>Young adult 19-35</c:v>
                  </c:pt>
                  <c:pt idx="3">
                    <c:v>Adult 36-55</c:v>
                  </c:pt>
                  <c:pt idx="4">
                    <c:v>Senior 56-75</c:v>
                  </c:pt>
                  <c:pt idx="5">
                    <c:v>Elderly 76+</c:v>
                  </c:pt>
                </c:lvl>
              </c:multiLvlStrCache>
            </c:multiLvlStrRef>
          </c:cat>
          <c:val>
            <c:numRef>
              <c:f>Sheet1!$B$2:$B$7</c:f>
              <c:numCache>
                <c:formatCode>General</c:formatCode>
                <c:ptCount val="6"/>
                <c:pt idx="0">
                  <c:v>21.2</c:v>
                </c:pt>
                <c:pt idx="1">
                  <c:v>27.2</c:v>
                </c:pt>
                <c:pt idx="2">
                  <c:v>23.8</c:v>
                </c:pt>
                <c:pt idx="3">
                  <c:v>19.7</c:v>
                </c:pt>
                <c:pt idx="4">
                  <c:v>15</c:v>
                </c:pt>
                <c:pt idx="5">
                  <c:v>14.3</c:v>
                </c:pt>
              </c:numCache>
            </c:numRef>
          </c:val>
        </c:ser>
        <c:ser>
          <c:idx val="1"/>
          <c:order val="1"/>
          <c:tx>
            <c:strRef>
              <c:f>Sheet1!$C$1</c:f>
              <c:strCache>
                <c:ptCount val="1"/>
                <c:pt idx="0">
                  <c:v>Flagged by the model</c:v>
                </c:pt>
              </c:strCache>
            </c:strRef>
          </c:tx>
          <c:spPr>
            <a:solidFill>
              <a:srgbClr val="0891B2"/>
            </a:solidFill>
            <a:effectLst/>
          </c:spPr>
          <c:invertIfNegative val="0"/>
          <c:dLbls>
            <c:numFmt formatCode="#,##0" sourceLinked="0"/>
            <c:txPr>
              <a:bodyPr/>
              <a:lstStyle/>
              <a:p>
                <a:pPr>
                  <a:defRPr b="0" i="0" strike="noStrike" sz="1100" u="none">
                    <a:solidFill>
                      <a:srgbClr val="0F172A"/>
                    </a:solidFill>
                    <a:latin typeface="Arial"/>
                  </a:defRPr>
                </a:pPr>
              </a:p>
            </c:txPr>
            <c:showLegendKey val="0"/>
            <c:showVal val="0"/>
            <c:showCatName val="0"/>
            <c:showSerName val="0"/>
            <c:showPercent val="0"/>
            <c:showBubbleSize val="0"/>
            <c:showLeaderLines val="0"/>
          </c:dLbls>
          <c:cat>
            <c:multiLvlStrRef>
              <c:f>Sheet1!$A$2:$A$7</c:f>
              <c:multiLvlStrCache>
                <c:ptCount val="6"/>
                <c:lvl>
                  <c:pt idx="0">
                    <c:v>Child 0-12</c:v>
                  </c:pt>
                  <c:pt idx="1">
                    <c:v>Teen 13-18</c:v>
                  </c:pt>
                  <c:pt idx="2">
                    <c:v>Young adult 19-35</c:v>
                  </c:pt>
                  <c:pt idx="3">
                    <c:v>Adult 36-55</c:v>
                  </c:pt>
                  <c:pt idx="4">
                    <c:v>Senior 56-75</c:v>
                  </c:pt>
                  <c:pt idx="5">
                    <c:v>Elderly 76+</c:v>
                  </c:pt>
                </c:lvl>
              </c:multiLvlStrCache>
            </c:multiLvlStrRef>
          </c:cat>
          <c:val>
            <c:numRef>
              <c:f>Sheet1!$C$2:$C$7</c:f>
              <c:numCache>
                <c:formatCode>General</c:formatCode>
                <c:ptCount val="6"/>
                <c:pt idx="0">
                  <c:v>49.5</c:v>
                </c:pt>
                <c:pt idx="1">
                  <c:v>60.6</c:v>
                </c:pt>
                <c:pt idx="2">
                  <c:v>59</c:v>
                </c:pt>
                <c:pt idx="3">
                  <c:v>38</c:v>
                </c:pt>
                <c:pt idx="4">
                  <c:v>8.6</c:v>
                </c:pt>
                <c:pt idx="5">
                  <c:v>12.9</c:v>
                </c:pt>
              </c:numCache>
            </c:numRef>
          </c:val>
        </c:ser>
        <c:dLbls>
          <c:numFmt formatCode="#,##0" sourceLinked="0"/>
          <c:txPr>
            <a:bodyPr/>
            <a:lstStyle/>
            <a:p>
              <a:pPr>
                <a:defRPr b="0" i="0" strike="noStrike" sz="1100" u="none">
                  <a:solidFill>
                    <a:srgbClr val="0F172A"/>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172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Purpose: communicate findings neutrally. No recommendation is made in this deck, per the assignment scope. All figures come from the Module 3 pipeline and Module 4 model run on the real Kaggle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slide. These are decision needs, not recommendations. Ethics stakeholders come from Module 1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problem from Module 1. Note the training data's no-show rate (about 20%) is lower than CrescentCare's 28%; the model has not seen CrescentCare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explanation. Avoid jargon: describe XGBoost only as a decision-tree model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AUC and recall targets are met; F1 is 0.46 versus 0.55 target; age fairness fails on the standard rule. Default 0.5 threshold recall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same-day bookings are missed 4.6% of the time; 31+ days ahead 33%. Right: lowest score group missed 2%, highest 46%; scores track real outcomes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shares are each factor's average absolute push on the score, as a share of the total. Neighbourhood was described as a transit proxy in earlier modules; in this run it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were chosen to span the three risk tiers and different age groups, not to flatter the model. The medium example attended; the model is only a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What-if effects are on the model's score, holding other inputs fixed. They are associations. A randomised pilot would be needed to show real-world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Gender passes. Age group fails by a wide margin, and the welfare-scholarship stand-in also fails. Under the Ethical Charter, a breach of the 5% limit is a halt condition. This is reported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trade-off between equity and coordinator workload. The deck lays it out for the Ethics Committee and leadership; it does not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are stated before any suggestion to act. The training data difference from CrescentCare is the most important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from Module 1: AI Ethics Committee with binding veto, Privacy Officer, Patient Advocate. Charts in this deck start at zero and show every group, so they do not exaggerate or hide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implications, not recommendations, as the assignment requires. No dollar ROI is stated because no outreach effect has been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options for discussion. This deck intentionally contains no formal recommendation or executive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4's report states 110,527 records after cleaning and 21 features; the real pipeline output is 110,514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YOUR-APP-NAME.streamlit.app"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YOUR-APP-NAME.streamlit.app"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Shape 2"/>
          <p:cNvSpPr/>
          <p:nvPr/>
        </p:nvSpPr>
        <p:spPr>
          <a:xfrm>
            <a:off x="5029200" y="548640"/>
            <a:ext cx="4572000" cy="4572000"/>
          </a:xfrm>
          <a:prstGeom prst="ellipse">
            <a:avLst/>
          </a:prstGeom>
          <a:solidFill>
            <a:srgbClr val="0891B2">
              <a:alpha val="14000"/>
            </a:srgbClr>
          </a:solidFill>
          <a:ln w="12700">
            <a:solidFill>
              <a:srgbClr val="0891B2">
                <a:alpha val="0"/>
              </a:srgbClr>
            </a:solidFill>
            <a:prstDash val="solid"/>
          </a:ln>
        </p:spPr>
      </p:sp>
      <p:sp>
        <p:nvSpPr>
          <p:cNvPr id="5" name="Shape 3"/>
          <p:cNvSpPr/>
          <p:nvPr/>
        </p:nvSpPr>
        <p:spPr>
          <a:xfrm>
            <a:off x="7315200" y="2743200"/>
            <a:ext cx="3200400" cy="3200400"/>
          </a:xfrm>
          <a:prstGeom prst="ellipse">
            <a:avLst/>
          </a:prstGeom>
          <a:solidFill>
            <a:srgbClr val="DB2777">
              <a:alpha val="10000"/>
            </a:srgbClr>
          </a:solidFill>
          <a:ln w="12700">
            <a:solidFill>
              <a:srgbClr val="DB2777">
                <a:alpha val="0"/>
              </a:srgbClr>
            </a:solidFill>
            <a:prstDash val="solid"/>
          </a:ln>
        </p:spPr>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01</a:t>
            </a:r>
            <a:endParaRPr lang="en-US" sz="1000" dirty="0"/>
          </a:p>
        </p:txBody>
      </p:sp>
      <p:sp>
        <p:nvSpPr>
          <p:cNvPr id="7" name="Shape 5"/>
          <p:cNvSpPr/>
          <p:nvPr/>
        </p:nvSpPr>
        <p:spPr>
          <a:xfrm flipV="1">
            <a:off x="5486400" y="1033272"/>
            <a:ext cx="800100" cy="201168"/>
          </a:xfrm>
          <a:prstGeom prst="line">
            <a:avLst/>
          </a:prstGeom>
          <a:noFill/>
          <a:ln w="7620">
            <a:solidFill>
              <a:srgbClr val="0891B2">
                <a:alpha val="45000"/>
              </a:srgbClr>
            </a:solidFill>
            <a:prstDash val="solid"/>
          </a:ln>
        </p:spPr>
      </p:sp>
      <p:sp>
        <p:nvSpPr>
          <p:cNvPr id="8" name="Shape 6"/>
          <p:cNvSpPr/>
          <p:nvPr/>
        </p:nvSpPr>
        <p:spPr>
          <a:xfrm>
            <a:off x="5486400" y="1234440"/>
            <a:ext cx="800100" cy="402336"/>
          </a:xfrm>
          <a:prstGeom prst="line">
            <a:avLst/>
          </a:prstGeom>
          <a:noFill/>
          <a:ln w="7620">
            <a:solidFill>
              <a:srgbClr val="0891B2">
                <a:alpha val="45000"/>
              </a:srgbClr>
            </a:solidFill>
            <a:prstDash val="solid"/>
          </a:ln>
        </p:spPr>
      </p:sp>
      <p:sp>
        <p:nvSpPr>
          <p:cNvPr id="9" name="Shape 7"/>
          <p:cNvSpPr/>
          <p:nvPr/>
        </p:nvSpPr>
        <p:spPr>
          <a:xfrm>
            <a:off x="5486400" y="1234440"/>
            <a:ext cx="800100" cy="1005840"/>
          </a:xfrm>
          <a:prstGeom prst="line">
            <a:avLst/>
          </a:prstGeom>
          <a:noFill/>
          <a:ln w="7620">
            <a:solidFill>
              <a:srgbClr val="0891B2">
                <a:alpha val="45000"/>
              </a:srgbClr>
            </a:solidFill>
            <a:prstDash val="solid"/>
          </a:ln>
        </p:spPr>
      </p:sp>
      <p:sp>
        <p:nvSpPr>
          <p:cNvPr id="10" name="Shape 8"/>
          <p:cNvSpPr/>
          <p:nvPr/>
        </p:nvSpPr>
        <p:spPr>
          <a:xfrm>
            <a:off x="5486400" y="1234440"/>
            <a:ext cx="800100" cy="1609344"/>
          </a:xfrm>
          <a:prstGeom prst="line">
            <a:avLst/>
          </a:prstGeom>
          <a:noFill/>
          <a:ln w="7620">
            <a:solidFill>
              <a:srgbClr val="0891B2">
                <a:alpha val="45000"/>
              </a:srgbClr>
            </a:solidFill>
            <a:prstDash val="solid"/>
          </a:ln>
        </p:spPr>
      </p:sp>
      <p:sp>
        <p:nvSpPr>
          <p:cNvPr id="11" name="Shape 9"/>
          <p:cNvSpPr/>
          <p:nvPr/>
        </p:nvSpPr>
        <p:spPr>
          <a:xfrm>
            <a:off x="5486400" y="1234440"/>
            <a:ext cx="800100" cy="2212848"/>
          </a:xfrm>
          <a:prstGeom prst="line">
            <a:avLst/>
          </a:prstGeom>
          <a:noFill/>
          <a:ln w="7620">
            <a:solidFill>
              <a:srgbClr val="0891B2">
                <a:alpha val="45000"/>
              </a:srgbClr>
            </a:solidFill>
            <a:prstDash val="solid"/>
          </a:ln>
        </p:spPr>
      </p:sp>
      <p:sp>
        <p:nvSpPr>
          <p:cNvPr id="12" name="Shape 10"/>
          <p:cNvSpPr/>
          <p:nvPr/>
        </p:nvSpPr>
        <p:spPr>
          <a:xfrm flipV="1">
            <a:off x="5486400" y="1033272"/>
            <a:ext cx="800100" cy="1207008"/>
          </a:xfrm>
          <a:prstGeom prst="line">
            <a:avLst/>
          </a:prstGeom>
          <a:noFill/>
          <a:ln w="7620">
            <a:solidFill>
              <a:srgbClr val="0891B2">
                <a:alpha val="45000"/>
              </a:srgbClr>
            </a:solidFill>
            <a:prstDash val="solid"/>
          </a:ln>
        </p:spPr>
      </p:sp>
      <p:sp>
        <p:nvSpPr>
          <p:cNvPr id="13" name="Shape 11"/>
          <p:cNvSpPr/>
          <p:nvPr/>
        </p:nvSpPr>
        <p:spPr>
          <a:xfrm flipV="1">
            <a:off x="5486400" y="1636776"/>
            <a:ext cx="800100" cy="603504"/>
          </a:xfrm>
          <a:prstGeom prst="line">
            <a:avLst/>
          </a:prstGeom>
          <a:noFill/>
          <a:ln w="7620">
            <a:solidFill>
              <a:srgbClr val="0891B2">
                <a:alpha val="45000"/>
              </a:srgbClr>
            </a:solidFill>
            <a:prstDash val="solid"/>
          </a:ln>
        </p:spPr>
      </p:sp>
      <p:sp>
        <p:nvSpPr>
          <p:cNvPr id="14" name="Shape 12"/>
          <p:cNvSpPr/>
          <p:nvPr/>
        </p:nvSpPr>
        <p:spPr>
          <a:xfrm>
            <a:off x="5486400" y="2240280"/>
            <a:ext cx="800100" cy="0"/>
          </a:xfrm>
          <a:prstGeom prst="line">
            <a:avLst/>
          </a:prstGeom>
          <a:noFill/>
          <a:ln w="7620">
            <a:solidFill>
              <a:srgbClr val="0891B2">
                <a:alpha val="45000"/>
              </a:srgbClr>
            </a:solidFill>
            <a:prstDash val="solid"/>
          </a:ln>
        </p:spPr>
      </p:sp>
      <p:sp>
        <p:nvSpPr>
          <p:cNvPr id="15" name="Shape 13"/>
          <p:cNvSpPr/>
          <p:nvPr/>
        </p:nvSpPr>
        <p:spPr>
          <a:xfrm>
            <a:off x="5486400" y="2240280"/>
            <a:ext cx="800100" cy="603504"/>
          </a:xfrm>
          <a:prstGeom prst="line">
            <a:avLst/>
          </a:prstGeom>
          <a:noFill/>
          <a:ln w="7620">
            <a:solidFill>
              <a:srgbClr val="0891B2">
                <a:alpha val="45000"/>
              </a:srgbClr>
            </a:solidFill>
            <a:prstDash val="solid"/>
          </a:ln>
        </p:spPr>
      </p:sp>
      <p:sp>
        <p:nvSpPr>
          <p:cNvPr id="16" name="Shape 14"/>
          <p:cNvSpPr/>
          <p:nvPr/>
        </p:nvSpPr>
        <p:spPr>
          <a:xfrm>
            <a:off x="5486400" y="2240280"/>
            <a:ext cx="800100" cy="1207008"/>
          </a:xfrm>
          <a:prstGeom prst="line">
            <a:avLst/>
          </a:prstGeom>
          <a:noFill/>
          <a:ln w="7620">
            <a:solidFill>
              <a:srgbClr val="0891B2">
                <a:alpha val="45000"/>
              </a:srgbClr>
            </a:solidFill>
            <a:prstDash val="solid"/>
          </a:ln>
        </p:spPr>
      </p:sp>
      <p:sp>
        <p:nvSpPr>
          <p:cNvPr id="17" name="Shape 15"/>
          <p:cNvSpPr/>
          <p:nvPr/>
        </p:nvSpPr>
        <p:spPr>
          <a:xfrm flipV="1">
            <a:off x="5486400" y="1033272"/>
            <a:ext cx="800100" cy="2212848"/>
          </a:xfrm>
          <a:prstGeom prst="line">
            <a:avLst/>
          </a:prstGeom>
          <a:noFill/>
          <a:ln w="7620">
            <a:solidFill>
              <a:srgbClr val="0891B2">
                <a:alpha val="45000"/>
              </a:srgbClr>
            </a:solidFill>
            <a:prstDash val="solid"/>
          </a:ln>
        </p:spPr>
      </p:sp>
      <p:sp>
        <p:nvSpPr>
          <p:cNvPr id="18" name="Shape 16"/>
          <p:cNvSpPr/>
          <p:nvPr/>
        </p:nvSpPr>
        <p:spPr>
          <a:xfrm flipV="1">
            <a:off x="5486400" y="1636776"/>
            <a:ext cx="800100" cy="1609344"/>
          </a:xfrm>
          <a:prstGeom prst="line">
            <a:avLst/>
          </a:prstGeom>
          <a:noFill/>
          <a:ln w="7620">
            <a:solidFill>
              <a:srgbClr val="0891B2">
                <a:alpha val="45000"/>
              </a:srgbClr>
            </a:solidFill>
            <a:prstDash val="solid"/>
          </a:ln>
        </p:spPr>
      </p:sp>
      <p:sp>
        <p:nvSpPr>
          <p:cNvPr id="19" name="Shape 17"/>
          <p:cNvSpPr/>
          <p:nvPr/>
        </p:nvSpPr>
        <p:spPr>
          <a:xfrm flipV="1">
            <a:off x="5486400" y="2240280"/>
            <a:ext cx="800100" cy="1005840"/>
          </a:xfrm>
          <a:prstGeom prst="line">
            <a:avLst/>
          </a:prstGeom>
          <a:noFill/>
          <a:ln w="7620">
            <a:solidFill>
              <a:srgbClr val="0891B2">
                <a:alpha val="45000"/>
              </a:srgbClr>
            </a:solidFill>
            <a:prstDash val="solid"/>
          </a:ln>
        </p:spPr>
      </p:sp>
      <p:sp>
        <p:nvSpPr>
          <p:cNvPr id="20" name="Shape 18"/>
          <p:cNvSpPr/>
          <p:nvPr/>
        </p:nvSpPr>
        <p:spPr>
          <a:xfrm flipV="1">
            <a:off x="5486400" y="2843784"/>
            <a:ext cx="800100" cy="402336"/>
          </a:xfrm>
          <a:prstGeom prst="line">
            <a:avLst/>
          </a:prstGeom>
          <a:noFill/>
          <a:ln w="7620">
            <a:solidFill>
              <a:srgbClr val="0891B2">
                <a:alpha val="45000"/>
              </a:srgbClr>
            </a:solidFill>
            <a:prstDash val="solid"/>
          </a:ln>
        </p:spPr>
      </p:sp>
      <p:sp>
        <p:nvSpPr>
          <p:cNvPr id="21" name="Shape 19"/>
          <p:cNvSpPr/>
          <p:nvPr/>
        </p:nvSpPr>
        <p:spPr>
          <a:xfrm>
            <a:off x="5486400" y="3246120"/>
            <a:ext cx="800100" cy="201168"/>
          </a:xfrm>
          <a:prstGeom prst="line">
            <a:avLst/>
          </a:prstGeom>
          <a:noFill/>
          <a:ln w="7620">
            <a:solidFill>
              <a:srgbClr val="0891B2">
                <a:alpha val="45000"/>
              </a:srgbClr>
            </a:solidFill>
            <a:prstDash val="solid"/>
          </a:ln>
        </p:spPr>
      </p:sp>
      <p:sp>
        <p:nvSpPr>
          <p:cNvPr id="22" name="Shape 20"/>
          <p:cNvSpPr/>
          <p:nvPr/>
        </p:nvSpPr>
        <p:spPr>
          <a:xfrm flipV="1">
            <a:off x="6286500" y="982980"/>
            <a:ext cx="800100" cy="50292"/>
          </a:xfrm>
          <a:prstGeom prst="line">
            <a:avLst/>
          </a:prstGeom>
          <a:noFill/>
          <a:ln w="7620">
            <a:solidFill>
              <a:srgbClr val="7C3AED">
                <a:alpha val="45000"/>
              </a:srgbClr>
            </a:solidFill>
            <a:prstDash val="solid"/>
          </a:ln>
        </p:spPr>
      </p:sp>
      <p:sp>
        <p:nvSpPr>
          <p:cNvPr id="23" name="Shape 21"/>
          <p:cNvSpPr/>
          <p:nvPr/>
        </p:nvSpPr>
        <p:spPr>
          <a:xfrm>
            <a:off x="6286500" y="1033272"/>
            <a:ext cx="800100" cy="452628"/>
          </a:xfrm>
          <a:prstGeom prst="line">
            <a:avLst/>
          </a:prstGeom>
          <a:noFill/>
          <a:ln w="7620">
            <a:solidFill>
              <a:srgbClr val="7C3AED">
                <a:alpha val="45000"/>
              </a:srgbClr>
            </a:solidFill>
            <a:prstDash val="solid"/>
          </a:ln>
        </p:spPr>
      </p:sp>
      <p:sp>
        <p:nvSpPr>
          <p:cNvPr id="24" name="Shape 22"/>
          <p:cNvSpPr/>
          <p:nvPr/>
        </p:nvSpPr>
        <p:spPr>
          <a:xfrm>
            <a:off x="6286500" y="1033272"/>
            <a:ext cx="800100" cy="955548"/>
          </a:xfrm>
          <a:prstGeom prst="line">
            <a:avLst/>
          </a:prstGeom>
          <a:noFill/>
          <a:ln w="7620">
            <a:solidFill>
              <a:srgbClr val="7C3AED">
                <a:alpha val="45000"/>
              </a:srgbClr>
            </a:solidFill>
            <a:prstDash val="solid"/>
          </a:ln>
        </p:spPr>
      </p:sp>
      <p:sp>
        <p:nvSpPr>
          <p:cNvPr id="25" name="Shape 23"/>
          <p:cNvSpPr/>
          <p:nvPr/>
        </p:nvSpPr>
        <p:spPr>
          <a:xfrm>
            <a:off x="6286500" y="1033272"/>
            <a:ext cx="800100" cy="1458468"/>
          </a:xfrm>
          <a:prstGeom prst="line">
            <a:avLst/>
          </a:prstGeom>
          <a:noFill/>
          <a:ln w="7620">
            <a:solidFill>
              <a:srgbClr val="7C3AED">
                <a:alpha val="45000"/>
              </a:srgbClr>
            </a:solidFill>
            <a:prstDash val="solid"/>
          </a:ln>
        </p:spPr>
      </p:sp>
      <p:sp>
        <p:nvSpPr>
          <p:cNvPr id="26" name="Shape 24"/>
          <p:cNvSpPr/>
          <p:nvPr/>
        </p:nvSpPr>
        <p:spPr>
          <a:xfrm>
            <a:off x="6286500" y="1033272"/>
            <a:ext cx="800100" cy="1961388"/>
          </a:xfrm>
          <a:prstGeom prst="line">
            <a:avLst/>
          </a:prstGeom>
          <a:noFill/>
          <a:ln w="7620">
            <a:solidFill>
              <a:srgbClr val="7C3AED">
                <a:alpha val="45000"/>
              </a:srgbClr>
            </a:solidFill>
            <a:prstDash val="solid"/>
          </a:ln>
        </p:spPr>
      </p:sp>
      <p:sp>
        <p:nvSpPr>
          <p:cNvPr id="27" name="Shape 25"/>
          <p:cNvSpPr/>
          <p:nvPr/>
        </p:nvSpPr>
        <p:spPr>
          <a:xfrm>
            <a:off x="6286500" y="1033272"/>
            <a:ext cx="800100" cy="2464308"/>
          </a:xfrm>
          <a:prstGeom prst="line">
            <a:avLst/>
          </a:prstGeom>
          <a:noFill/>
          <a:ln w="7620">
            <a:solidFill>
              <a:srgbClr val="7C3AED">
                <a:alpha val="45000"/>
              </a:srgbClr>
            </a:solidFill>
            <a:prstDash val="solid"/>
          </a:ln>
        </p:spPr>
      </p:sp>
      <p:sp>
        <p:nvSpPr>
          <p:cNvPr id="28" name="Shape 26"/>
          <p:cNvSpPr/>
          <p:nvPr/>
        </p:nvSpPr>
        <p:spPr>
          <a:xfrm flipV="1">
            <a:off x="6286500" y="982980"/>
            <a:ext cx="800100" cy="653796"/>
          </a:xfrm>
          <a:prstGeom prst="line">
            <a:avLst/>
          </a:prstGeom>
          <a:noFill/>
          <a:ln w="7620">
            <a:solidFill>
              <a:srgbClr val="7C3AED">
                <a:alpha val="45000"/>
              </a:srgbClr>
            </a:solidFill>
            <a:prstDash val="solid"/>
          </a:ln>
        </p:spPr>
      </p:sp>
      <p:sp>
        <p:nvSpPr>
          <p:cNvPr id="29" name="Shape 27"/>
          <p:cNvSpPr/>
          <p:nvPr/>
        </p:nvSpPr>
        <p:spPr>
          <a:xfrm flipV="1">
            <a:off x="6286500" y="1485900"/>
            <a:ext cx="800100" cy="150876"/>
          </a:xfrm>
          <a:prstGeom prst="line">
            <a:avLst/>
          </a:prstGeom>
          <a:noFill/>
          <a:ln w="7620">
            <a:solidFill>
              <a:srgbClr val="7C3AED">
                <a:alpha val="45000"/>
              </a:srgbClr>
            </a:solidFill>
            <a:prstDash val="solid"/>
          </a:ln>
        </p:spPr>
      </p:sp>
      <p:sp>
        <p:nvSpPr>
          <p:cNvPr id="30" name="Shape 28"/>
          <p:cNvSpPr/>
          <p:nvPr/>
        </p:nvSpPr>
        <p:spPr>
          <a:xfrm>
            <a:off x="6286500" y="1636776"/>
            <a:ext cx="800100" cy="352044"/>
          </a:xfrm>
          <a:prstGeom prst="line">
            <a:avLst/>
          </a:prstGeom>
          <a:noFill/>
          <a:ln w="7620">
            <a:solidFill>
              <a:srgbClr val="7C3AED">
                <a:alpha val="45000"/>
              </a:srgbClr>
            </a:solidFill>
            <a:prstDash val="solid"/>
          </a:ln>
        </p:spPr>
      </p:sp>
      <p:sp>
        <p:nvSpPr>
          <p:cNvPr id="31" name="Shape 29"/>
          <p:cNvSpPr/>
          <p:nvPr/>
        </p:nvSpPr>
        <p:spPr>
          <a:xfrm>
            <a:off x="6286500" y="1636776"/>
            <a:ext cx="800100" cy="854964"/>
          </a:xfrm>
          <a:prstGeom prst="line">
            <a:avLst/>
          </a:prstGeom>
          <a:noFill/>
          <a:ln w="7620">
            <a:solidFill>
              <a:srgbClr val="7C3AED">
                <a:alpha val="45000"/>
              </a:srgbClr>
            </a:solidFill>
            <a:prstDash val="solid"/>
          </a:ln>
        </p:spPr>
      </p:sp>
      <p:sp>
        <p:nvSpPr>
          <p:cNvPr id="32" name="Shape 30"/>
          <p:cNvSpPr/>
          <p:nvPr/>
        </p:nvSpPr>
        <p:spPr>
          <a:xfrm>
            <a:off x="6286500" y="1636776"/>
            <a:ext cx="800100" cy="1357884"/>
          </a:xfrm>
          <a:prstGeom prst="line">
            <a:avLst/>
          </a:prstGeom>
          <a:noFill/>
          <a:ln w="7620">
            <a:solidFill>
              <a:srgbClr val="7C3AED">
                <a:alpha val="45000"/>
              </a:srgbClr>
            </a:solidFill>
            <a:prstDash val="solid"/>
          </a:ln>
        </p:spPr>
      </p:sp>
      <p:sp>
        <p:nvSpPr>
          <p:cNvPr id="33" name="Shape 31"/>
          <p:cNvSpPr/>
          <p:nvPr/>
        </p:nvSpPr>
        <p:spPr>
          <a:xfrm>
            <a:off x="6286500" y="1636776"/>
            <a:ext cx="800100" cy="1860804"/>
          </a:xfrm>
          <a:prstGeom prst="line">
            <a:avLst/>
          </a:prstGeom>
          <a:noFill/>
          <a:ln w="7620">
            <a:solidFill>
              <a:srgbClr val="7C3AED">
                <a:alpha val="45000"/>
              </a:srgbClr>
            </a:solidFill>
            <a:prstDash val="solid"/>
          </a:ln>
        </p:spPr>
      </p:sp>
      <p:sp>
        <p:nvSpPr>
          <p:cNvPr id="34" name="Shape 32"/>
          <p:cNvSpPr/>
          <p:nvPr/>
        </p:nvSpPr>
        <p:spPr>
          <a:xfrm flipV="1">
            <a:off x="6286500" y="982980"/>
            <a:ext cx="800100" cy="1257300"/>
          </a:xfrm>
          <a:prstGeom prst="line">
            <a:avLst/>
          </a:prstGeom>
          <a:noFill/>
          <a:ln w="7620">
            <a:solidFill>
              <a:srgbClr val="7C3AED">
                <a:alpha val="45000"/>
              </a:srgbClr>
            </a:solidFill>
            <a:prstDash val="solid"/>
          </a:ln>
        </p:spPr>
      </p:sp>
      <p:sp>
        <p:nvSpPr>
          <p:cNvPr id="35" name="Shape 33"/>
          <p:cNvSpPr/>
          <p:nvPr/>
        </p:nvSpPr>
        <p:spPr>
          <a:xfrm flipV="1">
            <a:off x="6286500" y="1485900"/>
            <a:ext cx="800100" cy="754380"/>
          </a:xfrm>
          <a:prstGeom prst="line">
            <a:avLst/>
          </a:prstGeom>
          <a:noFill/>
          <a:ln w="7620">
            <a:solidFill>
              <a:srgbClr val="7C3AED">
                <a:alpha val="45000"/>
              </a:srgbClr>
            </a:solidFill>
            <a:prstDash val="solid"/>
          </a:ln>
        </p:spPr>
      </p:sp>
      <p:sp>
        <p:nvSpPr>
          <p:cNvPr id="36" name="Shape 34"/>
          <p:cNvSpPr/>
          <p:nvPr/>
        </p:nvSpPr>
        <p:spPr>
          <a:xfrm flipV="1">
            <a:off x="6286500" y="1988820"/>
            <a:ext cx="800100" cy="251460"/>
          </a:xfrm>
          <a:prstGeom prst="line">
            <a:avLst/>
          </a:prstGeom>
          <a:noFill/>
          <a:ln w="7620">
            <a:solidFill>
              <a:srgbClr val="7C3AED">
                <a:alpha val="45000"/>
              </a:srgbClr>
            </a:solidFill>
            <a:prstDash val="solid"/>
          </a:ln>
        </p:spPr>
      </p:sp>
      <p:sp>
        <p:nvSpPr>
          <p:cNvPr id="37" name="Shape 35"/>
          <p:cNvSpPr/>
          <p:nvPr/>
        </p:nvSpPr>
        <p:spPr>
          <a:xfrm>
            <a:off x="6286500" y="2240280"/>
            <a:ext cx="800100" cy="251460"/>
          </a:xfrm>
          <a:prstGeom prst="line">
            <a:avLst/>
          </a:prstGeom>
          <a:noFill/>
          <a:ln w="7620">
            <a:solidFill>
              <a:srgbClr val="7C3AED">
                <a:alpha val="45000"/>
              </a:srgbClr>
            </a:solidFill>
            <a:prstDash val="solid"/>
          </a:ln>
        </p:spPr>
      </p:sp>
      <p:sp>
        <p:nvSpPr>
          <p:cNvPr id="38" name="Shape 36"/>
          <p:cNvSpPr/>
          <p:nvPr/>
        </p:nvSpPr>
        <p:spPr>
          <a:xfrm>
            <a:off x="6286500" y="2240280"/>
            <a:ext cx="800100" cy="754380"/>
          </a:xfrm>
          <a:prstGeom prst="line">
            <a:avLst/>
          </a:prstGeom>
          <a:noFill/>
          <a:ln w="7620">
            <a:solidFill>
              <a:srgbClr val="7C3AED">
                <a:alpha val="45000"/>
              </a:srgbClr>
            </a:solidFill>
            <a:prstDash val="solid"/>
          </a:ln>
        </p:spPr>
      </p:sp>
      <p:sp>
        <p:nvSpPr>
          <p:cNvPr id="39" name="Shape 37"/>
          <p:cNvSpPr/>
          <p:nvPr/>
        </p:nvSpPr>
        <p:spPr>
          <a:xfrm>
            <a:off x="6286500" y="2240280"/>
            <a:ext cx="800100" cy="1257300"/>
          </a:xfrm>
          <a:prstGeom prst="line">
            <a:avLst/>
          </a:prstGeom>
          <a:noFill/>
          <a:ln w="7620">
            <a:solidFill>
              <a:srgbClr val="7C3AED">
                <a:alpha val="45000"/>
              </a:srgbClr>
            </a:solidFill>
            <a:prstDash val="solid"/>
          </a:ln>
        </p:spPr>
      </p:sp>
      <p:sp>
        <p:nvSpPr>
          <p:cNvPr id="40" name="Shape 38"/>
          <p:cNvSpPr/>
          <p:nvPr/>
        </p:nvSpPr>
        <p:spPr>
          <a:xfrm flipV="1">
            <a:off x="6286500" y="982980"/>
            <a:ext cx="800100" cy="1860804"/>
          </a:xfrm>
          <a:prstGeom prst="line">
            <a:avLst/>
          </a:prstGeom>
          <a:noFill/>
          <a:ln w="7620">
            <a:solidFill>
              <a:srgbClr val="7C3AED">
                <a:alpha val="45000"/>
              </a:srgbClr>
            </a:solidFill>
            <a:prstDash val="solid"/>
          </a:ln>
        </p:spPr>
      </p:sp>
      <p:sp>
        <p:nvSpPr>
          <p:cNvPr id="41" name="Shape 39"/>
          <p:cNvSpPr/>
          <p:nvPr/>
        </p:nvSpPr>
        <p:spPr>
          <a:xfrm flipV="1">
            <a:off x="6286500" y="1485900"/>
            <a:ext cx="800100" cy="1357884"/>
          </a:xfrm>
          <a:prstGeom prst="line">
            <a:avLst/>
          </a:prstGeom>
          <a:noFill/>
          <a:ln w="7620">
            <a:solidFill>
              <a:srgbClr val="7C3AED">
                <a:alpha val="45000"/>
              </a:srgbClr>
            </a:solidFill>
            <a:prstDash val="solid"/>
          </a:ln>
        </p:spPr>
      </p:sp>
      <p:sp>
        <p:nvSpPr>
          <p:cNvPr id="42" name="Shape 40"/>
          <p:cNvSpPr/>
          <p:nvPr/>
        </p:nvSpPr>
        <p:spPr>
          <a:xfrm flipV="1">
            <a:off x="6286500" y="1988820"/>
            <a:ext cx="800100" cy="854964"/>
          </a:xfrm>
          <a:prstGeom prst="line">
            <a:avLst/>
          </a:prstGeom>
          <a:noFill/>
          <a:ln w="7620">
            <a:solidFill>
              <a:srgbClr val="7C3AED">
                <a:alpha val="45000"/>
              </a:srgbClr>
            </a:solidFill>
            <a:prstDash val="solid"/>
          </a:ln>
        </p:spPr>
      </p:sp>
      <p:sp>
        <p:nvSpPr>
          <p:cNvPr id="43" name="Shape 41"/>
          <p:cNvSpPr/>
          <p:nvPr/>
        </p:nvSpPr>
        <p:spPr>
          <a:xfrm flipV="1">
            <a:off x="6286500" y="2491740"/>
            <a:ext cx="800100" cy="352044"/>
          </a:xfrm>
          <a:prstGeom prst="line">
            <a:avLst/>
          </a:prstGeom>
          <a:noFill/>
          <a:ln w="7620">
            <a:solidFill>
              <a:srgbClr val="7C3AED">
                <a:alpha val="45000"/>
              </a:srgbClr>
            </a:solidFill>
            <a:prstDash val="solid"/>
          </a:ln>
        </p:spPr>
      </p:sp>
      <p:sp>
        <p:nvSpPr>
          <p:cNvPr id="44" name="Shape 42"/>
          <p:cNvSpPr/>
          <p:nvPr/>
        </p:nvSpPr>
        <p:spPr>
          <a:xfrm>
            <a:off x="6286500" y="2843784"/>
            <a:ext cx="800100" cy="150876"/>
          </a:xfrm>
          <a:prstGeom prst="line">
            <a:avLst/>
          </a:prstGeom>
          <a:noFill/>
          <a:ln w="7620">
            <a:solidFill>
              <a:srgbClr val="7C3AED">
                <a:alpha val="45000"/>
              </a:srgbClr>
            </a:solidFill>
            <a:prstDash val="solid"/>
          </a:ln>
        </p:spPr>
      </p:sp>
      <p:sp>
        <p:nvSpPr>
          <p:cNvPr id="45" name="Shape 43"/>
          <p:cNvSpPr/>
          <p:nvPr/>
        </p:nvSpPr>
        <p:spPr>
          <a:xfrm>
            <a:off x="6286500" y="2843784"/>
            <a:ext cx="800100" cy="653796"/>
          </a:xfrm>
          <a:prstGeom prst="line">
            <a:avLst/>
          </a:prstGeom>
          <a:noFill/>
          <a:ln w="7620">
            <a:solidFill>
              <a:srgbClr val="7C3AED">
                <a:alpha val="45000"/>
              </a:srgbClr>
            </a:solidFill>
            <a:prstDash val="solid"/>
          </a:ln>
        </p:spPr>
      </p:sp>
      <p:sp>
        <p:nvSpPr>
          <p:cNvPr id="46" name="Shape 44"/>
          <p:cNvSpPr/>
          <p:nvPr/>
        </p:nvSpPr>
        <p:spPr>
          <a:xfrm flipV="1">
            <a:off x="6286500" y="982980"/>
            <a:ext cx="800100" cy="2464308"/>
          </a:xfrm>
          <a:prstGeom prst="line">
            <a:avLst/>
          </a:prstGeom>
          <a:noFill/>
          <a:ln w="7620">
            <a:solidFill>
              <a:srgbClr val="7C3AED">
                <a:alpha val="45000"/>
              </a:srgbClr>
            </a:solidFill>
            <a:prstDash val="solid"/>
          </a:ln>
        </p:spPr>
      </p:sp>
      <p:sp>
        <p:nvSpPr>
          <p:cNvPr id="47" name="Shape 45"/>
          <p:cNvSpPr/>
          <p:nvPr/>
        </p:nvSpPr>
        <p:spPr>
          <a:xfrm flipV="1">
            <a:off x="6286500" y="1485900"/>
            <a:ext cx="800100" cy="1961388"/>
          </a:xfrm>
          <a:prstGeom prst="line">
            <a:avLst/>
          </a:prstGeom>
          <a:noFill/>
          <a:ln w="7620">
            <a:solidFill>
              <a:srgbClr val="7C3AED">
                <a:alpha val="45000"/>
              </a:srgbClr>
            </a:solidFill>
            <a:prstDash val="solid"/>
          </a:ln>
        </p:spPr>
      </p:sp>
      <p:sp>
        <p:nvSpPr>
          <p:cNvPr id="48" name="Shape 46"/>
          <p:cNvSpPr/>
          <p:nvPr/>
        </p:nvSpPr>
        <p:spPr>
          <a:xfrm flipV="1">
            <a:off x="6286500" y="1988820"/>
            <a:ext cx="800100" cy="1458468"/>
          </a:xfrm>
          <a:prstGeom prst="line">
            <a:avLst/>
          </a:prstGeom>
          <a:noFill/>
          <a:ln w="7620">
            <a:solidFill>
              <a:srgbClr val="7C3AED">
                <a:alpha val="45000"/>
              </a:srgbClr>
            </a:solidFill>
            <a:prstDash val="solid"/>
          </a:ln>
        </p:spPr>
      </p:sp>
      <p:sp>
        <p:nvSpPr>
          <p:cNvPr id="49" name="Shape 47"/>
          <p:cNvSpPr/>
          <p:nvPr/>
        </p:nvSpPr>
        <p:spPr>
          <a:xfrm flipV="1">
            <a:off x="6286500" y="2491740"/>
            <a:ext cx="800100" cy="955548"/>
          </a:xfrm>
          <a:prstGeom prst="line">
            <a:avLst/>
          </a:prstGeom>
          <a:noFill/>
          <a:ln w="7620">
            <a:solidFill>
              <a:srgbClr val="7C3AED">
                <a:alpha val="45000"/>
              </a:srgbClr>
            </a:solidFill>
            <a:prstDash val="solid"/>
          </a:ln>
        </p:spPr>
      </p:sp>
      <p:sp>
        <p:nvSpPr>
          <p:cNvPr id="50" name="Shape 48"/>
          <p:cNvSpPr/>
          <p:nvPr/>
        </p:nvSpPr>
        <p:spPr>
          <a:xfrm flipV="1">
            <a:off x="6286500" y="2994660"/>
            <a:ext cx="800100" cy="452628"/>
          </a:xfrm>
          <a:prstGeom prst="line">
            <a:avLst/>
          </a:prstGeom>
          <a:noFill/>
          <a:ln w="7620">
            <a:solidFill>
              <a:srgbClr val="7C3AED">
                <a:alpha val="45000"/>
              </a:srgbClr>
            </a:solidFill>
            <a:prstDash val="solid"/>
          </a:ln>
        </p:spPr>
      </p:sp>
      <p:sp>
        <p:nvSpPr>
          <p:cNvPr id="51" name="Shape 49"/>
          <p:cNvSpPr/>
          <p:nvPr/>
        </p:nvSpPr>
        <p:spPr>
          <a:xfrm>
            <a:off x="6286500" y="3447288"/>
            <a:ext cx="800100" cy="50292"/>
          </a:xfrm>
          <a:prstGeom prst="line">
            <a:avLst/>
          </a:prstGeom>
          <a:noFill/>
          <a:ln w="7620">
            <a:solidFill>
              <a:srgbClr val="7C3AED">
                <a:alpha val="45000"/>
              </a:srgbClr>
            </a:solidFill>
            <a:prstDash val="solid"/>
          </a:ln>
        </p:spPr>
      </p:sp>
      <p:sp>
        <p:nvSpPr>
          <p:cNvPr id="52" name="Shape 50"/>
          <p:cNvSpPr/>
          <p:nvPr/>
        </p:nvSpPr>
        <p:spPr>
          <a:xfrm>
            <a:off x="7086600" y="982980"/>
            <a:ext cx="800100" cy="50292"/>
          </a:xfrm>
          <a:prstGeom prst="line">
            <a:avLst/>
          </a:prstGeom>
          <a:noFill/>
          <a:ln w="7620">
            <a:solidFill>
              <a:srgbClr val="DB2777">
                <a:alpha val="45000"/>
              </a:srgbClr>
            </a:solidFill>
            <a:prstDash val="solid"/>
          </a:ln>
        </p:spPr>
      </p:sp>
      <p:sp>
        <p:nvSpPr>
          <p:cNvPr id="53" name="Shape 51"/>
          <p:cNvSpPr/>
          <p:nvPr/>
        </p:nvSpPr>
        <p:spPr>
          <a:xfrm>
            <a:off x="7086600" y="982980"/>
            <a:ext cx="800100" cy="653796"/>
          </a:xfrm>
          <a:prstGeom prst="line">
            <a:avLst/>
          </a:prstGeom>
          <a:noFill/>
          <a:ln w="7620">
            <a:solidFill>
              <a:srgbClr val="DB2777">
                <a:alpha val="45000"/>
              </a:srgbClr>
            </a:solidFill>
            <a:prstDash val="solid"/>
          </a:ln>
        </p:spPr>
      </p:sp>
      <p:sp>
        <p:nvSpPr>
          <p:cNvPr id="54" name="Shape 52"/>
          <p:cNvSpPr/>
          <p:nvPr/>
        </p:nvSpPr>
        <p:spPr>
          <a:xfrm>
            <a:off x="7086600" y="982980"/>
            <a:ext cx="800100" cy="1257300"/>
          </a:xfrm>
          <a:prstGeom prst="line">
            <a:avLst/>
          </a:prstGeom>
          <a:noFill/>
          <a:ln w="7620">
            <a:solidFill>
              <a:srgbClr val="DB2777">
                <a:alpha val="45000"/>
              </a:srgbClr>
            </a:solidFill>
            <a:prstDash val="solid"/>
          </a:ln>
        </p:spPr>
      </p:sp>
      <p:sp>
        <p:nvSpPr>
          <p:cNvPr id="55" name="Shape 53"/>
          <p:cNvSpPr/>
          <p:nvPr/>
        </p:nvSpPr>
        <p:spPr>
          <a:xfrm>
            <a:off x="7086600" y="982980"/>
            <a:ext cx="800100" cy="1860804"/>
          </a:xfrm>
          <a:prstGeom prst="line">
            <a:avLst/>
          </a:prstGeom>
          <a:noFill/>
          <a:ln w="7620">
            <a:solidFill>
              <a:srgbClr val="DB2777">
                <a:alpha val="45000"/>
              </a:srgbClr>
            </a:solidFill>
            <a:prstDash val="solid"/>
          </a:ln>
        </p:spPr>
      </p:sp>
      <p:sp>
        <p:nvSpPr>
          <p:cNvPr id="56" name="Shape 54"/>
          <p:cNvSpPr/>
          <p:nvPr/>
        </p:nvSpPr>
        <p:spPr>
          <a:xfrm>
            <a:off x="7086600" y="982980"/>
            <a:ext cx="800100" cy="2464308"/>
          </a:xfrm>
          <a:prstGeom prst="line">
            <a:avLst/>
          </a:prstGeom>
          <a:noFill/>
          <a:ln w="7620">
            <a:solidFill>
              <a:srgbClr val="DB2777">
                <a:alpha val="45000"/>
              </a:srgbClr>
            </a:solidFill>
            <a:prstDash val="solid"/>
          </a:ln>
        </p:spPr>
      </p:sp>
      <p:sp>
        <p:nvSpPr>
          <p:cNvPr id="57" name="Shape 55"/>
          <p:cNvSpPr/>
          <p:nvPr/>
        </p:nvSpPr>
        <p:spPr>
          <a:xfrm flipV="1">
            <a:off x="7086600" y="1033272"/>
            <a:ext cx="800100" cy="452628"/>
          </a:xfrm>
          <a:prstGeom prst="line">
            <a:avLst/>
          </a:prstGeom>
          <a:noFill/>
          <a:ln w="7620">
            <a:solidFill>
              <a:srgbClr val="DB2777">
                <a:alpha val="45000"/>
              </a:srgbClr>
            </a:solidFill>
            <a:prstDash val="solid"/>
          </a:ln>
        </p:spPr>
      </p:sp>
      <p:sp>
        <p:nvSpPr>
          <p:cNvPr id="58" name="Shape 56"/>
          <p:cNvSpPr/>
          <p:nvPr/>
        </p:nvSpPr>
        <p:spPr>
          <a:xfrm>
            <a:off x="7086600" y="1485900"/>
            <a:ext cx="800100" cy="150876"/>
          </a:xfrm>
          <a:prstGeom prst="line">
            <a:avLst/>
          </a:prstGeom>
          <a:noFill/>
          <a:ln w="7620">
            <a:solidFill>
              <a:srgbClr val="DB2777">
                <a:alpha val="45000"/>
              </a:srgbClr>
            </a:solidFill>
            <a:prstDash val="solid"/>
          </a:ln>
        </p:spPr>
      </p:sp>
      <p:sp>
        <p:nvSpPr>
          <p:cNvPr id="59" name="Shape 57"/>
          <p:cNvSpPr/>
          <p:nvPr/>
        </p:nvSpPr>
        <p:spPr>
          <a:xfrm>
            <a:off x="7086600" y="1485900"/>
            <a:ext cx="800100" cy="754380"/>
          </a:xfrm>
          <a:prstGeom prst="line">
            <a:avLst/>
          </a:prstGeom>
          <a:noFill/>
          <a:ln w="7620">
            <a:solidFill>
              <a:srgbClr val="DB2777">
                <a:alpha val="45000"/>
              </a:srgbClr>
            </a:solidFill>
            <a:prstDash val="solid"/>
          </a:ln>
        </p:spPr>
      </p:sp>
      <p:sp>
        <p:nvSpPr>
          <p:cNvPr id="60" name="Shape 58"/>
          <p:cNvSpPr/>
          <p:nvPr/>
        </p:nvSpPr>
        <p:spPr>
          <a:xfrm>
            <a:off x="7086600" y="1485900"/>
            <a:ext cx="800100" cy="1357884"/>
          </a:xfrm>
          <a:prstGeom prst="line">
            <a:avLst/>
          </a:prstGeom>
          <a:noFill/>
          <a:ln w="7620">
            <a:solidFill>
              <a:srgbClr val="DB2777">
                <a:alpha val="45000"/>
              </a:srgbClr>
            </a:solidFill>
            <a:prstDash val="solid"/>
          </a:ln>
        </p:spPr>
      </p:sp>
      <p:sp>
        <p:nvSpPr>
          <p:cNvPr id="61" name="Shape 59"/>
          <p:cNvSpPr/>
          <p:nvPr/>
        </p:nvSpPr>
        <p:spPr>
          <a:xfrm>
            <a:off x="7086600" y="1485900"/>
            <a:ext cx="800100" cy="1961388"/>
          </a:xfrm>
          <a:prstGeom prst="line">
            <a:avLst/>
          </a:prstGeom>
          <a:noFill/>
          <a:ln w="7620">
            <a:solidFill>
              <a:srgbClr val="DB2777">
                <a:alpha val="45000"/>
              </a:srgbClr>
            </a:solidFill>
            <a:prstDash val="solid"/>
          </a:ln>
        </p:spPr>
      </p:sp>
      <p:sp>
        <p:nvSpPr>
          <p:cNvPr id="62" name="Shape 60"/>
          <p:cNvSpPr/>
          <p:nvPr/>
        </p:nvSpPr>
        <p:spPr>
          <a:xfrm flipV="1">
            <a:off x="7086600" y="1033272"/>
            <a:ext cx="800100" cy="955548"/>
          </a:xfrm>
          <a:prstGeom prst="line">
            <a:avLst/>
          </a:prstGeom>
          <a:noFill/>
          <a:ln w="7620">
            <a:solidFill>
              <a:srgbClr val="DB2777">
                <a:alpha val="45000"/>
              </a:srgbClr>
            </a:solidFill>
            <a:prstDash val="solid"/>
          </a:ln>
        </p:spPr>
      </p:sp>
      <p:sp>
        <p:nvSpPr>
          <p:cNvPr id="63" name="Shape 61"/>
          <p:cNvSpPr/>
          <p:nvPr/>
        </p:nvSpPr>
        <p:spPr>
          <a:xfrm flipV="1">
            <a:off x="7086600" y="1636776"/>
            <a:ext cx="800100" cy="352044"/>
          </a:xfrm>
          <a:prstGeom prst="line">
            <a:avLst/>
          </a:prstGeom>
          <a:noFill/>
          <a:ln w="7620">
            <a:solidFill>
              <a:srgbClr val="DB2777">
                <a:alpha val="45000"/>
              </a:srgbClr>
            </a:solidFill>
            <a:prstDash val="solid"/>
          </a:ln>
        </p:spPr>
      </p:sp>
      <p:sp>
        <p:nvSpPr>
          <p:cNvPr id="64" name="Shape 62"/>
          <p:cNvSpPr/>
          <p:nvPr/>
        </p:nvSpPr>
        <p:spPr>
          <a:xfrm>
            <a:off x="7086600" y="1988820"/>
            <a:ext cx="800100" cy="251460"/>
          </a:xfrm>
          <a:prstGeom prst="line">
            <a:avLst/>
          </a:prstGeom>
          <a:noFill/>
          <a:ln w="7620">
            <a:solidFill>
              <a:srgbClr val="DB2777">
                <a:alpha val="45000"/>
              </a:srgbClr>
            </a:solidFill>
            <a:prstDash val="solid"/>
          </a:ln>
        </p:spPr>
      </p:sp>
      <p:sp>
        <p:nvSpPr>
          <p:cNvPr id="65" name="Shape 63"/>
          <p:cNvSpPr/>
          <p:nvPr/>
        </p:nvSpPr>
        <p:spPr>
          <a:xfrm>
            <a:off x="7086600" y="1988820"/>
            <a:ext cx="800100" cy="854964"/>
          </a:xfrm>
          <a:prstGeom prst="line">
            <a:avLst/>
          </a:prstGeom>
          <a:noFill/>
          <a:ln w="7620">
            <a:solidFill>
              <a:srgbClr val="DB2777">
                <a:alpha val="45000"/>
              </a:srgbClr>
            </a:solidFill>
            <a:prstDash val="solid"/>
          </a:ln>
        </p:spPr>
      </p:sp>
      <p:sp>
        <p:nvSpPr>
          <p:cNvPr id="66" name="Shape 64"/>
          <p:cNvSpPr/>
          <p:nvPr/>
        </p:nvSpPr>
        <p:spPr>
          <a:xfrm>
            <a:off x="7086600" y="1988820"/>
            <a:ext cx="800100" cy="1458468"/>
          </a:xfrm>
          <a:prstGeom prst="line">
            <a:avLst/>
          </a:prstGeom>
          <a:noFill/>
          <a:ln w="7620">
            <a:solidFill>
              <a:srgbClr val="DB2777">
                <a:alpha val="45000"/>
              </a:srgbClr>
            </a:solidFill>
            <a:prstDash val="solid"/>
          </a:ln>
        </p:spPr>
      </p:sp>
      <p:sp>
        <p:nvSpPr>
          <p:cNvPr id="67" name="Shape 65"/>
          <p:cNvSpPr/>
          <p:nvPr/>
        </p:nvSpPr>
        <p:spPr>
          <a:xfrm flipV="1">
            <a:off x="7086600" y="1033272"/>
            <a:ext cx="800100" cy="1458468"/>
          </a:xfrm>
          <a:prstGeom prst="line">
            <a:avLst/>
          </a:prstGeom>
          <a:noFill/>
          <a:ln w="7620">
            <a:solidFill>
              <a:srgbClr val="DB2777">
                <a:alpha val="45000"/>
              </a:srgbClr>
            </a:solidFill>
            <a:prstDash val="solid"/>
          </a:ln>
        </p:spPr>
      </p:sp>
      <p:sp>
        <p:nvSpPr>
          <p:cNvPr id="68" name="Shape 66"/>
          <p:cNvSpPr/>
          <p:nvPr/>
        </p:nvSpPr>
        <p:spPr>
          <a:xfrm flipV="1">
            <a:off x="7086600" y="1636776"/>
            <a:ext cx="800100" cy="854964"/>
          </a:xfrm>
          <a:prstGeom prst="line">
            <a:avLst/>
          </a:prstGeom>
          <a:noFill/>
          <a:ln w="7620">
            <a:solidFill>
              <a:srgbClr val="DB2777">
                <a:alpha val="45000"/>
              </a:srgbClr>
            </a:solidFill>
            <a:prstDash val="solid"/>
          </a:ln>
        </p:spPr>
      </p:sp>
      <p:sp>
        <p:nvSpPr>
          <p:cNvPr id="69" name="Shape 67"/>
          <p:cNvSpPr/>
          <p:nvPr/>
        </p:nvSpPr>
        <p:spPr>
          <a:xfrm flipV="1">
            <a:off x="7086600" y="2240280"/>
            <a:ext cx="800100" cy="251460"/>
          </a:xfrm>
          <a:prstGeom prst="line">
            <a:avLst/>
          </a:prstGeom>
          <a:noFill/>
          <a:ln w="7620">
            <a:solidFill>
              <a:srgbClr val="DB2777">
                <a:alpha val="45000"/>
              </a:srgbClr>
            </a:solidFill>
            <a:prstDash val="solid"/>
          </a:ln>
        </p:spPr>
      </p:sp>
      <p:sp>
        <p:nvSpPr>
          <p:cNvPr id="70" name="Shape 68"/>
          <p:cNvSpPr/>
          <p:nvPr/>
        </p:nvSpPr>
        <p:spPr>
          <a:xfrm>
            <a:off x="7086600" y="2491740"/>
            <a:ext cx="800100" cy="352044"/>
          </a:xfrm>
          <a:prstGeom prst="line">
            <a:avLst/>
          </a:prstGeom>
          <a:noFill/>
          <a:ln w="7620">
            <a:solidFill>
              <a:srgbClr val="DB2777">
                <a:alpha val="45000"/>
              </a:srgbClr>
            </a:solidFill>
            <a:prstDash val="solid"/>
          </a:ln>
        </p:spPr>
      </p:sp>
      <p:sp>
        <p:nvSpPr>
          <p:cNvPr id="71" name="Shape 69"/>
          <p:cNvSpPr/>
          <p:nvPr/>
        </p:nvSpPr>
        <p:spPr>
          <a:xfrm>
            <a:off x="7086600" y="2491740"/>
            <a:ext cx="800100" cy="955548"/>
          </a:xfrm>
          <a:prstGeom prst="line">
            <a:avLst/>
          </a:prstGeom>
          <a:noFill/>
          <a:ln w="7620">
            <a:solidFill>
              <a:srgbClr val="DB2777">
                <a:alpha val="45000"/>
              </a:srgbClr>
            </a:solidFill>
            <a:prstDash val="solid"/>
          </a:ln>
        </p:spPr>
      </p:sp>
      <p:sp>
        <p:nvSpPr>
          <p:cNvPr id="72" name="Shape 70"/>
          <p:cNvSpPr/>
          <p:nvPr/>
        </p:nvSpPr>
        <p:spPr>
          <a:xfrm flipV="1">
            <a:off x="7086600" y="1033272"/>
            <a:ext cx="800100" cy="1961388"/>
          </a:xfrm>
          <a:prstGeom prst="line">
            <a:avLst/>
          </a:prstGeom>
          <a:noFill/>
          <a:ln w="7620">
            <a:solidFill>
              <a:srgbClr val="DB2777">
                <a:alpha val="45000"/>
              </a:srgbClr>
            </a:solidFill>
            <a:prstDash val="solid"/>
          </a:ln>
        </p:spPr>
      </p:sp>
      <p:sp>
        <p:nvSpPr>
          <p:cNvPr id="73" name="Shape 71"/>
          <p:cNvSpPr/>
          <p:nvPr/>
        </p:nvSpPr>
        <p:spPr>
          <a:xfrm flipV="1">
            <a:off x="7086600" y="1636776"/>
            <a:ext cx="800100" cy="1357884"/>
          </a:xfrm>
          <a:prstGeom prst="line">
            <a:avLst/>
          </a:prstGeom>
          <a:noFill/>
          <a:ln w="7620">
            <a:solidFill>
              <a:srgbClr val="DB2777">
                <a:alpha val="45000"/>
              </a:srgbClr>
            </a:solidFill>
            <a:prstDash val="solid"/>
          </a:ln>
        </p:spPr>
      </p:sp>
      <p:sp>
        <p:nvSpPr>
          <p:cNvPr id="74" name="Shape 72"/>
          <p:cNvSpPr/>
          <p:nvPr/>
        </p:nvSpPr>
        <p:spPr>
          <a:xfrm flipV="1">
            <a:off x="7086600" y="2240280"/>
            <a:ext cx="800100" cy="754380"/>
          </a:xfrm>
          <a:prstGeom prst="line">
            <a:avLst/>
          </a:prstGeom>
          <a:noFill/>
          <a:ln w="7620">
            <a:solidFill>
              <a:srgbClr val="DB2777">
                <a:alpha val="45000"/>
              </a:srgbClr>
            </a:solidFill>
            <a:prstDash val="solid"/>
          </a:ln>
        </p:spPr>
      </p:sp>
      <p:sp>
        <p:nvSpPr>
          <p:cNvPr id="75" name="Shape 73"/>
          <p:cNvSpPr/>
          <p:nvPr/>
        </p:nvSpPr>
        <p:spPr>
          <a:xfrm flipV="1">
            <a:off x="7086600" y="2843784"/>
            <a:ext cx="800100" cy="150876"/>
          </a:xfrm>
          <a:prstGeom prst="line">
            <a:avLst/>
          </a:prstGeom>
          <a:noFill/>
          <a:ln w="7620">
            <a:solidFill>
              <a:srgbClr val="DB2777">
                <a:alpha val="45000"/>
              </a:srgbClr>
            </a:solidFill>
            <a:prstDash val="solid"/>
          </a:ln>
        </p:spPr>
      </p:sp>
      <p:sp>
        <p:nvSpPr>
          <p:cNvPr id="76" name="Shape 74"/>
          <p:cNvSpPr/>
          <p:nvPr/>
        </p:nvSpPr>
        <p:spPr>
          <a:xfrm>
            <a:off x="7086600" y="2994660"/>
            <a:ext cx="800100" cy="452628"/>
          </a:xfrm>
          <a:prstGeom prst="line">
            <a:avLst/>
          </a:prstGeom>
          <a:noFill/>
          <a:ln w="7620">
            <a:solidFill>
              <a:srgbClr val="DB2777">
                <a:alpha val="45000"/>
              </a:srgbClr>
            </a:solidFill>
            <a:prstDash val="solid"/>
          </a:ln>
        </p:spPr>
      </p:sp>
      <p:sp>
        <p:nvSpPr>
          <p:cNvPr id="77" name="Shape 75"/>
          <p:cNvSpPr/>
          <p:nvPr/>
        </p:nvSpPr>
        <p:spPr>
          <a:xfrm flipV="1">
            <a:off x="7086600" y="1033272"/>
            <a:ext cx="800100" cy="2464308"/>
          </a:xfrm>
          <a:prstGeom prst="line">
            <a:avLst/>
          </a:prstGeom>
          <a:noFill/>
          <a:ln w="7620">
            <a:solidFill>
              <a:srgbClr val="DB2777">
                <a:alpha val="45000"/>
              </a:srgbClr>
            </a:solidFill>
            <a:prstDash val="solid"/>
          </a:ln>
        </p:spPr>
      </p:sp>
      <p:sp>
        <p:nvSpPr>
          <p:cNvPr id="78" name="Shape 76"/>
          <p:cNvSpPr/>
          <p:nvPr/>
        </p:nvSpPr>
        <p:spPr>
          <a:xfrm flipV="1">
            <a:off x="7086600" y="1636776"/>
            <a:ext cx="800100" cy="1860804"/>
          </a:xfrm>
          <a:prstGeom prst="line">
            <a:avLst/>
          </a:prstGeom>
          <a:noFill/>
          <a:ln w="7620">
            <a:solidFill>
              <a:srgbClr val="DB2777">
                <a:alpha val="45000"/>
              </a:srgbClr>
            </a:solidFill>
            <a:prstDash val="solid"/>
          </a:ln>
        </p:spPr>
      </p:sp>
      <p:sp>
        <p:nvSpPr>
          <p:cNvPr id="79" name="Shape 77"/>
          <p:cNvSpPr/>
          <p:nvPr/>
        </p:nvSpPr>
        <p:spPr>
          <a:xfrm flipV="1">
            <a:off x="7086600" y="2240280"/>
            <a:ext cx="800100" cy="1257300"/>
          </a:xfrm>
          <a:prstGeom prst="line">
            <a:avLst/>
          </a:prstGeom>
          <a:noFill/>
          <a:ln w="7620">
            <a:solidFill>
              <a:srgbClr val="DB2777">
                <a:alpha val="45000"/>
              </a:srgbClr>
            </a:solidFill>
            <a:prstDash val="solid"/>
          </a:ln>
        </p:spPr>
      </p:sp>
      <p:sp>
        <p:nvSpPr>
          <p:cNvPr id="80" name="Shape 78"/>
          <p:cNvSpPr/>
          <p:nvPr/>
        </p:nvSpPr>
        <p:spPr>
          <a:xfrm flipV="1">
            <a:off x="7086600" y="2843784"/>
            <a:ext cx="800100" cy="653796"/>
          </a:xfrm>
          <a:prstGeom prst="line">
            <a:avLst/>
          </a:prstGeom>
          <a:noFill/>
          <a:ln w="7620">
            <a:solidFill>
              <a:srgbClr val="DB2777">
                <a:alpha val="45000"/>
              </a:srgbClr>
            </a:solidFill>
            <a:prstDash val="solid"/>
          </a:ln>
        </p:spPr>
      </p:sp>
      <p:sp>
        <p:nvSpPr>
          <p:cNvPr id="81" name="Shape 79"/>
          <p:cNvSpPr/>
          <p:nvPr/>
        </p:nvSpPr>
        <p:spPr>
          <a:xfrm flipV="1">
            <a:off x="7086600" y="3447288"/>
            <a:ext cx="800100" cy="50292"/>
          </a:xfrm>
          <a:prstGeom prst="line">
            <a:avLst/>
          </a:prstGeom>
          <a:noFill/>
          <a:ln w="7620">
            <a:solidFill>
              <a:srgbClr val="DB2777">
                <a:alpha val="45000"/>
              </a:srgbClr>
            </a:solidFill>
            <a:prstDash val="solid"/>
          </a:ln>
        </p:spPr>
      </p:sp>
      <p:sp>
        <p:nvSpPr>
          <p:cNvPr id="82" name="Shape 80"/>
          <p:cNvSpPr/>
          <p:nvPr/>
        </p:nvSpPr>
        <p:spPr>
          <a:xfrm>
            <a:off x="7886700" y="1033272"/>
            <a:ext cx="800100" cy="452628"/>
          </a:xfrm>
          <a:prstGeom prst="line">
            <a:avLst/>
          </a:prstGeom>
          <a:noFill/>
          <a:ln w="7620">
            <a:solidFill>
              <a:srgbClr val="059669">
                <a:alpha val="45000"/>
              </a:srgbClr>
            </a:solidFill>
            <a:prstDash val="solid"/>
          </a:ln>
        </p:spPr>
      </p:sp>
      <p:sp>
        <p:nvSpPr>
          <p:cNvPr id="83" name="Shape 81"/>
          <p:cNvSpPr/>
          <p:nvPr/>
        </p:nvSpPr>
        <p:spPr>
          <a:xfrm>
            <a:off x="7886700" y="1033272"/>
            <a:ext cx="800100" cy="1961388"/>
          </a:xfrm>
          <a:prstGeom prst="line">
            <a:avLst/>
          </a:prstGeom>
          <a:noFill/>
          <a:ln w="7620">
            <a:solidFill>
              <a:srgbClr val="059669">
                <a:alpha val="45000"/>
              </a:srgbClr>
            </a:solidFill>
            <a:prstDash val="solid"/>
          </a:ln>
        </p:spPr>
      </p:sp>
      <p:sp>
        <p:nvSpPr>
          <p:cNvPr id="84" name="Shape 82"/>
          <p:cNvSpPr/>
          <p:nvPr/>
        </p:nvSpPr>
        <p:spPr>
          <a:xfrm flipV="1">
            <a:off x="7886700" y="1485900"/>
            <a:ext cx="800100" cy="150876"/>
          </a:xfrm>
          <a:prstGeom prst="line">
            <a:avLst/>
          </a:prstGeom>
          <a:noFill/>
          <a:ln w="7620">
            <a:solidFill>
              <a:srgbClr val="059669">
                <a:alpha val="45000"/>
              </a:srgbClr>
            </a:solidFill>
            <a:prstDash val="solid"/>
          </a:ln>
        </p:spPr>
      </p:sp>
      <p:sp>
        <p:nvSpPr>
          <p:cNvPr id="85" name="Shape 83"/>
          <p:cNvSpPr/>
          <p:nvPr/>
        </p:nvSpPr>
        <p:spPr>
          <a:xfrm>
            <a:off x="7886700" y="1636776"/>
            <a:ext cx="800100" cy="1357884"/>
          </a:xfrm>
          <a:prstGeom prst="line">
            <a:avLst/>
          </a:prstGeom>
          <a:noFill/>
          <a:ln w="7620">
            <a:solidFill>
              <a:srgbClr val="059669">
                <a:alpha val="45000"/>
              </a:srgbClr>
            </a:solidFill>
            <a:prstDash val="solid"/>
          </a:ln>
        </p:spPr>
      </p:sp>
      <p:sp>
        <p:nvSpPr>
          <p:cNvPr id="86" name="Shape 84"/>
          <p:cNvSpPr/>
          <p:nvPr/>
        </p:nvSpPr>
        <p:spPr>
          <a:xfrm flipV="1">
            <a:off x="7886700" y="1485900"/>
            <a:ext cx="800100" cy="754380"/>
          </a:xfrm>
          <a:prstGeom prst="line">
            <a:avLst/>
          </a:prstGeom>
          <a:noFill/>
          <a:ln w="7620">
            <a:solidFill>
              <a:srgbClr val="059669">
                <a:alpha val="45000"/>
              </a:srgbClr>
            </a:solidFill>
            <a:prstDash val="solid"/>
          </a:ln>
        </p:spPr>
      </p:sp>
      <p:sp>
        <p:nvSpPr>
          <p:cNvPr id="87" name="Shape 85"/>
          <p:cNvSpPr/>
          <p:nvPr/>
        </p:nvSpPr>
        <p:spPr>
          <a:xfrm>
            <a:off x="7886700" y="2240280"/>
            <a:ext cx="800100" cy="754380"/>
          </a:xfrm>
          <a:prstGeom prst="line">
            <a:avLst/>
          </a:prstGeom>
          <a:noFill/>
          <a:ln w="7620">
            <a:solidFill>
              <a:srgbClr val="059669">
                <a:alpha val="45000"/>
              </a:srgbClr>
            </a:solidFill>
            <a:prstDash val="solid"/>
          </a:ln>
        </p:spPr>
      </p:sp>
      <p:sp>
        <p:nvSpPr>
          <p:cNvPr id="88" name="Shape 86"/>
          <p:cNvSpPr/>
          <p:nvPr/>
        </p:nvSpPr>
        <p:spPr>
          <a:xfrm flipV="1">
            <a:off x="7886700" y="1485900"/>
            <a:ext cx="800100" cy="1357884"/>
          </a:xfrm>
          <a:prstGeom prst="line">
            <a:avLst/>
          </a:prstGeom>
          <a:noFill/>
          <a:ln w="7620">
            <a:solidFill>
              <a:srgbClr val="059669">
                <a:alpha val="45000"/>
              </a:srgbClr>
            </a:solidFill>
            <a:prstDash val="solid"/>
          </a:ln>
        </p:spPr>
      </p:sp>
      <p:sp>
        <p:nvSpPr>
          <p:cNvPr id="89" name="Shape 87"/>
          <p:cNvSpPr/>
          <p:nvPr/>
        </p:nvSpPr>
        <p:spPr>
          <a:xfrm>
            <a:off x="7886700" y="2843784"/>
            <a:ext cx="800100" cy="150876"/>
          </a:xfrm>
          <a:prstGeom prst="line">
            <a:avLst/>
          </a:prstGeom>
          <a:noFill/>
          <a:ln w="7620">
            <a:solidFill>
              <a:srgbClr val="059669">
                <a:alpha val="45000"/>
              </a:srgbClr>
            </a:solidFill>
            <a:prstDash val="solid"/>
          </a:ln>
        </p:spPr>
      </p:sp>
      <p:sp>
        <p:nvSpPr>
          <p:cNvPr id="90" name="Shape 88"/>
          <p:cNvSpPr/>
          <p:nvPr/>
        </p:nvSpPr>
        <p:spPr>
          <a:xfrm flipV="1">
            <a:off x="7886700" y="1485900"/>
            <a:ext cx="800100" cy="1961388"/>
          </a:xfrm>
          <a:prstGeom prst="line">
            <a:avLst/>
          </a:prstGeom>
          <a:noFill/>
          <a:ln w="7620">
            <a:solidFill>
              <a:srgbClr val="059669">
                <a:alpha val="45000"/>
              </a:srgbClr>
            </a:solidFill>
            <a:prstDash val="solid"/>
          </a:ln>
        </p:spPr>
      </p:sp>
      <p:sp>
        <p:nvSpPr>
          <p:cNvPr id="91" name="Shape 89"/>
          <p:cNvSpPr/>
          <p:nvPr/>
        </p:nvSpPr>
        <p:spPr>
          <a:xfrm flipV="1">
            <a:off x="7886700" y="2994660"/>
            <a:ext cx="800100" cy="452628"/>
          </a:xfrm>
          <a:prstGeom prst="line">
            <a:avLst/>
          </a:prstGeom>
          <a:noFill/>
          <a:ln w="7620">
            <a:solidFill>
              <a:srgbClr val="059669">
                <a:alpha val="45000"/>
              </a:srgbClr>
            </a:solidFill>
            <a:prstDash val="solid"/>
          </a:ln>
        </p:spPr>
      </p:sp>
      <p:sp>
        <p:nvSpPr>
          <p:cNvPr id="92" name="Shape 90"/>
          <p:cNvSpPr/>
          <p:nvPr/>
        </p:nvSpPr>
        <p:spPr>
          <a:xfrm>
            <a:off x="5330952" y="1078992"/>
            <a:ext cx="310896" cy="310896"/>
          </a:xfrm>
          <a:prstGeom prst="ellipse">
            <a:avLst/>
          </a:prstGeom>
          <a:solidFill>
            <a:srgbClr val="0891B2">
              <a:alpha val="25000"/>
            </a:srgbClr>
          </a:solidFill>
          <a:ln w="12700">
            <a:solidFill>
              <a:srgbClr val="0891B2">
                <a:alpha val="0"/>
              </a:srgbClr>
            </a:solidFill>
            <a:prstDash val="solid"/>
          </a:ln>
        </p:spPr>
      </p:sp>
      <p:sp>
        <p:nvSpPr>
          <p:cNvPr id="93" name="Shape 91"/>
          <p:cNvSpPr/>
          <p:nvPr/>
        </p:nvSpPr>
        <p:spPr>
          <a:xfrm>
            <a:off x="5422392" y="1170432"/>
            <a:ext cx="128016" cy="128016"/>
          </a:xfrm>
          <a:prstGeom prst="ellipse">
            <a:avLst/>
          </a:prstGeom>
          <a:solidFill>
            <a:srgbClr val="0891B2"/>
          </a:solidFill>
          <a:ln w="6350">
            <a:solidFill>
              <a:srgbClr val="FFFFFF">
                <a:alpha val="60000"/>
              </a:srgbClr>
            </a:solidFill>
            <a:prstDash val="solid"/>
          </a:ln>
        </p:spPr>
      </p:sp>
      <p:sp>
        <p:nvSpPr>
          <p:cNvPr id="94" name="Shape 92"/>
          <p:cNvSpPr/>
          <p:nvPr/>
        </p:nvSpPr>
        <p:spPr>
          <a:xfrm>
            <a:off x="5330952" y="2084832"/>
            <a:ext cx="310896" cy="310896"/>
          </a:xfrm>
          <a:prstGeom prst="ellipse">
            <a:avLst/>
          </a:prstGeom>
          <a:solidFill>
            <a:srgbClr val="0891B2">
              <a:alpha val="25000"/>
            </a:srgbClr>
          </a:solidFill>
          <a:ln w="12700">
            <a:solidFill>
              <a:srgbClr val="0891B2">
                <a:alpha val="0"/>
              </a:srgbClr>
            </a:solidFill>
            <a:prstDash val="solid"/>
          </a:ln>
        </p:spPr>
      </p:sp>
      <p:sp>
        <p:nvSpPr>
          <p:cNvPr id="95" name="Shape 93"/>
          <p:cNvSpPr/>
          <p:nvPr/>
        </p:nvSpPr>
        <p:spPr>
          <a:xfrm>
            <a:off x="5422392" y="2176272"/>
            <a:ext cx="128016" cy="128016"/>
          </a:xfrm>
          <a:prstGeom prst="ellipse">
            <a:avLst/>
          </a:prstGeom>
          <a:solidFill>
            <a:srgbClr val="0891B2"/>
          </a:solidFill>
          <a:ln w="6350">
            <a:solidFill>
              <a:srgbClr val="FFFFFF">
                <a:alpha val="60000"/>
              </a:srgbClr>
            </a:solidFill>
            <a:prstDash val="solid"/>
          </a:ln>
        </p:spPr>
      </p:sp>
      <p:sp>
        <p:nvSpPr>
          <p:cNvPr id="96" name="Shape 94"/>
          <p:cNvSpPr/>
          <p:nvPr/>
        </p:nvSpPr>
        <p:spPr>
          <a:xfrm>
            <a:off x="5330952" y="3090672"/>
            <a:ext cx="310896" cy="310896"/>
          </a:xfrm>
          <a:prstGeom prst="ellipse">
            <a:avLst/>
          </a:prstGeom>
          <a:solidFill>
            <a:srgbClr val="0891B2">
              <a:alpha val="25000"/>
            </a:srgbClr>
          </a:solidFill>
          <a:ln w="12700">
            <a:solidFill>
              <a:srgbClr val="0891B2">
                <a:alpha val="0"/>
              </a:srgbClr>
            </a:solidFill>
            <a:prstDash val="solid"/>
          </a:ln>
        </p:spPr>
      </p:sp>
      <p:sp>
        <p:nvSpPr>
          <p:cNvPr id="97" name="Shape 95"/>
          <p:cNvSpPr/>
          <p:nvPr/>
        </p:nvSpPr>
        <p:spPr>
          <a:xfrm>
            <a:off x="5422392" y="3182112"/>
            <a:ext cx="128016" cy="128016"/>
          </a:xfrm>
          <a:prstGeom prst="ellipse">
            <a:avLst/>
          </a:prstGeom>
          <a:solidFill>
            <a:srgbClr val="0891B2"/>
          </a:solidFill>
          <a:ln w="6350">
            <a:solidFill>
              <a:srgbClr val="FFFFFF">
                <a:alpha val="60000"/>
              </a:srgbClr>
            </a:solidFill>
            <a:prstDash val="solid"/>
          </a:ln>
        </p:spPr>
      </p:sp>
      <p:sp>
        <p:nvSpPr>
          <p:cNvPr id="98" name="Shape 96"/>
          <p:cNvSpPr/>
          <p:nvPr/>
        </p:nvSpPr>
        <p:spPr>
          <a:xfrm>
            <a:off x="6131052" y="877824"/>
            <a:ext cx="310896" cy="310896"/>
          </a:xfrm>
          <a:prstGeom prst="ellipse">
            <a:avLst/>
          </a:prstGeom>
          <a:solidFill>
            <a:srgbClr val="7C3AED">
              <a:alpha val="25000"/>
            </a:srgbClr>
          </a:solidFill>
          <a:ln w="12700">
            <a:solidFill>
              <a:srgbClr val="7C3AED">
                <a:alpha val="0"/>
              </a:srgbClr>
            </a:solidFill>
            <a:prstDash val="solid"/>
          </a:ln>
        </p:spPr>
      </p:sp>
      <p:sp>
        <p:nvSpPr>
          <p:cNvPr id="99" name="Shape 97"/>
          <p:cNvSpPr/>
          <p:nvPr/>
        </p:nvSpPr>
        <p:spPr>
          <a:xfrm>
            <a:off x="6222492" y="969264"/>
            <a:ext cx="128016" cy="128016"/>
          </a:xfrm>
          <a:prstGeom prst="ellipse">
            <a:avLst/>
          </a:prstGeom>
          <a:solidFill>
            <a:srgbClr val="7C3AED"/>
          </a:solidFill>
          <a:ln w="6350">
            <a:solidFill>
              <a:srgbClr val="FFFFFF">
                <a:alpha val="60000"/>
              </a:srgbClr>
            </a:solidFill>
            <a:prstDash val="solid"/>
          </a:ln>
        </p:spPr>
      </p:sp>
      <p:sp>
        <p:nvSpPr>
          <p:cNvPr id="100" name="Shape 98"/>
          <p:cNvSpPr/>
          <p:nvPr/>
        </p:nvSpPr>
        <p:spPr>
          <a:xfrm>
            <a:off x="6131052" y="1481328"/>
            <a:ext cx="310896" cy="310896"/>
          </a:xfrm>
          <a:prstGeom prst="ellipse">
            <a:avLst/>
          </a:prstGeom>
          <a:solidFill>
            <a:srgbClr val="7C3AED">
              <a:alpha val="25000"/>
            </a:srgbClr>
          </a:solidFill>
          <a:ln w="12700">
            <a:solidFill>
              <a:srgbClr val="7C3AED">
                <a:alpha val="0"/>
              </a:srgbClr>
            </a:solidFill>
            <a:prstDash val="solid"/>
          </a:ln>
        </p:spPr>
      </p:sp>
      <p:sp>
        <p:nvSpPr>
          <p:cNvPr id="101" name="Shape 99"/>
          <p:cNvSpPr/>
          <p:nvPr/>
        </p:nvSpPr>
        <p:spPr>
          <a:xfrm>
            <a:off x="6222492" y="1572768"/>
            <a:ext cx="128016" cy="128016"/>
          </a:xfrm>
          <a:prstGeom prst="ellipse">
            <a:avLst/>
          </a:prstGeom>
          <a:solidFill>
            <a:srgbClr val="7C3AED"/>
          </a:solidFill>
          <a:ln w="6350">
            <a:solidFill>
              <a:srgbClr val="FFFFFF">
                <a:alpha val="60000"/>
              </a:srgbClr>
            </a:solidFill>
            <a:prstDash val="solid"/>
          </a:ln>
        </p:spPr>
      </p:sp>
      <p:sp>
        <p:nvSpPr>
          <p:cNvPr id="102" name="Shape 100"/>
          <p:cNvSpPr/>
          <p:nvPr/>
        </p:nvSpPr>
        <p:spPr>
          <a:xfrm>
            <a:off x="6131052" y="2084832"/>
            <a:ext cx="310896" cy="310896"/>
          </a:xfrm>
          <a:prstGeom prst="ellipse">
            <a:avLst/>
          </a:prstGeom>
          <a:solidFill>
            <a:srgbClr val="7C3AED">
              <a:alpha val="25000"/>
            </a:srgbClr>
          </a:solidFill>
          <a:ln w="12700">
            <a:solidFill>
              <a:srgbClr val="7C3AED">
                <a:alpha val="0"/>
              </a:srgbClr>
            </a:solidFill>
            <a:prstDash val="solid"/>
          </a:ln>
        </p:spPr>
      </p:sp>
      <p:sp>
        <p:nvSpPr>
          <p:cNvPr id="103" name="Shape 101"/>
          <p:cNvSpPr/>
          <p:nvPr/>
        </p:nvSpPr>
        <p:spPr>
          <a:xfrm>
            <a:off x="6222492" y="2176272"/>
            <a:ext cx="128016" cy="128016"/>
          </a:xfrm>
          <a:prstGeom prst="ellipse">
            <a:avLst/>
          </a:prstGeom>
          <a:solidFill>
            <a:srgbClr val="7C3AED"/>
          </a:solidFill>
          <a:ln w="6350">
            <a:solidFill>
              <a:srgbClr val="FFFFFF">
                <a:alpha val="60000"/>
              </a:srgbClr>
            </a:solidFill>
            <a:prstDash val="solid"/>
          </a:ln>
        </p:spPr>
      </p:sp>
      <p:sp>
        <p:nvSpPr>
          <p:cNvPr id="104" name="Shape 102"/>
          <p:cNvSpPr/>
          <p:nvPr/>
        </p:nvSpPr>
        <p:spPr>
          <a:xfrm>
            <a:off x="6131052" y="2688336"/>
            <a:ext cx="310896" cy="310896"/>
          </a:xfrm>
          <a:prstGeom prst="ellipse">
            <a:avLst/>
          </a:prstGeom>
          <a:solidFill>
            <a:srgbClr val="7C3AED">
              <a:alpha val="25000"/>
            </a:srgbClr>
          </a:solidFill>
          <a:ln w="12700">
            <a:solidFill>
              <a:srgbClr val="7C3AED">
                <a:alpha val="0"/>
              </a:srgbClr>
            </a:solidFill>
            <a:prstDash val="solid"/>
          </a:ln>
        </p:spPr>
      </p:sp>
      <p:sp>
        <p:nvSpPr>
          <p:cNvPr id="105" name="Shape 103"/>
          <p:cNvSpPr/>
          <p:nvPr/>
        </p:nvSpPr>
        <p:spPr>
          <a:xfrm>
            <a:off x="6222492" y="2779776"/>
            <a:ext cx="128016" cy="128016"/>
          </a:xfrm>
          <a:prstGeom prst="ellipse">
            <a:avLst/>
          </a:prstGeom>
          <a:solidFill>
            <a:srgbClr val="7C3AED"/>
          </a:solidFill>
          <a:ln w="6350">
            <a:solidFill>
              <a:srgbClr val="FFFFFF">
                <a:alpha val="60000"/>
              </a:srgbClr>
            </a:solidFill>
            <a:prstDash val="solid"/>
          </a:ln>
        </p:spPr>
      </p:sp>
      <p:sp>
        <p:nvSpPr>
          <p:cNvPr id="106" name="Shape 104"/>
          <p:cNvSpPr/>
          <p:nvPr/>
        </p:nvSpPr>
        <p:spPr>
          <a:xfrm>
            <a:off x="6131052" y="3291840"/>
            <a:ext cx="310896" cy="310896"/>
          </a:xfrm>
          <a:prstGeom prst="ellipse">
            <a:avLst/>
          </a:prstGeom>
          <a:solidFill>
            <a:srgbClr val="7C3AED">
              <a:alpha val="25000"/>
            </a:srgbClr>
          </a:solidFill>
          <a:ln w="12700">
            <a:solidFill>
              <a:srgbClr val="7C3AED">
                <a:alpha val="0"/>
              </a:srgbClr>
            </a:solidFill>
            <a:prstDash val="solid"/>
          </a:ln>
        </p:spPr>
      </p:sp>
      <p:sp>
        <p:nvSpPr>
          <p:cNvPr id="107" name="Shape 105"/>
          <p:cNvSpPr/>
          <p:nvPr/>
        </p:nvSpPr>
        <p:spPr>
          <a:xfrm>
            <a:off x="6222492" y="3383280"/>
            <a:ext cx="128016" cy="128016"/>
          </a:xfrm>
          <a:prstGeom prst="ellipse">
            <a:avLst/>
          </a:prstGeom>
          <a:solidFill>
            <a:srgbClr val="7C3AED"/>
          </a:solidFill>
          <a:ln w="6350">
            <a:solidFill>
              <a:srgbClr val="FFFFFF">
                <a:alpha val="60000"/>
              </a:srgbClr>
            </a:solidFill>
            <a:prstDash val="solid"/>
          </a:ln>
        </p:spPr>
      </p:sp>
      <p:sp>
        <p:nvSpPr>
          <p:cNvPr id="108" name="Shape 106"/>
          <p:cNvSpPr/>
          <p:nvPr/>
        </p:nvSpPr>
        <p:spPr>
          <a:xfrm>
            <a:off x="6931152" y="827532"/>
            <a:ext cx="310896" cy="310896"/>
          </a:xfrm>
          <a:prstGeom prst="ellipse">
            <a:avLst/>
          </a:prstGeom>
          <a:solidFill>
            <a:srgbClr val="DB2777">
              <a:alpha val="25000"/>
            </a:srgbClr>
          </a:solidFill>
          <a:ln w="12700">
            <a:solidFill>
              <a:srgbClr val="DB2777">
                <a:alpha val="0"/>
              </a:srgbClr>
            </a:solidFill>
            <a:prstDash val="solid"/>
          </a:ln>
        </p:spPr>
      </p:sp>
      <p:sp>
        <p:nvSpPr>
          <p:cNvPr id="109" name="Shape 107"/>
          <p:cNvSpPr/>
          <p:nvPr/>
        </p:nvSpPr>
        <p:spPr>
          <a:xfrm>
            <a:off x="7022592" y="918972"/>
            <a:ext cx="128016" cy="128016"/>
          </a:xfrm>
          <a:prstGeom prst="ellipse">
            <a:avLst/>
          </a:prstGeom>
          <a:solidFill>
            <a:srgbClr val="DB2777"/>
          </a:solidFill>
          <a:ln w="6350">
            <a:solidFill>
              <a:srgbClr val="FFFFFF">
                <a:alpha val="60000"/>
              </a:srgbClr>
            </a:solidFill>
            <a:prstDash val="solid"/>
          </a:ln>
        </p:spPr>
      </p:sp>
      <p:sp>
        <p:nvSpPr>
          <p:cNvPr id="110" name="Shape 108"/>
          <p:cNvSpPr/>
          <p:nvPr/>
        </p:nvSpPr>
        <p:spPr>
          <a:xfrm>
            <a:off x="6931152" y="1330452"/>
            <a:ext cx="310896" cy="310896"/>
          </a:xfrm>
          <a:prstGeom prst="ellipse">
            <a:avLst/>
          </a:prstGeom>
          <a:solidFill>
            <a:srgbClr val="DB2777">
              <a:alpha val="25000"/>
            </a:srgbClr>
          </a:solidFill>
          <a:ln w="12700">
            <a:solidFill>
              <a:srgbClr val="DB2777">
                <a:alpha val="0"/>
              </a:srgbClr>
            </a:solidFill>
            <a:prstDash val="solid"/>
          </a:ln>
        </p:spPr>
      </p:sp>
      <p:sp>
        <p:nvSpPr>
          <p:cNvPr id="111" name="Shape 109"/>
          <p:cNvSpPr/>
          <p:nvPr/>
        </p:nvSpPr>
        <p:spPr>
          <a:xfrm>
            <a:off x="7022592" y="1421892"/>
            <a:ext cx="128016" cy="128016"/>
          </a:xfrm>
          <a:prstGeom prst="ellipse">
            <a:avLst/>
          </a:prstGeom>
          <a:solidFill>
            <a:srgbClr val="DB2777"/>
          </a:solidFill>
          <a:ln w="6350">
            <a:solidFill>
              <a:srgbClr val="FFFFFF">
                <a:alpha val="60000"/>
              </a:srgbClr>
            </a:solidFill>
            <a:prstDash val="solid"/>
          </a:ln>
        </p:spPr>
      </p:sp>
      <p:sp>
        <p:nvSpPr>
          <p:cNvPr id="112" name="Shape 110"/>
          <p:cNvSpPr/>
          <p:nvPr/>
        </p:nvSpPr>
        <p:spPr>
          <a:xfrm>
            <a:off x="6931152" y="1833372"/>
            <a:ext cx="310896" cy="310896"/>
          </a:xfrm>
          <a:prstGeom prst="ellipse">
            <a:avLst/>
          </a:prstGeom>
          <a:solidFill>
            <a:srgbClr val="DB2777">
              <a:alpha val="25000"/>
            </a:srgbClr>
          </a:solidFill>
          <a:ln w="12700">
            <a:solidFill>
              <a:srgbClr val="DB2777">
                <a:alpha val="0"/>
              </a:srgbClr>
            </a:solidFill>
            <a:prstDash val="solid"/>
          </a:ln>
        </p:spPr>
      </p:sp>
      <p:sp>
        <p:nvSpPr>
          <p:cNvPr id="113" name="Shape 111"/>
          <p:cNvSpPr/>
          <p:nvPr/>
        </p:nvSpPr>
        <p:spPr>
          <a:xfrm>
            <a:off x="7022592" y="1924812"/>
            <a:ext cx="128016" cy="128016"/>
          </a:xfrm>
          <a:prstGeom prst="ellipse">
            <a:avLst/>
          </a:prstGeom>
          <a:solidFill>
            <a:srgbClr val="DB2777"/>
          </a:solidFill>
          <a:ln w="6350">
            <a:solidFill>
              <a:srgbClr val="FFFFFF">
                <a:alpha val="60000"/>
              </a:srgbClr>
            </a:solidFill>
            <a:prstDash val="solid"/>
          </a:ln>
        </p:spPr>
      </p:sp>
      <p:sp>
        <p:nvSpPr>
          <p:cNvPr id="114" name="Shape 112"/>
          <p:cNvSpPr/>
          <p:nvPr/>
        </p:nvSpPr>
        <p:spPr>
          <a:xfrm>
            <a:off x="6931152" y="2336292"/>
            <a:ext cx="310896" cy="310896"/>
          </a:xfrm>
          <a:prstGeom prst="ellipse">
            <a:avLst/>
          </a:prstGeom>
          <a:solidFill>
            <a:srgbClr val="DB2777">
              <a:alpha val="25000"/>
            </a:srgbClr>
          </a:solidFill>
          <a:ln w="12700">
            <a:solidFill>
              <a:srgbClr val="DB2777">
                <a:alpha val="0"/>
              </a:srgbClr>
            </a:solidFill>
            <a:prstDash val="solid"/>
          </a:ln>
        </p:spPr>
      </p:sp>
      <p:sp>
        <p:nvSpPr>
          <p:cNvPr id="115" name="Shape 113"/>
          <p:cNvSpPr/>
          <p:nvPr/>
        </p:nvSpPr>
        <p:spPr>
          <a:xfrm>
            <a:off x="7022592" y="2427732"/>
            <a:ext cx="128016" cy="128016"/>
          </a:xfrm>
          <a:prstGeom prst="ellipse">
            <a:avLst/>
          </a:prstGeom>
          <a:solidFill>
            <a:srgbClr val="DB2777"/>
          </a:solidFill>
          <a:ln w="6350">
            <a:solidFill>
              <a:srgbClr val="FFFFFF">
                <a:alpha val="60000"/>
              </a:srgbClr>
            </a:solidFill>
            <a:prstDash val="solid"/>
          </a:ln>
        </p:spPr>
      </p:sp>
      <p:sp>
        <p:nvSpPr>
          <p:cNvPr id="116" name="Shape 114"/>
          <p:cNvSpPr/>
          <p:nvPr/>
        </p:nvSpPr>
        <p:spPr>
          <a:xfrm>
            <a:off x="6931152" y="2839212"/>
            <a:ext cx="310896" cy="310896"/>
          </a:xfrm>
          <a:prstGeom prst="ellipse">
            <a:avLst/>
          </a:prstGeom>
          <a:solidFill>
            <a:srgbClr val="DB2777">
              <a:alpha val="25000"/>
            </a:srgbClr>
          </a:solidFill>
          <a:ln w="12700">
            <a:solidFill>
              <a:srgbClr val="DB2777">
                <a:alpha val="0"/>
              </a:srgbClr>
            </a:solidFill>
            <a:prstDash val="solid"/>
          </a:ln>
        </p:spPr>
      </p:sp>
      <p:sp>
        <p:nvSpPr>
          <p:cNvPr id="117" name="Shape 115"/>
          <p:cNvSpPr/>
          <p:nvPr/>
        </p:nvSpPr>
        <p:spPr>
          <a:xfrm>
            <a:off x="7022592" y="2930652"/>
            <a:ext cx="128016" cy="128016"/>
          </a:xfrm>
          <a:prstGeom prst="ellipse">
            <a:avLst/>
          </a:prstGeom>
          <a:solidFill>
            <a:srgbClr val="DB2777"/>
          </a:solidFill>
          <a:ln w="6350">
            <a:solidFill>
              <a:srgbClr val="FFFFFF">
                <a:alpha val="60000"/>
              </a:srgbClr>
            </a:solidFill>
            <a:prstDash val="solid"/>
          </a:ln>
        </p:spPr>
      </p:sp>
      <p:sp>
        <p:nvSpPr>
          <p:cNvPr id="118" name="Shape 116"/>
          <p:cNvSpPr/>
          <p:nvPr/>
        </p:nvSpPr>
        <p:spPr>
          <a:xfrm>
            <a:off x="6931152" y="3342132"/>
            <a:ext cx="310896" cy="310896"/>
          </a:xfrm>
          <a:prstGeom prst="ellipse">
            <a:avLst/>
          </a:prstGeom>
          <a:solidFill>
            <a:srgbClr val="DB2777">
              <a:alpha val="25000"/>
            </a:srgbClr>
          </a:solidFill>
          <a:ln w="12700">
            <a:solidFill>
              <a:srgbClr val="DB2777">
                <a:alpha val="0"/>
              </a:srgbClr>
            </a:solidFill>
            <a:prstDash val="solid"/>
          </a:ln>
        </p:spPr>
      </p:sp>
      <p:sp>
        <p:nvSpPr>
          <p:cNvPr id="119" name="Shape 117"/>
          <p:cNvSpPr/>
          <p:nvPr/>
        </p:nvSpPr>
        <p:spPr>
          <a:xfrm>
            <a:off x="7022592" y="3433572"/>
            <a:ext cx="128016" cy="128016"/>
          </a:xfrm>
          <a:prstGeom prst="ellipse">
            <a:avLst/>
          </a:prstGeom>
          <a:solidFill>
            <a:srgbClr val="DB2777"/>
          </a:solidFill>
          <a:ln w="6350">
            <a:solidFill>
              <a:srgbClr val="FFFFFF">
                <a:alpha val="60000"/>
              </a:srgbClr>
            </a:solidFill>
            <a:prstDash val="solid"/>
          </a:ln>
        </p:spPr>
      </p:sp>
      <p:sp>
        <p:nvSpPr>
          <p:cNvPr id="120" name="Shape 118"/>
          <p:cNvSpPr/>
          <p:nvPr/>
        </p:nvSpPr>
        <p:spPr>
          <a:xfrm>
            <a:off x="7731252" y="877824"/>
            <a:ext cx="310896" cy="310896"/>
          </a:xfrm>
          <a:prstGeom prst="ellipse">
            <a:avLst/>
          </a:prstGeom>
          <a:solidFill>
            <a:srgbClr val="059669">
              <a:alpha val="25000"/>
            </a:srgbClr>
          </a:solidFill>
          <a:ln w="12700">
            <a:solidFill>
              <a:srgbClr val="059669">
                <a:alpha val="0"/>
              </a:srgbClr>
            </a:solidFill>
            <a:prstDash val="solid"/>
          </a:ln>
        </p:spPr>
      </p:sp>
      <p:sp>
        <p:nvSpPr>
          <p:cNvPr id="121" name="Shape 119"/>
          <p:cNvSpPr/>
          <p:nvPr/>
        </p:nvSpPr>
        <p:spPr>
          <a:xfrm>
            <a:off x="7822692" y="969264"/>
            <a:ext cx="128016" cy="128016"/>
          </a:xfrm>
          <a:prstGeom prst="ellipse">
            <a:avLst/>
          </a:prstGeom>
          <a:solidFill>
            <a:srgbClr val="059669"/>
          </a:solidFill>
          <a:ln w="6350">
            <a:solidFill>
              <a:srgbClr val="FFFFFF">
                <a:alpha val="60000"/>
              </a:srgbClr>
            </a:solidFill>
            <a:prstDash val="solid"/>
          </a:ln>
        </p:spPr>
      </p:sp>
      <p:sp>
        <p:nvSpPr>
          <p:cNvPr id="122" name="Shape 120"/>
          <p:cNvSpPr/>
          <p:nvPr/>
        </p:nvSpPr>
        <p:spPr>
          <a:xfrm>
            <a:off x="7731252" y="1481328"/>
            <a:ext cx="310896" cy="310896"/>
          </a:xfrm>
          <a:prstGeom prst="ellipse">
            <a:avLst/>
          </a:prstGeom>
          <a:solidFill>
            <a:srgbClr val="059669">
              <a:alpha val="25000"/>
            </a:srgbClr>
          </a:solidFill>
          <a:ln w="12700">
            <a:solidFill>
              <a:srgbClr val="059669">
                <a:alpha val="0"/>
              </a:srgbClr>
            </a:solidFill>
            <a:prstDash val="solid"/>
          </a:ln>
        </p:spPr>
      </p:sp>
      <p:sp>
        <p:nvSpPr>
          <p:cNvPr id="123" name="Shape 121"/>
          <p:cNvSpPr/>
          <p:nvPr/>
        </p:nvSpPr>
        <p:spPr>
          <a:xfrm>
            <a:off x="7822692" y="1572768"/>
            <a:ext cx="128016" cy="128016"/>
          </a:xfrm>
          <a:prstGeom prst="ellipse">
            <a:avLst/>
          </a:prstGeom>
          <a:solidFill>
            <a:srgbClr val="059669"/>
          </a:solidFill>
          <a:ln w="6350">
            <a:solidFill>
              <a:srgbClr val="FFFFFF">
                <a:alpha val="60000"/>
              </a:srgbClr>
            </a:solidFill>
            <a:prstDash val="solid"/>
          </a:ln>
        </p:spPr>
      </p:sp>
      <p:sp>
        <p:nvSpPr>
          <p:cNvPr id="124" name="Shape 122"/>
          <p:cNvSpPr/>
          <p:nvPr/>
        </p:nvSpPr>
        <p:spPr>
          <a:xfrm>
            <a:off x="7731252" y="2084832"/>
            <a:ext cx="310896" cy="310896"/>
          </a:xfrm>
          <a:prstGeom prst="ellipse">
            <a:avLst/>
          </a:prstGeom>
          <a:solidFill>
            <a:srgbClr val="059669">
              <a:alpha val="25000"/>
            </a:srgbClr>
          </a:solidFill>
          <a:ln w="12700">
            <a:solidFill>
              <a:srgbClr val="059669">
                <a:alpha val="0"/>
              </a:srgbClr>
            </a:solidFill>
            <a:prstDash val="solid"/>
          </a:ln>
        </p:spPr>
      </p:sp>
      <p:sp>
        <p:nvSpPr>
          <p:cNvPr id="125" name="Shape 123"/>
          <p:cNvSpPr/>
          <p:nvPr/>
        </p:nvSpPr>
        <p:spPr>
          <a:xfrm>
            <a:off x="7822692" y="2176272"/>
            <a:ext cx="128016" cy="128016"/>
          </a:xfrm>
          <a:prstGeom prst="ellipse">
            <a:avLst/>
          </a:prstGeom>
          <a:solidFill>
            <a:srgbClr val="059669"/>
          </a:solidFill>
          <a:ln w="6350">
            <a:solidFill>
              <a:srgbClr val="FFFFFF">
                <a:alpha val="60000"/>
              </a:srgbClr>
            </a:solidFill>
            <a:prstDash val="solid"/>
          </a:ln>
        </p:spPr>
      </p:sp>
      <p:sp>
        <p:nvSpPr>
          <p:cNvPr id="126" name="Shape 124"/>
          <p:cNvSpPr/>
          <p:nvPr/>
        </p:nvSpPr>
        <p:spPr>
          <a:xfrm>
            <a:off x="7731252" y="2688336"/>
            <a:ext cx="310896" cy="310896"/>
          </a:xfrm>
          <a:prstGeom prst="ellipse">
            <a:avLst/>
          </a:prstGeom>
          <a:solidFill>
            <a:srgbClr val="059669">
              <a:alpha val="25000"/>
            </a:srgbClr>
          </a:solidFill>
          <a:ln w="12700">
            <a:solidFill>
              <a:srgbClr val="059669">
                <a:alpha val="0"/>
              </a:srgbClr>
            </a:solidFill>
            <a:prstDash val="solid"/>
          </a:ln>
        </p:spPr>
      </p:sp>
      <p:sp>
        <p:nvSpPr>
          <p:cNvPr id="127" name="Shape 125"/>
          <p:cNvSpPr/>
          <p:nvPr/>
        </p:nvSpPr>
        <p:spPr>
          <a:xfrm>
            <a:off x="7822692" y="2779776"/>
            <a:ext cx="128016" cy="128016"/>
          </a:xfrm>
          <a:prstGeom prst="ellipse">
            <a:avLst/>
          </a:prstGeom>
          <a:solidFill>
            <a:srgbClr val="059669"/>
          </a:solidFill>
          <a:ln w="6350">
            <a:solidFill>
              <a:srgbClr val="FFFFFF">
                <a:alpha val="60000"/>
              </a:srgbClr>
            </a:solidFill>
            <a:prstDash val="solid"/>
          </a:ln>
        </p:spPr>
      </p:sp>
      <p:sp>
        <p:nvSpPr>
          <p:cNvPr id="128" name="Shape 126"/>
          <p:cNvSpPr/>
          <p:nvPr/>
        </p:nvSpPr>
        <p:spPr>
          <a:xfrm>
            <a:off x="7731252" y="3291840"/>
            <a:ext cx="310896" cy="310896"/>
          </a:xfrm>
          <a:prstGeom prst="ellipse">
            <a:avLst/>
          </a:prstGeom>
          <a:solidFill>
            <a:srgbClr val="059669">
              <a:alpha val="25000"/>
            </a:srgbClr>
          </a:solidFill>
          <a:ln w="12700">
            <a:solidFill>
              <a:srgbClr val="059669">
                <a:alpha val="0"/>
              </a:srgbClr>
            </a:solidFill>
            <a:prstDash val="solid"/>
          </a:ln>
        </p:spPr>
      </p:sp>
      <p:sp>
        <p:nvSpPr>
          <p:cNvPr id="129" name="Shape 127"/>
          <p:cNvSpPr/>
          <p:nvPr/>
        </p:nvSpPr>
        <p:spPr>
          <a:xfrm>
            <a:off x="7822692" y="3383280"/>
            <a:ext cx="128016" cy="128016"/>
          </a:xfrm>
          <a:prstGeom prst="ellipse">
            <a:avLst/>
          </a:prstGeom>
          <a:solidFill>
            <a:srgbClr val="059669"/>
          </a:solidFill>
          <a:ln w="6350">
            <a:solidFill>
              <a:srgbClr val="FFFFFF">
                <a:alpha val="60000"/>
              </a:srgbClr>
            </a:solidFill>
            <a:prstDash val="solid"/>
          </a:ln>
        </p:spPr>
      </p:sp>
      <p:sp>
        <p:nvSpPr>
          <p:cNvPr id="130" name="Shape 128"/>
          <p:cNvSpPr/>
          <p:nvPr/>
        </p:nvSpPr>
        <p:spPr>
          <a:xfrm>
            <a:off x="8531352" y="1330452"/>
            <a:ext cx="310896" cy="310896"/>
          </a:xfrm>
          <a:prstGeom prst="ellipse">
            <a:avLst/>
          </a:prstGeom>
          <a:solidFill>
            <a:srgbClr val="0891B2">
              <a:alpha val="25000"/>
            </a:srgbClr>
          </a:solidFill>
          <a:ln w="12700">
            <a:solidFill>
              <a:srgbClr val="0891B2">
                <a:alpha val="0"/>
              </a:srgbClr>
            </a:solidFill>
            <a:prstDash val="solid"/>
          </a:ln>
        </p:spPr>
      </p:sp>
      <p:sp>
        <p:nvSpPr>
          <p:cNvPr id="131" name="Shape 129"/>
          <p:cNvSpPr/>
          <p:nvPr/>
        </p:nvSpPr>
        <p:spPr>
          <a:xfrm>
            <a:off x="8622792" y="1421892"/>
            <a:ext cx="128016" cy="128016"/>
          </a:xfrm>
          <a:prstGeom prst="ellipse">
            <a:avLst/>
          </a:prstGeom>
          <a:solidFill>
            <a:srgbClr val="0891B2"/>
          </a:solidFill>
          <a:ln w="6350">
            <a:solidFill>
              <a:srgbClr val="FFFFFF">
                <a:alpha val="60000"/>
              </a:srgbClr>
            </a:solidFill>
            <a:prstDash val="solid"/>
          </a:ln>
        </p:spPr>
      </p:sp>
      <p:sp>
        <p:nvSpPr>
          <p:cNvPr id="132" name="Shape 130"/>
          <p:cNvSpPr/>
          <p:nvPr/>
        </p:nvSpPr>
        <p:spPr>
          <a:xfrm>
            <a:off x="8531352" y="2839212"/>
            <a:ext cx="310896" cy="310896"/>
          </a:xfrm>
          <a:prstGeom prst="ellipse">
            <a:avLst/>
          </a:prstGeom>
          <a:solidFill>
            <a:srgbClr val="0891B2">
              <a:alpha val="25000"/>
            </a:srgbClr>
          </a:solidFill>
          <a:ln w="12700">
            <a:solidFill>
              <a:srgbClr val="0891B2">
                <a:alpha val="0"/>
              </a:srgbClr>
            </a:solidFill>
            <a:prstDash val="solid"/>
          </a:ln>
        </p:spPr>
      </p:sp>
      <p:sp>
        <p:nvSpPr>
          <p:cNvPr id="133" name="Shape 131"/>
          <p:cNvSpPr/>
          <p:nvPr/>
        </p:nvSpPr>
        <p:spPr>
          <a:xfrm>
            <a:off x="8622792" y="2930652"/>
            <a:ext cx="128016" cy="128016"/>
          </a:xfrm>
          <a:prstGeom prst="ellipse">
            <a:avLst/>
          </a:prstGeom>
          <a:solidFill>
            <a:srgbClr val="0891B2"/>
          </a:solidFill>
          <a:ln w="6350">
            <a:solidFill>
              <a:srgbClr val="FFFFFF">
                <a:alpha val="60000"/>
              </a:srgbClr>
            </a:solidFill>
            <a:prstDash val="solid"/>
          </a:ln>
        </p:spPr>
      </p:sp>
      <p:sp>
        <p:nvSpPr>
          <p:cNvPr id="134" name="Text 132"/>
          <p:cNvSpPr txBox="1"/>
          <p:nvPr/>
        </p:nvSpPr>
        <p:spPr>
          <a:xfrm>
            <a:off x="548640" y="502920"/>
            <a:ext cx="5120640" cy="274320"/>
          </a:xfrm>
          <a:prstGeom prst="rect">
            <a:avLst/>
          </a:prstGeom>
          <a:noFill/>
          <a:ln/>
        </p:spPr>
        <p:txBody>
          <a:bodyPr wrap="square" lIns="0" tIns="0" rIns="0" bIns="0" rtlCol="0" anchor="ctr"/>
          <a:lstStyle/>
          <a:p>
            <a:pPr indent="0" marL="0">
              <a:buNone/>
            </a:pPr>
            <a:r>
              <a:rPr lang="en-US" sz="950" spc="200" kern="0" dirty="0">
                <a:solidFill>
                  <a:srgbClr val="0891B2"/>
                </a:solidFill>
                <a:latin typeface="Consolas" pitchFamily="34" charset="0"/>
                <a:ea typeface="Consolas" pitchFamily="34" charset="-122"/>
                <a:cs typeface="Consolas" pitchFamily="34" charset="-120"/>
              </a:rPr>
              <a:t>// BAN 6800  |  MODULE 5  |  EXPLAINABLE AI</a:t>
            </a:r>
            <a:endParaRPr lang="en-US" sz="950" dirty="0"/>
          </a:p>
        </p:txBody>
      </p:sp>
      <p:sp>
        <p:nvSpPr>
          <p:cNvPr id="135" name="Text 133"/>
          <p:cNvSpPr txBox="1"/>
          <p:nvPr/>
        </p:nvSpPr>
        <p:spPr>
          <a:xfrm>
            <a:off x="548640" y="868680"/>
            <a:ext cx="5120640" cy="822960"/>
          </a:xfrm>
          <a:prstGeom prst="rect">
            <a:avLst/>
          </a:prstGeom>
          <a:noFill/>
          <a:ln/>
        </p:spPr>
        <p:txBody>
          <a:bodyPr wrap="square" lIns="0" tIns="0" rIns="0" bIns="0" rtlCol="0" anchor="ctr"/>
          <a:lstStyle/>
          <a:p>
            <a:pPr indent="0" marL="0">
              <a:buNone/>
            </a:pPr>
            <a:r>
              <a:rPr lang="en-US" sz="5400" b="1" dirty="0">
                <a:solidFill>
                  <a:srgbClr val="0F172A"/>
                </a:solidFill>
                <a:latin typeface="Calibri" pitchFamily="34" charset="0"/>
                <a:ea typeface="Calibri" pitchFamily="34" charset="-122"/>
                <a:cs typeface="Calibri" pitchFamily="34" charset="-120"/>
              </a:rPr>
              <a:t>CareConnect</a:t>
            </a:r>
            <a:endParaRPr lang="en-US" sz="5400" dirty="0"/>
          </a:p>
        </p:txBody>
      </p:sp>
      <p:sp>
        <p:nvSpPr>
          <p:cNvPr id="136" name="Text 134"/>
          <p:cNvSpPr txBox="1"/>
          <p:nvPr/>
        </p:nvSpPr>
        <p:spPr>
          <a:xfrm>
            <a:off x="548640" y="1645920"/>
            <a:ext cx="5120640" cy="502920"/>
          </a:xfrm>
          <a:prstGeom prst="rect">
            <a:avLst/>
          </a:prstGeom>
          <a:noFill/>
          <a:ln/>
        </p:spPr>
        <p:txBody>
          <a:bodyPr wrap="square" lIns="0" tIns="0" rIns="0" bIns="0" rtlCol="0" anchor="ctr"/>
          <a:lstStyle/>
          <a:p>
            <a:pPr indent="0" marL="0">
              <a:buNone/>
            </a:pPr>
            <a:r>
              <a:rPr lang="en-US" sz="2600" b="1" dirty="0">
                <a:solidFill>
                  <a:srgbClr val="0891B2"/>
                </a:solidFill>
                <a:latin typeface="Calibri" pitchFamily="34" charset="0"/>
                <a:ea typeface="Calibri" pitchFamily="34" charset="-122"/>
                <a:cs typeface="Calibri" pitchFamily="34" charset="-120"/>
              </a:rPr>
              <a:t>Predictive Engagement System</a:t>
            </a:r>
            <a:endParaRPr lang="en-US" sz="2600" dirty="0"/>
          </a:p>
        </p:txBody>
      </p:sp>
      <p:sp>
        <p:nvSpPr>
          <p:cNvPr id="137" name="Text 135"/>
          <p:cNvSpPr txBox="1"/>
          <p:nvPr/>
        </p:nvSpPr>
        <p:spPr>
          <a:xfrm>
            <a:off x="548640" y="2240280"/>
            <a:ext cx="4754880" cy="731520"/>
          </a:xfrm>
          <a:prstGeom prst="rect">
            <a:avLst/>
          </a:prstGeom>
          <a:noFill/>
          <a:ln/>
        </p:spPr>
        <p:txBody>
          <a:bodyPr wrap="square" lIns="0" tIns="0" rIns="0" bIns="0" rtlCol="0" anchor="ctr"/>
          <a:lstStyle/>
          <a:p>
            <a:pPr indent="0" marL="0">
              <a:buNone/>
            </a:pPr>
            <a:r>
              <a:rPr lang="en-US" sz="1500" dirty="0">
                <a:solidFill>
                  <a:srgbClr val="0F172A"/>
                </a:solidFill>
              </a:rPr>
              <a:t>What the no-show model found, why it decides the way it does, and how fairly it treats patients</a:t>
            </a:r>
            <a:endParaRPr lang="en-US" sz="1500" dirty="0"/>
          </a:p>
        </p:txBody>
      </p:sp>
      <p:sp>
        <p:nvSpPr>
          <p:cNvPr id="138" name="Text 136"/>
          <p:cNvSpPr txBox="1"/>
          <p:nvPr/>
        </p:nvSpPr>
        <p:spPr>
          <a:xfrm>
            <a:off x="548640" y="3063240"/>
            <a:ext cx="4937760" cy="731520"/>
          </a:xfrm>
          <a:prstGeom prst="rect">
            <a:avLst/>
          </a:prstGeom>
          <a:noFill/>
          <a:ln/>
        </p:spPr>
        <p:txBody>
          <a:bodyPr wrap="square" lIns="0" tIns="0" rIns="0" bIns="0" rtlCol="0" anchor="ctr"/>
          <a:lstStyle/>
          <a:p>
            <a:pPr indent="0" marL="0">
              <a:buNone/>
            </a:pPr>
            <a:r>
              <a:rPr lang="en-US" sz="1300" b="1" dirty="0">
                <a:solidFill>
                  <a:srgbClr val="0F172A"/>
                </a:solidFill>
              </a:rPr>
              <a:t>Gladys Izuagbe (ID 160948)</a:t>
            </a:r>
            <a:endParaRPr lang="en-US" sz="1300" dirty="0"/>
          </a:p>
          <a:p>
            <a:pPr indent="0" marL="0">
              <a:buNone/>
            </a:pPr>
            <a:r>
              <a:rPr lang="en-US" sz="1300" dirty="0">
                <a:solidFill>
                  <a:srgbClr val="64748B"/>
                </a:solidFill>
              </a:rPr>
              <a:t>Nexford University  |  October 2026</a:t>
            </a:r>
            <a:endParaRPr lang="en-US" sz="1300" dirty="0"/>
          </a:p>
          <a:p>
            <a:pPr indent="0" marL="0">
              <a:buNone/>
            </a:pPr>
            <a:r>
              <a:rPr lang="en-US" sz="1300" dirty="0">
                <a:solidFill>
                  <a:srgbClr val="64748B"/>
                </a:solidFill>
              </a:rPr>
              <a:t>Client: CrescentCare Community Hospital Network</a:t>
            </a:r>
            <a:endParaRPr lang="en-US" sz="1300" dirty="0"/>
          </a:p>
        </p:txBody>
      </p:sp>
      <p:sp>
        <p:nvSpPr>
          <p:cNvPr id="139" name="Shape 137"/>
          <p:cNvSpPr/>
          <p:nvPr/>
        </p:nvSpPr>
        <p:spPr>
          <a:xfrm>
            <a:off x="548640" y="3931920"/>
            <a:ext cx="8046720" cy="731520"/>
          </a:xfrm>
          <a:prstGeom prst="roundRect">
            <a:avLst>
              <a:gd name="adj" fmla="val 12500"/>
            </a:avLst>
          </a:prstGeom>
          <a:solidFill>
            <a:srgbClr val="FFFFFF"/>
          </a:solidFill>
          <a:ln w="12700">
            <a:solidFill>
              <a:srgbClr val="0891B2">
                <a:alpha val="60000"/>
              </a:srgbClr>
            </a:solidFill>
            <a:prstDash val="solid"/>
          </a:ln>
        </p:spPr>
      </p:sp>
      <p:sp>
        <p:nvSpPr>
          <p:cNvPr id="140" name="Text 138"/>
          <p:cNvSpPr txBox="1"/>
          <p:nvPr/>
        </p:nvSpPr>
        <p:spPr>
          <a:xfrm>
            <a:off x="731520" y="3950208"/>
            <a:ext cx="7680960" cy="694944"/>
          </a:xfrm>
          <a:prstGeom prst="rect">
            <a:avLst/>
          </a:prstGeom>
          <a:noFill/>
          <a:ln/>
        </p:spPr>
        <p:txBody>
          <a:bodyPr wrap="square" lIns="0" tIns="0" rIns="0" bIns="0" rtlCol="0" anchor="ctr"/>
          <a:lstStyle/>
          <a:p>
            <a:pPr indent="0" marL="0">
              <a:buNone/>
            </a:pPr>
            <a:r>
              <a:rPr lang="en-US" sz="1200" b="1" dirty="0">
                <a:solidFill>
                  <a:srgbClr val="D97706"/>
                </a:solidFill>
                <a:latin typeface="Consolas" pitchFamily="34" charset="0"/>
                <a:ea typeface="Consolas" pitchFamily="34" charset="-122"/>
                <a:cs typeface="Consolas" pitchFamily="34" charset="-120"/>
              </a:rPr>
              <a:t>OBJECTIVE  </a:t>
            </a:r>
            <a:pPr indent="0" marL="0">
              <a:buNone/>
            </a:pPr>
            <a:r>
              <a:rPr lang="en-US" sz="1200" dirty="0">
                <a:solidFill>
                  <a:srgbClr val="0F172A"/>
                </a:solidFill>
              </a:rPr>
              <a:t>Explain results, drivers, fairness and limits to non-technical stakeholders.   </a:t>
            </a:r>
            <a:endParaRPr lang="en-US" sz="1200" dirty="0"/>
          </a:p>
          <a:p>
            <a:pPr indent="0" marL="0">
              <a:buNone/>
            </a:pPr>
            <a:r>
              <a:rPr lang="en-US" sz="1200" b="1" dirty="0">
                <a:solidFill>
                  <a:srgbClr val="D97706"/>
                </a:solidFill>
                <a:latin typeface="Consolas" pitchFamily="34" charset="0"/>
                <a:ea typeface="Consolas" pitchFamily="34" charset="-122"/>
                <a:cs typeface="Consolas" pitchFamily="34" charset="-120"/>
              </a:rPr>
              <a:t>LIVE DASHBOARD  </a:t>
            </a:r>
            <a:pPr indent="0" marL="0">
              <a:buNone/>
            </a:pPr>
            <a:r>
              <a:rPr lang="en-US" sz="1200" u="sng" dirty="0">
                <a:solidFill>
                  <a:srgbClr val="0891B2"/>
                </a:solidFill>
                <a:hlinkClick r:id="rId1" invalidUrl="" action="" tgtFrame="" tooltip="" history="1" highlightClick="0" endSnd="0">
                  <a:extLst>
                    <a:ext uri="{A12FA001-AC4F-418D-AE19-62706E023703}">
                      <ahyp:hlinkClr xmlns:ahyp="http://schemas.microsoft.com/office/drawing/2018/hyperlinkcolor" val="tx"/>
                    </a:ext>
                  </a:extLst>
                </a:hlinkClick>
              </a:rPr>
              <a:t>https://YOUR-APP-NAME.streamlit.app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Who this is for, and what they need to decide</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02</a:t>
            </a:r>
            <a:endParaRPr lang="en-US" sz="1000" dirty="0"/>
          </a:p>
        </p:txBody>
      </p:sp>
      <p:sp>
        <p:nvSpPr>
          <p:cNvPr id="9" name="Shape 7"/>
          <p:cNvSpPr/>
          <p:nvPr/>
        </p:nvSpPr>
        <p:spPr>
          <a:xfrm>
            <a:off x="457200" y="1097280"/>
            <a:ext cx="3977640" cy="1600200"/>
          </a:xfrm>
          <a:prstGeom prst="roundRect">
            <a:avLst>
              <a:gd name="adj" fmla="val 5714"/>
            </a:avLst>
          </a:prstGeom>
          <a:solidFill>
            <a:srgbClr val="FFFFFF"/>
          </a:solidFill>
          <a:ln w="9525">
            <a:solidFill>
              <a:srgbClr val="0891B2">
                <a:alpha val="55000"/>
              </a:srgbClr>
            </a:solidFill>
            <a:prstDash val="solid"/>
          </a:ln>
        </p:spPr>
      </p:sp>
      <p:sp>
        <p:nvSpPr>
          <p:cNvPr id="10" name="Shape 8"/>
          <p:cNvSpPr/>
          <p:nvPr/>
        </p:nvSpPr>
        <p:spPr>
          <a:xfrm>
            <a:off x="475488" y="1225296"/>
            <a:ext cx="45720" cy="292608"/>
          </a:xfrm>
          <a:prstGeom prst="rect">
            <a:avLst/>
          </a:prstGeom>
          <a:solidFill>
            <a:srgbClr val="0891B2"/>
          </a:solidFill>
          <a:ln w="12700">
            <a:solidFill>
              <a:srgbClr val="0891B2">
                <a:alpha val="0"/>
              </a:srgbClr>
            </a:solidFill>
            <a:prstDash val="solid"/>
          </a:ln>
        </p:spPr>
      </p:sp>
      <p:sp>
        <p:nvSpPr>
          <p:cNvPr id="11" name="Text 9"/>
          <p:cNvSpPr txBox="1"/>
          <p:nvPr/>
        </p:nvSpPr>
        <p:spPr>
          <a:xfrm>
            <a:off x="621792" y="1188720"/>
            <a:ext cx="370332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Primary audience</a:t>
            </a:r>
            <a:endParaRPr lang="en-US" sz="1400" dirty="0"/>
          </a:p>
        </p:txBody>
      </p:sp>
      <p:sp>
        <p:nvSpPr>
          <p:cNvPr id="12" name="Text 10"/>
          <p:cNvSpPr txBox="1"/>
          <p:nvPr/>
        </p:nvSpPr>
        <p:spPr>
          <a:xfrm>
            <a:off x="621792" y="1536192"/>
            <a:ext cx="3685032" cy="1069848"/>
          </a:xfrm>
          <a:prstGeom prst="rect">
            <a:avLst/>
          </a:prstGeom>
          <a:noFill/>
          <a:ln/>
        </p:spPr>
        <p:txBody>
          <a:bodyPr wrap="square" lIns="0" tIns="0" rIns="0" bIns="0" rtlCol="0" anchor="t"/>
          <a:lstStyle/>
          <a:p>
            <a:pPr indent="0" marL="0">
              <a:spcAft>
                <a:spcPts val="300"/>
              </a:spcAft>
              <a:buNone/>
            </a:pPr>
            <a:r>
              <a:rPr lang="en-US" sz="1300" dirty="0">
                <a:solidFill>
                  <a:srgbClr val="0F172A"/>
                </a:solidFill>
              </a:rPr>
              <a:t>Chief Operations Officer (capacity and budget)</a:t>
            </a:r>
            <a:endParaRPr lang="en-US" sz="1300" dirty="0"/>
          </a:p>
          <a:p>
            <a:pPr indent="0" marL="0">
              <a:spcAft>
                <a:spcPts val="300"/>
              </a:spcAft>
              <a:buNone/>
            </a:pPr>
            <a:r>
              <a:rPr lang="en-US" sz="1300" dirty="0">
                <a:solidFill>
                  <a:srgbClr val="0F172A"/>
                </a:solidFill>
              </a:rPr>
              <a:t>Care Coordination Manager (daily workflow)</a:t>
            </a:r>
            <a:endParaRPr lang="en-US" sz="1300" dirty="0"/>
          </a:p>
          <a:p>
            <a:pPr indent="0" marL="0">
              <a:spcAft>
                <a:spcPts val="300"/>
              </a:spcAft>
              <a:buNone/>
            </a:pPr>
            <a:r>
              <a:rPr lang="en-US" sz="1300" dirty="0">
                <a:solidFill>
                  <a:srgbClr val="0F172A"/>
                </a:solidFill>
              </a:rPr>
              <a:t>Social Work Lead (support design and equity)</a:t>
            </a:r>
            <a:endParaRPr lang="en-US" sz="1300" dirty="0"/>
          </a:p>
        </p:txBody>
      </p:sp>
      <p:sp>
        <p:nvSpPr>
          <p:cNvPr id="13" name="Shape 11"/>
          <p:cNvSpPr/>
          <p:nvPr/>
        </p:nvSpPr>
        <p:spPr>
          <a:xfrm>
            <a:off x="457200" y="2834640"/>
            <a:ext cx="3977640" cy="1783080"/>
          </a:xfrm>
          <a:prstGeom prst="roundRect">
            <a:avLst>
              <a:gd name="adj" fmla="val 5128"/>
            </a:avLst>
          </a:prstGeom>
          <a:solidFill>
            <a:srgbClr val="FFF7E6"/>
          </a:solidFill>
          <a:ln w="9525">
            <a:solidFill>
              <a:srgbClr val="D97706">
                <a:alpha val="55000"/>
              </a:srgbClr>
            </a:solidFill>
            <a:prstDash val="solid"/>
          </a:ln>
        </p:spPr>
      </p:sp>
      <p:sp>
        <p:nvSpPr>
          <p:cNvPr id="14" name="Shape 12"/>
          <p:cNvSpPr/>
          <p:nvPr/>
        </p:nvSpPr>
        <p:spPr>
          <a:xfrm>
            <a:off x="475488" y="2962656"/>
            <a:ext cx="45720" cy="292608"/>
          </a:xfrm>
          <a:prstGeom prst="rect">
            <a:avLst/>
          </a:prstGeom>
          <a:solidFill>
            <a:srgbClr val="D97706"/>
          </a:solidFill>
          <a:ln w="12700">
            <a:solidFill>
              <a:srgbClr val="D97706">
                <a:alpha val="0"/>
              </a:srgbClr>
            </a:solidFill>
            <a:prstDash val="solid"/>
          </a:ln>
        </p:spPr>
      </p:sp>
      <p:sp>
        <p:nvSpPr>
          <p:cNvPr id="15" name="Text 13"/>
          <p:cNvSpPr txBox="1"/>
          <p:nvPr/>
        </p:nvSpPr>
        <p:spPr>
          <a:xfrm>
            <a:off x="621792" y="2926080"/>
            <a:ext cx="3703320" cy="320040"/>
          </a:xfrm>
          <a:prstGeom prst="rect">
            <a:avLst/>
          </a:prstGeom>
          <a:noFill/>
          <a:ln/>
        </p:spPr>
        <p:txBody>
          <a:bodyPr wrap="square" lIns="0" tIns="0" rIns="0" bIns="0" rtlCol="0" anchor="t"/>
          <a:lstStyle/>
          <a:p>
            <a:pPr indent="0" marL="0">
              <a:buNone/>
            </a:pPr>
            <a:r>
              <a:rPr lang="en-US" sz="1400" b="1" dirty="0">
                <a:solidFill>
                  <a:srgbClr val="D97706"/>
                </a:solidFill>
                <a:latin typeface="Calibri" pitchFamily="34" charset="0"/>
                <a:ea typeface="Calibri" pitchFamily="34" charset="-122"/>
                <a:cs typeface="Calibri" pitchFamily="34" charset="-120"/>
              </a:rPr>
              <a:t>Ethics and compliance (Module 1)</a:t>
            </a:r>
            <a:endParaRPr lang="en-US" sz="1400" dirty="0"/>
          </a:p>
        </p:txBody>
      </p:sp>
      <p:sp>
        <p:nvSpPr>
          <p:cNvPr id="16" name="Text 14"/>
          <p:cNvSpPr txBox="1"/>
          <p:nvPr/>
        </p:nvSpPr>
        <p:spPr>
          <a:xfrm>
            <a:off x="621792" y="3273552"/>
            <a:ext cx="3685032" cy="1252728"/>
          </a:xfrm>
          <a:prstGeom prst="rect">
            <a:avLst/>
          </a:prstGeom>
          <a:noFill/>
          <a:ln/>
        </p:spPr>
        <p:txBody>
          <a:bodyPr wrap="square" lIns="0" tIns="0" rIns="0" bIns="0" rtlCol="0" anchor="t"/>
          <a:lstStyle/>
          <a:p>
            <a:pPr indent="0" marL="0">
              <a:spcAft>
                <a:spcPts val="300"/>
              </a:spcAft>
              <a:buNone/>
            </a:pPr>
            <a:r>
              <a:rPr lang="en-US" sz="1300" dirty="0">
                <a:solidFill>
                  <a:srgbClr val="0F172A"/>
                </a:solidFill>
              </a:rPr>
              <a:t>AI Ethics Committee (binding veto)</a:t>
            </a:r>
            <a:endParaRPr lang="en-US" sz="1300" dirty="0"/>
          </a:p>
          <a:p>
            <a:pPr indent="0" marL="0">
              <a:spcAft>
                <a:spcPts val="300"/>
              </a:spcAft>
              <a:buNone/>
            </a:pPr>
            <a:r>
              <a:rPr lang="en-US" sz="1300" dirty="0">
                <a:solidFill>
                  <a:srgbClr val="0F172A"/>
                </a:solidFill>
              </a:rPr>
              <a:t>Privacy Officer (HIPAA / GDPR)</a:t>
            </a:r>
            <a:endParaRPr lang="en-US" sz="1300" dirty="0"/>
          </a:p>
          <a:p>
            <a:pPr indent="0" marL="0">
              <a:spcAft>
                <a:spcPts val="300"/>
              </a:spcAft>
              <a:buNone/>
            </a:pPr>
            <a:r>
              <a:rPr lang="en-US" sz="1300" dirty="0">
                <a:solidFill>
                  <a:srgbClr val="0F172A"/>
                </a:solidFill>
              </a:rPr>
              <a:t>Patient Advocate</a:t>
            </a:r>
            <a:endParaRPr lang="en-US" sz="1300" dirty="0"/>
          </a:p>
          <a:p>
            <a:pPr indent="0" marL="0">
              <a:spcAft>
                <a:spcPts val="300"/>
              </a:spcAft>
              <a:buNone/>
            </a:pPr>
            <a:r>
              <a:rPr lang="en-US" sz="1300" dirty="0">
                <a:solidFill>
                  <a:srgbClr val="0F172A"/>
                </a:solidFill>
              </a:rPr>
              <a:t>Data Science Team (bias audits)</a:t>
            </a:r>
            <a:endParaRPr lang="en-US" sz="1300" dirty="0"/>
          </a:p>
        </p:txBody>
      </p:sp>
      <p:sp>
        <p:nvSpPr>
          <p:cNvPr id="17" name="Shape 15"/>
          <p:cNvSpPr/>
          <p:nvPr/>
        </p:nvSpPr>
        <p:spPr>
          <a:xfrm>
            <a:off x="4709160" y="1097280"/>
            <a:ext cx="3977640" cy="3520440"/>
          </a:xfrm>
          <a:prstGeom prst="roundRect">
            <a:avLst>
              <a:gd name="adj" fmla="val 2597"/>
            </a:avLst>
          </a:prstGeom>
          <a:solidFill>
            <a:srgbClr val="FFFFFF"/>
          </a:solidFill>
          <a:ln w="9525">
            <a:solidFill>
              <a:srgbClr val="0891B2">
                <a:alpha val="55000"/>
              </a:srgbClr>
            </a:solidFill>
            <a:prstDash val="solid"/>
          </a:ln>
        </p:spPr>
      </p:sp>
      <p:sp>
        <p:nvSpPr>
          <p:cNvPr id="18" name="Shape 16"/>
          <p:cNvSpPr/>
          <p:nvPr/>
        </p:nvSpPr>
        <p:spPr>
          <a:xfrm>
            <a:off x="4727448" y="1225296"/>
            <a:ext cx="45720" cy="292608"/>
          </a:xfrm>
          <a:prstGeom prst="rect">
            <a:avLst/>
          </a:prstGeom>
          <a:solidFill>
            <a:srgbClr val="0891B2"/>
          </a:solidFill>
          <a:ln w="12700">
            <a:solidFill>
              <a:srgbClr val="0891B2">
                <a:alpha val="0"/>
              </a:srgbClr>
            </a:solidFill>
            <a:prstDash val="solid"/>
          </a:ln>
        </p:spPr>
      </p:sp>
      <p:sp>
        <p:nvSpPr>
          <p:cNvPr id="19" name="Text 17"/>
          <p:cNvSpPr txBox="1"/>
          <p:nvPr/>
        </p:nvSpPr>
        <p:spPr>
          <a:xfrm>
            <a:off x="4873752" y="1188720"/>
            <a:ext cx="370332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Questions these stakeholders need answered</a:t>
            </a:r>
            <a:endParaRPr lang="en-US" sz="1400" dirty="0"/>
          </a:p>
        </p:txBody>
      </p:sp>
      <p:sp>
        <p:nvSpPr>
          <p:cNvPr id="20" name="Text 18"/>
          <p:cNvSpPr txBox="1"/>
          <p:nvPr/>
        </p:nvSpPr>
        <p:spPr>
          <a:xfrm>
            <a:off x="4873752" y="1536192"/>
            <a:ext cx="3685032" cy="2990088"/>
          </a:xfrm>
          <a:prstGeom prst="rect">
            <a:avLst/>
          </a:prstGeom>
          <a:noFill/>
          <a:ln/>
        </p:spPr>
        <p:txBody>
          <a:bodyPr wrap="square" lIns="0" tIns="0" rIns="0" bIns="0" rtlCol="0" anchor="t"/>
          <a:lstStyle/>
          <a:p>
            <a:pPr indent="0" marL="0">
              <a:spcAft>
                <a:spcPts val="300"/>
              </a:spcAft>
              <a:buNone/>
            </a:pPr>
            <a:r>
              <a:rPr lang="en-US" sz="1400" dirty="0">
                <a:solidFill>
                  <a:srgbClr val="0F172A"/>
                </a:solidFill>
              </a:rPr>
              <a:t>Can the scores be trusted enough to act on?</a:t>
            </a:r>
            <a:endParaRPr lang="en-US" sz="1400" dirty="0"/>
          </a:p>
          <a:p>
            <a:pPr indent="0" marL="0">
              <a:spcAft>
                <a:spcPts val="300"/>
              </a:spcAft>
              <a:buNone/>
            </a:pPr>
            <a:endParaRPr lang="en-US" sz="1400" dirty="0"/>
          </a:p>
          <a:p>
            <a:pPr indent="0" marL="0">
              <a:spcAft>
                <a:spcPts val="300"/>
              </a:spcAft>
              <a:buNone/>
            </a:pPr>
            <a:r>
              <a:rPr lang="en-US" sz="1400" dirty="0">
                <a:solidFill>
                  <a:srgbClr val="0F172A"/>
                </a:solidFill>
              </a:rPr>
              <a:t>How much coordinator time would the flagged lists use?</a:t>
            </a:r>
            <a:endParaRPr lang="en-US" sz="1400" dirty="0"/>
          </a:p>
          <a:p>
            <a:pPr indent="0" marL="0">
              <a:spcAft>
                <a:spcPts val="300"/>
              </a:spcAft>
              <a:buNone/>
            </a:pPr>
            <a:endParaRPr lang="en-US" sz="1400" dirty="0"/>
          </a:p>
          <a:p>
            <a:pPr indent="0" marL="0">
              <a:spcAft>
                <a:spcPts val="300"/>
              </a:spcAft>
              <a:buNone/>
            </a:pPr>
            <a:r>
              <a:rPr lang="en-US" sz="1400" dirty="0">
                <a:solidFill>
                  <a:srgbClr val="0F172A"/>
                </a:solidFill>
              </a:rPr>
              <a:t>Are different patient groups treated equitably?</a:t>
            </a:r>
            <a:endParaRPr lang="en-US" sz="1400" dirty="0"/>
          </a:p>
          <a:p>
            <a:pPr indent="0" marL="0">
              <a:spcAft>
                <a:spcPts val="300"/>
              </a:spcAft>
              <a:buNone/>
            </a:pPr>
            <a:endParaRPr lang="en-US" sz="1400" dirty="0"/>
          </a:p>
          <a:p>
            <a:pPr indent="0" marL="0">
              <a:spcAft>
                <a:spcPts val="300"/>
              </a:spcAft>
              <a:buNone/>
            </a:pPr>
            <a:r>
              <a:rPr lang="en-US" sz="1400" dirty="0">
                <a:solidFill>
                  <a:srgbClr val="0F172A"/>
                </a:solidFill>
              </a:rPr>
              <a:t>What are the safeguards if the model drifts or misbehaves?</a:t>
            </a:r>
            <a:endParaRPr lang="en-US" sz="1400" dirty="0"/>
          </a:p>
          <a:p>
            <a:pPr indent="0" marL="0">
              <a:spcAft>
                <a:spcPts val="300"/>
              </a:spcAft>
              <a:buNone/>
            </a:pPr>
            <a:endParaRPr lang="en-US" sz="1400" dirty="0"/>
          </a:p>
          <a:p>
            <a:pPr indent="0" marL="0">
              <a:spcAft>
                <a:spcPts val="300"/>
              </a:spcAft>
              <a:buNone/>
            </a:pPr>
            <a:r>
              <a:rPr lang="en-US" sz="1400" dirty="0">
                <a:solidFill>
                  <a:srgbClr val="0F172A"/>
                </a:solidFill>
              </a:rPr>
              <a:t>What does the model not know?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The problem: more than one in four booked slots goes unused</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03</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Sources: Module 1 Vision Document; Kaggle 'Medical Appointment No Shows' (Vianna, 2016); Module 4 hold-out set</a:t>
            </a:r>
            <a:endParaRPr lang="en-US" sz="1000" dirty="0"/>
          </a:p>
        </p:txBody>
      </p:sp>
      <p:sp>
        <p:nvSpPr>
          <p:cNvPr id="10" name="Shape 8"/>
          <p:cNvSpPr/>
          <p:nvPr/>
        </p:nvSpPr>
        <p:spPr>
          <a:xfrm>
            <a:off x="420624" y="1060704"/>
            <a:ext cx="1993392" cy="1216152"/>
          </a:xfrm>
          <a:prstGeom prst="roundRect">
            <a:avLst>
              <a:gd name="adj" fmla="val 9023"/>
            </a:avLst>
          </a:prstGeom>
          <a:solidFill>
            <a:srgbClr val="DC2626">
              <a:alpha val="10000"/>
            </a:srgbClr>
          </a:solidFill>
          <a:ln w="12700">
            <a:solidFill>
              <a:srgbClr val="DC2626">
                <a:alpha val="0"/>
              </a:srgbClr>
            </a:solidFill>
            <a:prstDash val="solid"/>
          </a:ln>
        </p:spPr>
      </p:sp>
      <p:sp>
        <p:nvSpPr>
          <p:cNvPr id="11" name="Shape 9"/>
          <p:cNvSpPr/>
          <p:nvPr/>
        </p:nvSpPr>
        <p:spPr>
          <a:xfrm>
            <a:off x="457200" y="1097280"/>
            <a:ext cx="1920240" cy="1143000"/>
          </a:xfrm>
          <a:prstGeom prst="roundRect">
            <a:avLst>
              <a:gd name="adj" fmla="val 8000"/>
            </a:avLst>
          </a:prstGeom>
          <a:solidFill>
            <a:srgbClr val="FFFFFF"/>
          </a:solidFill>
          <a:ln w="12700">
            <a:solidFill>
              <a:srgbClr val="DC2626">
                <a:alpha val="65000"/>
              </a:srgbClr>
            </a:solidFill>
            <a:prstDash val="solid"/>
          </a:ln>
        </p:spPr>
      </p:sp>
      <p:sp>
        <p:nvSpPr>
          <p:cNvPr id="12" name="Text 10"/>
          <p:cNvSpPr txBox="1"/>
          <p:nvPr/>
        </p:nvSpPr>
        <p:spPr>
          <a:xfrm>
            <a:off x="457200" y="1188720"/>
            <a:ext cx="1920240" cy="594360"/>
          </a:xfrm>
          <a:prstGeom prst="rect">
            <a:avLst/>
          </a:prstGeom>
          <a:noFill/>
          <a:ln/>
        </p:spPr>
        <p:txBody>
          <a:bodyPr wrap="square" lIns="0" tIns="0" rIns="0" bIns="0" rtlCol="0" anchor="ctr"/>
          <a:lstStyle/>
          <a:p>
            <a:pPr algn="ctr" indent="0" marL="0">
              <a:buNone/>
            </a:pPr>
            <a:r>
              <a:rPr lang="en-US" sz="3600" b="1" dirty="0">
                <a:solidFill>
                  <a:srgbClr val="DC2626"/>
                </a:solidFill>
                <a:latin typeface="Calibri" pitchFamily="34" charset="0"/>
                <a:ea typeface="Calibri" pitchFamily="34" charset="-122"/>
                <a:cs typeface="Calibri" pitchFamily="34" charset="-120"/>
              </a:rPr>
              <a:t>28%</a:t>
            </a:r>
            <a:endParaRPr lang="en-US" sz="3600" dirty="0"/>
          </a:p>
        </p:txBody>
      </p:sp>
      <p:sp>
        <p:nvSpPr>
          <p:cNvPr id="13" name="Text 11"/>
          <p:cNvSpPr txBox="1"/>
          <p:nvPr/>
        </p:nvSpPr>
        <p:spPr>
          <a:xfrm>
            <a:off x="548640" y="1783080"/>
            <a:ext cx="1737360" cy="411480"/>
          </a:xfrm>
          <a:prstGeom prst="rect">
            <a:avLst/>
          </a:prstGeom>
          <a:noFill/>
          <a:ln/>
        </p:spPr>
        <p:txBody>
          <a:bodyPr wrap="square" lIns="0" tIns="0" rIns="0" bIns="0" rtlCol="0" anchor="t"/>
          <a:lstStyle/>
          <a:p>
            <a:pPr algn="ctr" indent="0" marL="0">
              <a:buNone/>
            </a:pPr>
            <a:r>
              <a:rPr lang="en-US" sz="1100" dirty="0">
                <a:solidFill>
                  <a:srgbClr val="0F172A"/>
                </a:solidFill>
              </a:rPr>
              <a:t>CrescentCare no-show rate (Module 1)</a:t>
            </a:r>
            <a:endParaRPr lang="en-US" sz="1100" dirty="0"/>
          </a:p>
        </p:txBody>
      </p:sp>
      <p:sp>
        <p:nvSpPr>
          <p:cNvPr id="14" name="Shape 12"/>
          <p:cNvSpPr/>
          <p:nvPr/>
        </p:nvSpPr>
        <p:spPr>
          <a:xfrm>
            <a:off x="2478024" y="1060704"/>
            <a:ext cx="1993392" cy="1216152"/>
          </a:xfrm>
          <a:prstGeom prst="roundRect">
            <a:avLst>
              <a:gd name="adj" fmla="val 9023"/>
            </a:avLst>
          </a:prstGeom>
          <a:solidFill>
            <a:srgbClr val="D97706">
              <a:alpha val="10000"/>
            </a:srgbClr>
          </a:solidFill>
          <a:ln w="12700">
            <a:solidFill>
              <a:srgbClr val="D97706">
                <a:alpha val="0"/>
              </a:srgbClr>
            </a:solidFill>
            <a:prstDash val="solid"/>
          </a:ln>
        </p:spPr>
      </p:sp>
      <p:sp>
        <p:nvSpPr>
          <p:cNvPr id="15" name="Shape 13"/>
          <p:cNvSpPr/>
          <p:nvPr/>
        </p:nvSpPr>
        <p:spPr>
          <a:xfrm>
            <a:off x="2514600" y="1097280"/>
            <a:ext cx="1920240" cy="1143000"/>
          </a:xfrm>
          <a:prstGeom prst="roundRect">
            <a:avLst>
              <a:gd name="adj" fmla="val 8000"/>
            </a:avLst>
          </a:prstGeom>
          <a:solidFill>
            <a:srgbClr val="FFFFFF"/>
          </a:solidFill>
          <a:ln w="12700">
            <a:solidFill>
              <a:srgbClr val="D97706">
                <a:alpha val="65000"/>
              </a:srgbClr>
            </a:solidFill>
            <a:prstDash val="solid"/>
          </a:ln>
        </p:spPr>
      </p:sp>
      <p:sp>
        <p:nvSpPr>
          <p:cNvPr id="16" name="Text 14"/>
          <p:cNvSpPr txBox="1"/>
          <p:nvPr/>
        </p:nvSpPr>
        <p:spPr>
          <a:xfrm>
            <a:off x="2514600" y="1188720"/>
            <a:ext cx="1920240" cy="594360"/>
          </a:xfrm>
          <a:prstGeom prst="rect">
            <a:avLst/>
          </a:prstGeom>
          <a:noFill/>
          <a:ln/>
        </p:spPr>
        <p:txBody>
          <a:bodyPr wrap="square" lIns="0" tIns="0" rIns="0" bIns="0" rtlCol="0" anchor="ctr"/>
          <a:lstStyle/>
          <a:p>
            <a:pPr algn="ctr" indent="0" marL="0">
              <a:buNone/>
            </a:pPr>
            <a:r>
              <a:rPr lang="en-US" sz="3600" b="1" dirty="0">
                <a:solidFill>
                  <a:srgbClr val="D97706"/>
                </a:solidFill>
                <a:latin typeface="Calibri" pitchFamily="34" charset="0"/>
                <a:ea typeface="Calibri" pitchFamily="34" charset="-122"/>
                <a:cs typeface="Calibri" pitchFamily="34" charset="-120"/>
              </a:rPr>
              <a:t>72%</a:t>
            </a:r>
            <a:endParaRPr lang="en-US" sz="3600" dirty="0"/>
          </a:p>
        </p:txBody>
      </p:sp>
      <p:sp>
        <p:nvSpPr>
          <p:cNvPr id="17" name="Text 15"/>
          <p:cNvSpPr txBox="1"/>
          <p:nvPr/>
        </p:nvSpPr>
        <p:spPr>
          <a:xfrm>
            <a:off x="2606040" y="1783080"/>
            <a:ext cx="1737360" cy="411480"/>
          </a:xfrm>
          <a:prstGeom prst="rect">
            <a:avLst/>
          </a:prstGeom>
          <a:noFill/>
          <a:ln/>
        </p:spPr>
        <p:txBody>
          <a:bodyPr wrap="square" lIns="0" tIns="0" rIns="0" bIns="0" rtlCol="0" anchor="t"/>
          <a:lstStyle/>
          <a:p>
            <a:pPr algn="ctr" indent="0" marL="0">
              <a:buNone/>
            </a:pPr>
            <a:r>
              <a:rPr lang="en-US" sz="1100" dirty="0">
                <a:solidFill>
                  <a:srgbClr val="0F172A"/>
                </a:solidFill>
              </a:rPr>
              <a:t>Appointment slot fill rate (Module 1)</a:t>
            </a:r>
            <a:endParaRPr lang="en-US" sz="1100" dirty="0"/>
          </a:p>
        </p:txBody>
      </p:sp>
      <p:sp>
        <p:nvSpPr>
          <p:cNvPr id="18" name="Shape 16"/>
          <p:cNvSpPr/>
          <p:nvPr/>
        </p:nvSpPr>
        <p:spPr>
          <a:xfrm>
            <a:off x="4535424" y="1060704"/>
            <a:ext cx="1993392" cy="1216152"/>
          </a:xfrm>
          <a:prstGeom prst="roundRect">
            <a:avLst>
              <a:gd name="adj" fmla="val 9023"/>
            </a:avLst>
          </a:prstGeom>
          <a:solidFill>
            <a:srgbClr val="0891B2">
              <a:alpha val="10000"/>
            </a:srgbClr>
          </a:solidFill>
          <a:ln w="12700">
            <a:solidFill>
              <a:srgbClr val="0891B2">
                <a:alpha val="0"/>
              </a:srgbClr>
            </a:solidFill>
            <a:prstDash val="solid"/>
          </a:ln>
        </p:spPr>
      </p:sp>
      <p:sp>
        <p:nvSpPr>
          <p:cNvPr id="19" name="Shape 17"/>
          <p:cNvSpPr/>
          <p:nvPr/>
        </p:nvSpPr>
        <p:spPr>
          <a:xfrm>
            <a:off x="4572000" y="1097280"/>
            <a:ext cx="1920240" cy="1143000"/>
          </a:xfrm>
          <a:prstGeom prst="roundRect">
            <a:avLst>
              <a:gd name="adj" fmla="val 8000"/>
            </a:avLst>
          </a:prstGeom>
          <a:solidFill>
            <a:srgbClr val="FFFFFF"/>
          </a:solidFill>
          <a:ln w="12700">
            <a:solidFill>
              <a:srgbClr val="0891B2">
                <a:alpha val="65000"/>
              </a:srgbClr>
            </a:solidFill>
            <a:prstDash val="solid"/>
          </a:ln>
        </p:spPr>
      </p:sp>
      <p:sp>
        <p:nvSpPr>
          <p:cNvPr id="20" name="Text 18"/>
          <p:cNvSpPr txBox="1"/>
          <p:nvPr/>
        </p:nvSpPr>
        <p:spPr>
          <a:xfrm>
            <a:off x="4572000" y="1188720"/>
            <a:ext cx="1920240" cy="594360"/>
          </a:xfrm>
          <a:prstGeom prst="rect">
            <a:avLst/>
          </a:prstGeom>
          <a:noFill/>
          <a:ln/>
        </p:spPr>
        <p:txBody>
          <a:bodyPr wrap="square" lIns="0" tIns="0" rIns="0" bIns="0" rtlCol="0" anchor="ctr"/>
          <a:lstStyle/>
          <a:p>
            <a:pPr algn="ctr" indent="0" marL="0">
              <a:buNone/>
            </a:pPr>
            <a:r>
              <a:rPr lang="en-US" sz="3600" b="1" dirty="0">
                <a:solidFill>
                  <a:srgbClr val="0891B2"/>
                </a:solidFill>
                <a:latin typeface="Calibri" pitchFamily="34" charset="0"/>
                <a:ea typeface="Calibri" pitchFamily="34" charset="-122"/>
                <a:cs typeface="Calibri" pitchFamily="34" charset="-120"/>
              </a:rPr>
              <a:t>20.2%</a:t>
            </a:r>
            <a:endParaRPr lang="en-US" sz="3600" dirty="0"/>
          </a:p>
        </p:txBody>
      </p:sp>
      <p:sp>
        <p:nvSpPr>
          <p:cNvPr id="21" name="Text 19"/>
          <p:cNvSpPr txBox="1"/>
          <p:nvPr/>
        </p:nvSpPr>
        <p:spPr>
          <a:xfrm>
            <a:off x="4663440" y="1783080"/>
            <a:ext cx="1737360" cy="411480"/>
          </a:xfrm>
          <a:prstGeom prst="rect">
            <a:avLst/>
          </a:prstGeom>
          <a:noFill/>
          <a:ln/>
        </p:spPr>
        <p:txBody>
          <a:bodyPr wrap="square" lIns="0" tIns="0" rIns="0" bIns="0" rtlCol="0" anchor="t"/>
          <a:lstStyle/>
          <a:p>
            <a:pPr algn="ctr" indent="0" marL="0">
              <a:buNone/>
            </a:pPr>
            <a:r>
              <a:rPr lang="en-US" sz="1100" dirty="0">
                <a:solidFill>
                  <a:srgbClr val="0F172A"/>
                </a:solidFill>
              </a:rPr>
              <a:t>No-show rate in the public data the model learned from</a:t>
            </a:r>
            <a:endParaRPr lang="en-US" sz="1100" dirty="0"/>
          </a:p>
        </p:txBody>
      </p:sp>
      <p:sp>
        <p:nvSpPr>
          <p:cNvPr id="22" name="Shape 20"/>
          <p:cNvSpPr/>
          <p:nvPr/>
        </p:nvSpPr>
        <p:spPr>
          <a:xfrm>
            <a:off x="6592824" y="1060704"/>
            <a:ext cx="2130552" cy="1216152"/>
          </a:xfrm>
          <a:prstGeom prst="roundRect">
            <a:avLst>
              <a:gd name="adj" fmla="val 9023"/>
            </a:avLst>
          </a:prstGeom>
          <a:solidFill>
            <a:srgbClr val="64748B">
              <a:alpha val="10000"/>
            </a:srgbClr>
          </a:solidFill>
          <a:ln w="12700">
            <a:solidFill>
              <a:srgbClr val="64748B">
                <a:alpha val="0"/>
              </a:srgbClr>
            </a:solidFill>
            <a:prstDash val="solid"/>
          </a:ln>
        </p:spPr>
      </p:sp>
      <p:sp>
        <p:nvSpPr>
          <p:cNvPr id="23" name="Shape 21"/>
          <p:cNvSpPr/>
          <p:nvPr/>
        </p:nvSpPr>
        <p:spPr>
          <a:xfrm>
            <a:off x="6629400" y="1097280"/>
            <a:ext cx="2057400" cy="1143000"/>
          </a:xfrm>
          <a:prstGeom prst="roundRect">
            <a:avLst>
              <a:gd name="adj" fmla="val 8000"/>
            </a:avLst>
          </a:prstGeom>
          <a:solidFill>
            <a:srgbClr val="FFFFFF"/>
          </a:solidFill>
          <a:ln w="12700">
            <a:solidFill>
              <a:srgbClr val="64748B">
                <a:alpha val="65000"/>
              </a:srgbClr>
            </a:solidFill>
            <a:prstDash val="solid"/>
          </a:ln>
        </p:spPr>
      </p:sp>
      <p:sp>
        <p:nvSpPr>
          <p:cNvPr id="24" name="Text 22"/>
          <p:cNvSpPr txBox="1"/>
          <p:nvPr/>
        </p:nvSpPr>
        <p:spPr>
          <a:xfrm>
            <a:off x="6629400" y="1188720"/>
            <a:ext cx="2057400" cy="594360"/>
          </a:xfrm>
          <a:prstGeom prst="rect">
            <a:avLst/>
          </a:prstGeom>
          <a:noFill/>
          <a:ln/>
        </p:spPr>
        <p:txBody>
          <a:bodyPr wrap="square" lIns="0" tIns="0" rIns="0" bIns="0" rtlCol="0" anchor="ctr"/>
          <a:lstStyle/>
          <a:p>
            <a:pPr algn="ctr" indent="0" marL="0">
              <a:buNone/>
            </a:pPr>
            <a:r>
              <a:rPr lang="en-US" sz="3600" b="1" dirty="0">
                <a:solidFill>
                  <a:srgbClr val="64748B"/>
                </a:solidFill>
                <a:latin typeface="Calibri" pitchFamily="34" charset="0"/>
                <a:ea typeface="Calibri" pitchFamily="34" charset="-122"/>
                <a:cs typeface="Calibri" pitchFamily="34" charset="-120"/>
              </a:rPr>
              <a:t>~$150B</a:t>
            </a:r>
            <a:endParaRPr lang="en-US" sz="3600" dirty="0"/>
          </a:p>
        </p:txBody>
      </p:sp>
      <p:sp>
        <p:nvSpPr>
          <p:cNvPr id="25" name="Text 23"/>
          <p:cNvSpPr txBox="1"/>
          <p:nvPr/>
        </p:nvSpPr>
        <p:spPr>
          <a:xfrm>
            <a:off x="6720840" y="1783080"/>
            <a:ext cx="1874520" cy="411480"/>
          </a:xfrm>
          <a:prstGeom prst="rect">
            <a:avLst/>
          </a:prstGeom>
          <a:noFill/>
          <a:ln/>
        </p:spPr>
        <p:txBody>
          <a:bodyPr wrap="square" lIns="0" tIns="0" rIns="0" bIns="0" rtlCol="0" anchor="t"/>
          <a:lstStyle/>
          <a:p>
            <a:pPr algn="ctr" indent="0" marL="0">
              <a:buNone/>
            </a:pPr>
            <a:r>
              <a:rPr lang="en-US" sz="1100" dirty="0">
                <a:solidFill>
                  <a:srgbClr val="0F172A"/>
                </a:solidFill>
              </a:rPr>
              <a:t>Estimated yearly U.S. cost of no-shows (Module 1)</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8229600" cy="914400"/>
        </p:xfrm>
        <a:graphic>
          <a:graphicData uri="http://schemas.openxmlformats.org/drawingml/2006/table">
            <a:tbl>
              <a:tblPr/>
              <a:tblGrid>
                <a:gridCol w="1920240"/>
                <a:gridCol w="1371600"/>
                <a:gridCol w="4937760"/>
              </a:tblGrid>
              <a:tr h="402336">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Module 1 goal</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What this model's evidence can and cannot say</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40233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G1 Fewer no-shows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28% to &lt;15%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Not testable yet: the model scores risk, it does not itself cut no-shows. Needs a pilot.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G2 Fuller clinics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72% to &gt;90%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Not testable yet: depends on how staff act on flagged appointments.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G3 Equity (failure metric)</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Gap 18% to &lt;5%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Medicaid vs private is not in the data. Welfare-scholarship status is used as a stand-in.</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G4 Patient trust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Zero complaints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Safeguards are designed (slide 13); no patients have been involved.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The model in plain language: a smoke detector for appointments</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04</a:t>
            </a:r>
            <a:endParaRPr lang="en-US" sz="1000" dirty="0"/>
          </a:p>
        </p:txBody>
      </p:sp>
      <p:sp>
        <p:nvSpPr>
          <p:cNvPr id="9" name="Text 7"/>
          <p:cNvSpPr txBox="1"/>
          <p:nvPr/>
        </p:nvSpPr>
        <p:spPr>
          <a:xfrm>
            <a:off x="457200" y="1051560"/>
            <a:ext cx="8229600" cy="685800"/>
          </a:xfrm>
          <a:prstGeom prst="rect">
            <a:avLst/>
          </a:prstGeom>
          <a:noFill/>
          <a:ln/>
        </p:spPr>
        <p:txBody>
          <a:bodyPr wrap="square" lIns="0" tIns="0" rIns="0" bIns="0" rtlCol="0" anchor="ctr"/>
          <a:lstStyle/>
          <a:p>
            <a:pPr indent="0" marL="0">
              <a:buNone/>
            </a:pPr>
            <a:r>
              <a:rPr lang="en-US" sz="1400" dirty="0">
                <a:solidFill>
                  <a:srgbClr val="0F172A"/>
                </a:solidFill>
              </a:rPr>
              <a:t>Every booked appointment gets a risk score from 0% to 100%: the model's estimate of the chance the patient will not turn up. It points a person to where a closer look may help. It is not a verdict on any patient.</a:t>
            </a:r>
            <a:endParaRPr lang="en-US" sz="1400" dirty="0"/>
          </a:p>
        </p:txBody>
      </p:sp>
      <p:sp>
        <p:nvSpPr>
          <p:cNvPr id="10" name="Shape 8"/>
          <p:cNvSpPr/>
          <p:nvPr/>
        </p:nvSpPr>
        <p:spPr>
          <a:xfrm>
            <a:off x="457200" y="1874520"/>
            <a:ext cx="3977640" cy="1280160"/>
          </a:xfrm>
          <a:prstGeom prst="roundRect">
            <a:avLst>
              <a:gd name="adj" fmla="val 7143"/>
            </a:avLst>
          </a:prstGeom>
          <a:solidFill>
            <a:srgbClr val="FFFFFF"/>
          </a:solidFill>
          <a:ln w="9525">
            <a:solidFill>
              <a:srgbClr val="0891B2">
                <a:alpha val="55000"/>
              </a:srgbClr>
            </a:solidFill>
            <a:prstDash val="solid"/>
          </a:ln>
        </p:spPr>
      </p:sp>
      <p:sp>
        <p:nvSpPr>
          <p:cNvPr id="11" name="Shape 9"/>
          <p:cNvSpPr/>
          <p:nvPr/>
        </p:nvSpPr>
        <p:spPr>
          <a:xfrm>
            <a:off x="475488" y="2002536"/>
            <a:ext cx="45720" cy="292608"/>
          </a:xfrm>
          <a:prstGeom prst="rect">
            <a:avLst/>
          </a:prstGeom>
          <a:solidFill>
            <a:srgbClr val="0891B2"/>
          </a:solidFill>
          <a:ln w="12700">
            <a:solidFill>
              <a:srgbClr val="0891B2">
                <a:alpha val="0"/>
              </a:srgbClr>
            </a:solidFill>
            <a:prstDash val="solid"/>
          </a:ln>
        </p:spPr>
      </p:sp>
      <p:sp>
        <p:nvSpPr>
          <p:cNvPr id="12" name="Text 10"/>
          <p:cNvSpPr txBox="1"/>
          <p:nvPr/>
        </p:nvSpPr>
        <p:spPr>
          <a:xfrm>
            <a:off x="621792" y="1965960"/>
            <a:ext cx="370332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What it does</a:t>
            </a:r>
            <a:endParaRPr lang="en-US" sz="1400" dirty="0"/>
          </a:p>
        </p:txBody>
      </p:sp>
      <p:sp>
        <p:nvSpPr>
          <p:cNvPr id="13" name="Text 11"/>
          <p:cNvSpPr txBox="1"/>
          <p:nvPr/>
        </p:nvSpPr>
        <p:spPr>
          <a:xfrm>
            <a:off x="621792" y="2313432"/>
            <a:ext cx="3685032" cy="74980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Scores appointments using 110,514 past ones: how far ahead they were booked, past attendance, age, reminders and neighbourhood.</a:t>
            </a:r>
            <a:endParaRPr lang="en-US" sz="1200" dirty="0"/>
          </a:p>
        </p:txBody>
      </p:sp>
      <p:sp>
        <p:nvSpPr>
          <p:cNvPr id="14" name="Shape 12"/>
          <p:cNvSpPr/>
          <p:nvPr/>
        </p:nvSpPr>
        <p:spPr>
          <a:xfrm>
            <a:off x="4709160" y="1874520"/>
            <a:ext cx="3977640" cy="1280160"/>
          </a:xfrm>
          <a:prstGeom prst="roundRect">
            <a:avLst>
              <a:gd name="adj" fmla="val 7143"/>
            </a:avLst>
          </a:prstGeom>
          <a:solidFill>
            <a:srgbClr val="FFFFFF"/>
          </a:solidFill>
          <a:ln w="9525">
            <a:solidFill>
              <a:srgbClr val="0891B2">
                <a:alpha val="55000"/>
              </a:srgbClr>
            </a:solidFill>
            <a:prstDash val="solid"/>
          </a:ln>
        </p:spPr>
      </p:sp>
      <p:sp>
        <p:nvSpPr>
          <p:cNvPr id="15" name="Shape 13"/>
          <p:cNvSpPr/>
          <p:nvPr/>
        </p:nvSpPr>
        <p:spPr>
          <a:xfrm>
            <a:off x="4727448" y="2002536"/>
            <a:ext cx="45720" cy="292608"/>
          </a:xfrm>
          <a:prstGeom prst="rect">
            <a:avLst/>
          </a:prstGeom>
          <a:solidFill>
            <a:srgbClr val="0891B2"/>
          </a:solidFill>
          <a:ln w="12700">
            <a:solidFill>
              <a:srgbClr val="0891B2">
                <a:alpha val="0"/>
              </a:srgbClr>
            </a:solidFill>
            <a:prstDash val="solid"/>
          </a:ln>
        </p:spPr>
      </p:sp>
      <p:sp>
        <p:nvSpPr>
          <p:cNvPr id="16" name="Text 14"/>
          <p:cNvSpPr txBox="1"/>
          <p:nvPr/>
        </p:nvSpPr>
        <p:spPr>
          <a:xfrm>
            <a:off x="4873752" y="1965960"/>
            <a:ext cx="370332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Who acts on it</a:t>
            </a:r>
            <a:endParaRPr lang="en-US" sz="1400" dirty="0"/>
          </a:p>
        </p:txBody>
      </p:sp>
      <p:sp>
        <p:nvSpPr>
          <p:cNvPr id="17" name="Text 15"/>
          <p:cNvSpPr txBox="1"/>
          <p:nvPr/>
        </p:nvSpPr>
        <p:spPr>
          <a:xfrm>
            <a:off x="4873752" y="2313432"/>
            <a:ext cx="3685032" cy="74980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Care coordinators and social workers. The model suggests; a person decides what, if anything, to offer.</a:t>
            </a:r>
            <a:endParaRPr lang="en-US" sz="1200" dirty="0"/>
          </a:p>
        </p:txBody>
      </p:sp>
      <p:sp>
        <p:nvSpPr>
          <p:cNvPr id="18" name="Shape 16"/>
          <p:cNvSpPr/>
          <p:nvPr/>
        </p:nvSpPr>
        <p:spPr>
          <a:xfrm>
            <a:off x="457200" y="3291840"/>
            <a:ext cx="3977640" cy="1325880"/>
          </a:xfrm>
          <a:prstGeom prst="roundRect">
            <a:avLst>
              <a:gd name="adj" fmla="val 6897"/>
            </a:avLst>
          </a:prstGeom>
          <a:solidFill>
            <a:srgbClr val="FFF7E6"/>
          </a:solidFill>
          <a:ln w="9525">
            <a:solidFill>
              <a:srgbClr val="D97706">
                <a:alpha val="55000"/>
              </a:srgbClr>
            </a:solidFill>
            <a:prstDash val="solid"/>
          </a:ln>
        </p:spPr>
      </p:sp>
      <p:sp>
        <p:nvSpPr>
          <p:cNvPr id="19" name="Shape 17"/>
          <p:cNvSpPr/>
          <p:nvPr/>
        </p:nvSpPr>
        <p:spPr>
          <a:xfrm>
            <a:off x="475488" y="3419856"/>
            <a:ext cx="45720" cy="292608"/>
          </a:xfrm>
          <a:prstGeom prst="rect">
            <a:avLst/>
          </a:prstGeom>
          <a:solidFill>
            <a:srgbClr val="D97706"/>
          </a:solidFill>
          <a:ln w="12700">
            <a:solidFill>
              <a:srgbClr val="D97706">
                <a:alpha val="0"/>
              </a:srgbClr>
            </a:solidFill>
            <a:prstDash val="solid"/>
          </a:ln>
        </p:spPr>
      </p:sp>
      <p:sp>
        <p:nvSpPr>
          <p:cNvPr id="20" name="Text 18"/>
          <p:cNvSpPr txBox="1"/>
          <p:nvPr/>
        </p:nvSpPr>
        <p:spPr>
          <a:xfrm>
            <a:off x="621792" y="3383280"/>
            <a:ext cx="3703320" cy="320040"/>
          </a:xfrm>
          <a:prstGeom prst="rect">
            <a:avLst/>
          </a:prstGeom>
          <a:noFill/>
          <a:ln/>
        </p:spPr>
        <p:txBody>
          <a:bodyPr wrap="square" lIns="0" tIns="0" rIns="0" bIns="0" rtlCol="0" anchor="t"/>
          <a:lstStyle/>
          <a:p>
            <a:pPr indent="0" marL="0">
              <a:buNone/>
            </a:pPr>
            <a:r>
              <a:rPr lang="en-US" sz="1400" b="1" dirty="0">
                <a:solidFill>
                  <a:srgbClr val="D97706"/>
                </a:solidFill>
                <a:latin typeface="Calibri" pitchFamily="34" charset="0"/>
                <a:ea typeface="Calibri" pitchFamily="34" charset="-122"/>
                <a:cs typeface="Calibri" pitchFamily="34" charset="-120"/>
              </a:rPr>
              <a:t>What it cannot do</a:t>
            </a:r>
            <a:endParaRPr lang="en-US" sz="1400" dirty="0"/>
          </a:p>
        </p:txBody>
      </p:sp>
      <p:sp>
        <p:nvSpPr>
          <p:cNvPr id="21" name="Text 19"/>
          <p:cNvSpPr txBox="1"/>
          <p:nvPr/>
        </p:nvSpPr>
        <p:spPr>
          <a:xfrm>
            <a:off x="621792" y="3730752"/>
            <a:ext cx="3685032" cy="79552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Know why a patient may miss a visit, predict any one person with certainty, or replace a coordinator's judgement.</a:t>
            </a:r>
            <a:endParaRPr lang="en-US" sz="1200" dirty="0"/>
          </a:p>
        </p:txBody>
      </p:sp>
      <p:sp>
        <p:nvSpPr>
          <p:cNvPr id="22" name="Shape 20"/>
          <p:cNvSpPr/>
          <p:nvPr/>
        </p:nvSpPr>
        <p:spPr>
          <a:xfrm>
            <a:off x="4709160" y="3291840"/>
            <a:ext cx="3977640" cy="1325880"/>
          </a:xfrm>
          <a:prstGeom prst="roundRect">
            <a:avLst>
              <a:gd name="adj" fmla="val 6897"/>
            </a:avLst>
          </a:prstGeom>
          <a:solidFill>
            <a:srgbClr val="FFFFFF"/>
          </a:solidFill>
          <a:ln w="9525">
            <a:solidFill>
              <a:srgbClr val="0891B2">
                <a:alpha val="55000"/>
              </a:srgbClr>
            </a:solidFill>
            <a:prstDash val="solid"/>
          </a:ln>
        </p:spPr>
      </p:sp>
      <p:sp>
        <p:nvSpPr>
          <p:cNvPr id="23" name="Shape 21"/>
          <p:cNvSpPr/>
          <p:nvPr/>
        </p:nvSpPr>
        <p:spPr>
          <a:xfrm>
            <a:off x="4727448" y="3419856"/>
            <a:ext cx="45720" cy="292608"/>
          </a:xfrm>
          <a:prstGeom prst="rect">
            <a:avLst/>
          </a:prstGeom>
          <a:solidFill>
            <a:srgbClr val="0891B2"/>
          </a:solidFill>
          <a:ln w="12700">
            <a:solidFill>
              <a:srgbClr val="0891B2">
                <a:alpha val="0"/>
              </a:srgbClr>
            </a:solidFill>
            <a:prstDash val="solid"/>
          </a:ln>
        </p:spPr>
      </p:sp>
      <p:sp>
        <p:nvSpPr>
          <p:cNvPr id="24" name="Text 22"/>
          <p:cNvSpPr txBox="1"/>
          <p:nvPr/>
        </p:nvSpPr>
        <p:spPr>
          <a:xfrm>
            <a:off x="4873752" y="3383280"/>
            <a:ext cx="370332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What it is built from</a:t>
            </a:r>
            <a:endParaRPr lang="en-US" sz="1400" dirty="0"/>
          </a:p>
        </p:txBody>
      </p:sp>
      <p:sp>
        <p:nvSpPr>
          <p:cNvPr id="25" name="Text 23"/>
          <p:cNvSpPr txBox="1"/>
          <p:nvPr/>
        </p:nvSpPr>
        <p:spPr>
          <a:xfrm>
            <a:off x="4873752" y="3730752"/>
            <a:ext cx="3685032" cy="79552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A gradient-boosted decision-tree model (XGBoost), compared with two simpler models. All three reach similar accuracy.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Key results: useful ranking, but many flags are false alarms</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05</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Hold-out set of 22,103 appointments the model never saw during training</a:t>
            </a:r>
            <a:endParaRPr lang="en-US" sz="1000" dirty="0"/>
          </a:p>
        </p:txBody>
      </p:sp>
      <p:sp>
        <p:nvSpPr>
          <p:cNvPr id="10" name="Shape 8"/>
          <p:cNvSpPr/>
          <p:nvPr/>
        </p:nvSpPr>
        <p:spPr>
          <a:xfrm>
            <a:off x="420624" y="1060704"/>
            <a:ext cx="1993392" cy="1216152"/>
          </a:xfrm>
          <a:prstGeom prst="roundRect">
            <a:avLst>
              <a:gd name="adj" fmla="val 9023"/>
            </a:avLst>
          </a:prstGeom>
          <a:solidFill>
            <a:srgbClr val="0891B2">
              <a:alpha val="10000"/>
            </a:srgbClr>
          </a:solidFill>
          <a:ln w="12700">
            <a:solidFill>
              <a:srgbClr val="0891B2">
                <a:alpha val="0"/>
              </a:srgbClr>
            </a:solidFill>
            <a:prstDash val="solid"/>
          </a:ln>
        </p:spPr>
      </p:sp>
      <p:sp>
        <p:nvSpPr>
          <p:cNvPr id="11" name="Shape 9"/>
          <p:cNvSpPr/>
          <p:nvPr/>
        </p:nvSpPr>
        <p:spPr>
          <a:xfrm>
            <a:off x="457200" y="1097280"/>
            <a:ext cx="1920240" cy="1143000"/>
          </a:xfrm>
          <a:prstGeom prst="roundRect">
            <a:avLst>
              <a:gd name="adj" fmla="val 8000"/>
            </a:avLst>
          </a:prstGeom>
          <a:solidFill>
            <a:srgbClr val="FFFFFF"/>
          </a:solidFill>
          <a:ln w="12700">
            <a:solidFill>
              <a:srgbClr val="0891B2">
                <a:alpha val="65000"/>
              </a:srgbClr>
            </a:solidFill>
            <a:prstDash val="solid"/>
          </a:ln>
        </p:spPr>
      </p:sp>
      <p:sp>
        <p:nvSpPr>
          <p:cNvPr id="12" name="Text 10"/>
          <p:cNvSpPr txBox="1"/>
          <p:nvPr/>
        </p:nvSpPr>
        <p:spPr>
          <a:xfrm>
            <a:off x="457200" y="1188720"/>
            <a:ext cx="1920240" cy="594360"/>
          </a:xfrm>
          <a:prstGeom prst="rect">
            <a:avLst/>
          </a:prstGeom>
          <a:noFill/>
          <a:ln/>
        </p:spPr>
        <p:txBody>
          <a:bodyPr wrap="square" lIns="0" tIns="0" rIns="0" bIns="0" rtlCol="0" anchor="ctr"/>
          <a:lstStyle/>
          <a:p>
            <a:pPr algn="ctr" indent="0" marL="0">
              <a:buNone/>
            </a:pPr>
            <a:r>
              <a:rPr lang="en-US" sz="3600" b="1" dirty="0">
                <a:solidFill>
                  <a:srgbClr val="0891B2"/>
                </a:solidFill>
                <a:latin typeface="Calibri" pitchFamily="34" charset="0"/>
                <a:ea typeface="Calibri" pitchFamily="34" charset="-122"/>
                <a:cs typeface="Calibri" pitchFamily="34" charset="-120"/>
              </a:rPr>
              <a:t>0.75</a:t>
            </a:r>
            <a:endParaRPr lang="en-US" sz="3600" dirty="0"/>
          </a:p>
        </p:txBody>
      </p:sp>
      <p:sp>
        <p:nvSpPr>
          <p:cNvPr id="13" name="Text 11"/>
          <p:cNvSpPr txBox="1"/>
          <p:nvPr/>
        </p:nvSpPr>
        <p:spPr>
          <a:xfrm>
            <a:off x="548640" y="1783080"/>
            <a:ext cx="1737360" cy="411480"/>
          </a:xfrm>
          <a:prstGeom prst="rect">
            <a:avLst/>
          </a:prstGeom>
          <a:noFill/>
          <a:ln/>
        </p:spPr>
        <p:txBody>
          <a:bodyPr wrap="square" lIns="0" tIns="0" rIns="0" bIns="0" rtlCol="0" anchor="t"/>
          <a:lstStyle/>
          <a:p>
            <a:pPr algn="ctr" indent="0" marL="0">
              <a:buNone/>
            </a:pPr>
            <a:r>
              <a:rPr lang="en-US" sz="1100" dirty="0">
                <a:solidFill>
                  <a:srgbClr val="0F172A"/>
                </a:solidFill>
              </a:rPr>
              <a:t>Ranking ability (ROC-AUC): 0.50 is a coin flip</a:t>
            </a:r>
            <a:endParaRPr lang="en-US" sz="1100" dirty="0"/>
          </a:p>
        </p:txBody>
      </p:sp>
      <p:sp>
        <p:nvSpPr>
          <p:cNvPr id="14" name="Shape 12"/>
          <p:cNvSpPr/>
          <p:nvPr/>
        </p:nvSpPr>
        <p:spPr>
          <a:xfrm>
            <a:off x="2478024" y="1060704"/>
            <a:ext cx="1993392" cy="1216152"/>
          </a:xfrm>
          <a:prstGeom prst="roundRect">
            <a:avLst>
              <a:gd name="adj" fmla="val 9023"/>
            </a:avLst>
          </a:prstGeom>
          <a:solidFill>
            <a:srgbClr val="059669">
              <a:alpha val="10000"/>
            </a:srgbClr>
          </a:solidFill>
          <a:ln w="12700">
            <a:solidFill>
              <a:srgbClr val="059669">
                <a:alpha val="0"/>
              </a:srgbClr>
            </a:solidFill>
            <a:prstDash val="solid"/>
          </a:ln>
        </p:spPr>
      </p:sp>
      <p:sp>
        <p:nvSpPr>
          <p:cNvPr id="15" name="Shape 13"/>
          <p:cNvSpPr/>
          <p:nvPr/>
        </p:nvSpPr>
        <p:spPr>
          <a:xfrm>
            <a:off x="2514600" y="1097280"/>
            <a:ext cx="1920240" cy="1143000"/>
          </a:xfrm>
          <a:prstGeom prst="roundRect">
            <a:avLst>
              <a:gd name="adj" fmla="val 8000"/>
            </a:avLst>
          </a:prstGeom>
          <a:solidFill>
            <a:srgbClr val="FFFFFF"/>
          </a:solidFill>
          <a:ln w="12700">
            <a:solidFill>
              <a:srgbClr val="059669">
                <a:alpha val="65000"/>
              </a:srgbClr>
            </a:solidFill>
            <a:prstDash val="solid"/>
          </a:ln>
        </p:spPr>
      </p:sp>
      <p:sp>
        <p:nvSpPr>
          <p:cNvPr id="16" name="Text 14"/>
          <p:cNvSpPr txBox="1"/>
          <p:nvPr/>
        </p:nvSpPr>
        <p:spPr>
          <a:xfrm>
            <a:off x="2514600" y="1188720"/>
            <a:ext cx="1920240" cy="594360"/>
          </a:xfrm>
          <a:prstGeom prst="rect">
            <a:avLst/>
          </a:prstGeom>
          <a:noFill/>
          <a:ln/>
        </p:spPr>
        <p:txBody>
          <a:bodyPr wrap="square" lIns="0" tIns="0" rIns="0" bIns="0" rtlCol="0" anchor="ctr"/>
          <a:lstStyle/>
          <a:p>
            <a:pPr algn="ctr" indent="0" marL="0">
              <a:buNone/>
            </a:pPr>
            <a:r>
              <a:rPr lang="en-US" sz="3600" b="1" dirty="0">
                <a:solidFill>
                  <a:srgbClr val="059669"/>
                </a:solidFill>
                <a:latin typeface="Calibri" pitchFamily="34" charset="0"/>
                <a:ea typeface="Calibri" pitchFamily="34" charset="-122"/>
                <a:cs typeface="Calibri" pitchFamily="34" charset="-120"/>
              </a:rPr>
              <a:t>68%</a:t>
            </a:r>
            <a:endParaRPr lang="en-US" sz="3600" dirty="0"/>
          </a:p>
        </p:txBody>
      </p:sp>
      <p:sp>
        <p:nvSpPr>
          <p:cNvPr id="17" name="Text 15"/>
          <p:cNvSpPr txBox="1"/>
          <p:nvPr/>
        </p:nvSpPr>
        <p:spPr>
          <a:xfrm>
            <a:off x="2606040" y="1783080"/>
            <a:ext cx="1737360" cy="411480"/>
          </a:xfrm>
          <a:prstGeom prst="rect">
            <a:avLst/>
          </a:prstGeom>
          <a:noFill/>
          <a:ln/>
        </p:spPr>
        <p:txBody>
          <a:bodyPr wrap="square" lIns="0" tIns="0" rIns="0" bIns="0" rtlCol="0" anchor="t"/>
          <a:lstStyle/>
          <a:p>
            <a:pPr algn="ctr" indent="0" marL="0">
              <a:buNone/>
            </a:pPr>
            <a:r>
              <a:rPr lang="en-US" sz="1100" dirty="0">
                <a:solidFill>
                  <a:srgbClr val="0F172A"/>
                </a:solidFill>
              </a:rPr>
              <a:t>Of real no-shows, share the model flags</a:t>
            </a:r>
            <a:endParaRPr lang="en-US" sz="1100" dirty="0"/>
          </a:p>
        </p:txBody>
      </p:sp>
      <p:sp>
        <p:nvSpPr>
          <p:cNvPr id="18" name="Shape 16"/>
          <p:cNvSpPr/>
          <p:nvPr/>
        </p:nvSpPr>
        <p:spPr>
          <a:xfrm>
            <a:off x="4535424" y="1060704"/>
            <a:ext cx="1993392" cy="1216152"/>
          </a:xfrm>
          <a:prstGeom prst="roundRect">
            <a:avLst>
              <a:gd name="adj" fmla="val 9023"/>
            </a:avLst>
          </a:prstGeom>
          <a:solidFill>
            <a:srgbClr val="DB2777">
              <a:alpha val="10000"/>
            </a:srgbClr>
          </a:solidFill>
          <a:ln w="12700">
            <a:solidFill>
              <a:srgbClr val="DB2777">
                <a:alpha val="0"/>
              </a:srgbClr>
            </a:solidFill>
            <a:prstDash val="solid"/>
          </a:ln>
        </p:spPr>
      </p:sp>
      <p:sp>
        <p:nvSpPr>
          <p:cNvPr id="19" name="Shape 17"/>
          <p:cNvSpPr/>
          <p:nvPr/>
        </p:nvSpPr>
        <p:spPr>
          <a:xfrm>
            <a:off x="4572000" y="1097280"/>
            <a:ext cx="1920240" cy="1143000"/>
          </a:xfrm>
          <a:prstGeom prst="roundRect">
            <a:avLst>
              <a:gd name="adj" fmla="val 8000"/>
            </a:avLst>
          </a:prstGeom>
          <a:solidFill>
            <a:srgbClr val="FFFFFF"/>
          </a:solidFill>
          <a:ln w="12700">
            <a:solidFill>
              <a:srgbClr val="DB2777">
                <a:alpha val="65000"/>
              </a:srgbClr>
            </a:solidFill>
            <a:prstDash val="solid"/>
          </a:ln>
        </p:spPr>
      </p:sp>
      <p:sp>
        <p:nvSpPr>
          <p:cNvPr id="20" name="Text 18"/>
          <p:cNvSpPr txBox="1"/>
          <p:nvPr/>
        </p:nvSpPr>
        <p:spPr>
          <a:xfrm>
            <a:off x="4572000" y="1188720"/>
            <a:ext cx="1920240" cy="594360"/>
          </a:xfrm>
          <a:prstGeom prst="rect">
            <a:avLst/>
          </a:prstGeom>
          <a:noFill/>
          <a:ln/>
        </p:spPr>
        <p:txBody>
          <a:bodyPr wrap="square" lIns="0" tIns="0" rIns="0" bIns="0" rtlCol="0" anchor="ctr"/>
          <a:lstStyle/>
          <a:p>
            <a:pPr algn="ctr" indent="0" marL="0">
              <a:buNone/>
            </a:pPr>
            <a:r>
              <a:rPr lang="en-US" sz="3600" b="1" dirty="0">
                <a:solidFill>
                  <a:srgbClr val="DB2777"/>
                </a:solidFill>
                <a:latin typeface="Calibri" pitchFamily="34" charset="0"/>
                <a:ea typeface="Calibri" pitchFamily="34" charset="-122"/>
                <a:cs typeface="Calibri" pitchFamily="34" charset="-120"/>
              </a:rPr>
              <a:t>35%</a:t>
            </a:r>
            <a:endParaRPr lang="en-US" sz="3600" dirty="0"/>
          </a:p>
        </p:txBody>
      </p:sp>
      <p:sp>
        <p:nvSpPr>
          <p:cNvPr id="21" name="Text 19"/>
          <p:cNvSpPr txBox="1"/>
          <p:nvPr/>
        </p:nvSpPr>
        <p:spPr>
          <a:xfrm>
            <a:off x="4663440" y="1783080"/>
            <a:ext cx="1737360" cy="411480"/>
          </a:xfrm>
          <a:prstGeom prst="rect">
            <a:avLst/>
          </a:prstGeom>
          <a:noFill/>
          <a:ln/>
        </p:spPr>
        <p:txBody>
          <a:bodyPr wrap="square" lIns="0" tIns="0" rIns="0" bIns="0" rtlCol="0" anchor="t"/>
          <a:lstStyle/>
          <a:p>
            <a:pPr algn="ctr" indent="0" marL="0">
              <a:buNone/>
            </a:pPr>
            <a:r>
              <a:rPr lang="en-US" sz="1100" dirty="0">
                <a:solidFill>
                  <a:srgbClr val="0F172A"/>
                </a:solidFill>
              </a:rPr>
              <a:t>Of flagged appointments, share that are real no-shows</a:t>
            </a:r>
            <a:endParaRPr lang="en-US" sz="1100" dirty="0"/>
          </a:p>
        </p:txBody>
      </p:sp>
      <p:sp>
        <p:nvSpPr>
          <p:cNvPr id="22" name="Shape 20"/>
          <p:cNvSpPr/>
          <p:nvPr/>
        </p:nvSpPr>
        <p:spPr>
          <a:xfrm>
            <a:off x="6592824" y="1060704"/>
            <a:ext cx="2130552" cy="1216152"/>
          </a:xfrm>
          <a:prstGeom prst="roundRect">
            <a:avLst>
              <a:gd name="adj" fmla="val 9023"/>
            </a:avLst>
          </a:prstGeom>
          <a:solidFill>
            <a:srgbClr val="64748B">
              <a:alpha val="10000"/>
            </a:srgbClr>
          </a:solidFill>
          <a:ln w="12700">
            <a:solidFill>
              <a:srgbClr val="64748B">
                <a:alpha val="0"/>
              </a:srgbClr>
            </a:solidFill>
            <a:prstDash val="solid"/>
          </a:ln>
        </p:spPr>
      </p:sp>
      <p:sp>
        <p:nvSpPr>
          <p:cNvPr id="23" name="Shape 21"/>
          <p:cNvSpPr/>
          <p:nvPr/>
        </p:nvSpPr>
        <p:spPr>
          <a:xfrm>
            <a:off x="6629400" y="1097280"/>
            <a:ext cx="2057400" cy="1143000"/>
          </a:xfrm>
          <a:prstGeom prst="roundRect">
            <a:avLst>
              <a:gd name="adj" fmla="val 8000"/>
            </a:avLst>
          </a:prstGeom>
          <a:solidFill>
            <a:srgbClr val="FFFFFF"/>
          </a:solidFill>
          <a:ln w="12700">
            <a:solidFill>
              <a:srgbClr val="64748B">
                <a:alpha val="65000"/>
              </a:srgbClr>
            </a:solidFill>
            <a:prstDash val="solid"/>
          </a:ln>
        </p:spPr>
      </p:sp>
      <p:sp>
        <p:nvSpPr>
          <p:cNvPr id="24" name="Text 22"/>
          <p:cNvSpPr txBox="1"/>
          <p:nvPr/>
        </p:nvSpPr>
        <p:spPr>
          <a:xfrm>
            <a:off x="6629400" y="1188720"/>
            <a:ext cx="2057400" cy="594360"/>
          </a:xfrm>
          <a:prstGeom prst="rect">
            <a:avLst/>
          </a:prstGeom>
          <a:noFill/>
          <a:ln/>
        </p:spPr>
        <p:txBody>
          <a:bodyPr wrap="square" lIns="0" tIns="0" rIns="0" bIns="0" rtlCol="0" anchor="ctr"/>
          <a:lstStyle/>
          <a:p>
            <a:pPr algn="ctr" indent="0" marL="0">
              <a:buNone/>
            </a:pPr>
            <a:r>
              <a:rPr lang="en-US" sz="3600" b="1" dirty="0">
                <a:solidFill>
                  <a:srgbClr val="64748B"/>
                </a:solidFill>
                <a:latin typeface="Calibri" pitchFamily="34" charset="0"/>
                <a:ea typeface="Calibri" pitchFamily="34" charset="-122"/>
                <a:cs typeface="Calibri" pitchFamily="34" charset="-120"/>
              </a:rPr>
              <a:t>39%</a:t>
            </a:r>
            <a:endParaRPr lang="en-US" sz="3600" dirty="0"/>
          </a:p>
        </p:txBody>
      </p:sp>
      <p:sp>
        <p:nvSpPr>
          <p:cNvPr id="25" name="Text 23"/>
          <p:cNvSpPr txBox="1"/>
          <p:nvPr/>
        </p:nvSpPr>
        <p:spPr>
          <a:xfrm>
            <a:off x="6720840" y="1783080"/>
            <a:ext cx="1874520" cy="411480"/>
          </a:xfrm>
          <a:prstGeom prst="rect">
            <a:avLst/>
          </a:prstGeom>
          <a:noFill/>
          <a:ln/>
        </p:spPr>
        <p:txBody>
          <a:bodyPr wrap="square" lIns="0" tIns="0" rIns="0" bIns="0" rtlCol="0" anchor="t"/>
          <a:lstStyle/>
          <a:p>
            <a:pPr algn="ctr" indent="0" marL="0">
              <a:buNone/>
            </a:pPr>
            <a:r>
              <a:rPr lang="en-US" sz="1100" dirty="0">
                <a:solidFill>
                  <a:srgbClr val="0F172A"/>
                </a:solidFill>
              </a:rPr>
              <a:t>Of all appointments flagged for outreach</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423160"/>
          <a:ext cx="8229600" cy="914400"/>
        </p:xfrm>
        <a:graphic>
          <a:graphicData uri="http://schemas.openxmlformats.org/drawingml/2006/table">
            <a:tbl>
              <a:tblPr/>
              <a:tblGrid>
                <a:gridCol w="3291840"/>
                <a:gridCol w="1737360"/>
                <a:gridCol w="1554480"/>
                <a:gridCol w="1645920"/>
              </a:tblGrid>
              <a:tr h="301752">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Module 4 acceptance target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Met?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30175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ROC-AUC (ranking ability)</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at least 0.70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0.752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Recall (no-shows caught)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at least 0.65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0.678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F1 (balance of caught vs correct)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at least 0.55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0.461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Fairness: gender gap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at most 0.05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0.015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Fairness: age-group gap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at most 0.05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0.687</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7" name="Text 24"/>
          <p:cNvSpPr txBox="1"/>
          <p:nvPr/>
        </p:nvSpPr>
        <p:spPr>
          <a:xfrm>
            <a:off x="457200" y="4389120"/>
            <a:ext cx="8229600" cy="365760"/>
          </a:xfrm>
          <a:prstGeom prst="rect">
            <a:avLst/>
          </a:prstGeom>
          <a:noFill/>
          <a:ln/>
        </p:spPr>
        <p:txBody>
          <a:bodyPr wrap="square" lIns="0" tIns="0" rIns="0" bIns="0" rtlCol="0" anchor="ctr"/>
          <a:lstStyle/>
          <a:p>
            <a:pPr indent="0" marL="0">
              <a:buNone/>
            </a:pPr>
            <a:r>
              <a:rPr lang="en-US" sz="1100" dirty="0">
                <a:solidFill>
                  <a:srgbClr val="64748B"/>
                </a:solidFill>
              </a:rPr>
              <a:t>The flagging cut-off (0.25) was chosen on training data only, to catch about two in three no-shows. Using the default 50% cut-off instead, the model would catch only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Visual summary: higher scores and longer waits mean more missed visits</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06</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Left: all 110,514 appointments. Right: unseen test appointments in 10 equal groups by score.</a:t>
            </a:r>
            <a:endParaRPr lang="en-US" sz="1000" dirty="0"/>
          </a:p>
        </p:txBody>
      </p:sp>
      <p:graphicFrame>
        <p:nvGraphicFramePr>
          <p:cNvPr id="10" name="Chart 0" descr=""/>
          <p:cNvGraphicFramePr/>
          <p:nvPr/>
        </p:nvGraphicFramePr>
        <p:xfrm>
          <a:off x="365760" y="1051560"/>
          <a:ext cx="429768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Chart 1" descr=""/>
          <p:cNvGraphicFramePr/>
          <p:nvPr/>
        </p:nvGraphicFramePr>
        <p:xfrm>
          <a:off x="4754880" y="1051560"/>
          <a:ext cx="4023360" cy="361188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What drives the predictions: mostly how far ahead the visit was booked</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07</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SHAP analysis of 4,000 sampled test appointments (exact tree explanation)</a:t>
            </a:r>
            <a:endParaRPr lang="en-US" sz="1000" dirty="0"/>
          </a:p>
        </p:txBody>
      </p:sp>
      <p:graphicFrame>
        <p:nvGraphicFramePr>
          <p:cNvPr id="10" name="Chart 0" descr=""/>
          <p:cNvGraphicFramePr/>
          <p:nvPr/>
        </p:nvGraphicFramePr>
        <p:xfrm>
          <a:off x="365760" y="105156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5669280" y="1097280"/>
            <a:ext cx="3017520" cy="3520440"/>
          </a:xfrm>
          <a:prstGeom prst="roundRect">
            <a:avLst>
              <a:gd name="adj" fmla="val 3030"/>
            </a:avLst>
          </a:prstGeom>
          <a:solidFill>
            <a:srgbClr val="FFFFFF"/>
          </a:solidFill>
          <a:ln w="9525">
            <a:solidFill>
              <a:srgbClr val="0891B2">
                <a:alpha val="55000"/>
              </a:srgbClr>
            </a:solidFill>
            <a:prstDash val="solid"/>
          </a:ln>
        </p:spPr>
      </p:sp>
      <p:sp>
        <p:nvSpPr>
          <p:cNvPr id="12" name="Shape 9"/>
          <p:cNvSpPr/>
          <p:nvPr/>
        </p:nvSpPr>
        <p:spPr>
          <a:xfrm>
            <a:off x="5687568" y="1225296"/>
            <a:ext cx="45720" cy="292608"/>
          </a:xfrm>
          <a:prstGeom prst="rect">
            <a:avLst/>
          </a:prstGeom>
          <a:solidFill>
            <a:srgbClr val="0891B2"/>
          </a:solidFill>
          <a:ln w="12700">
            <a:solidFill>
              <a:srgbClr val="0891B2">
                <a:alpha val="0"/>
              </a:srgbClr>
            </a:solidFill>
            <a:prstDash val="solid"/>
          </a:ln>
        </p:spPr>
      </p:sp>
      <p:sp>
        <p:nvSpPr>
          <p:cNvPr id="13" name="Text 10"/>
          <p:cNvSpPr txBox="1"/>
          <p:nvPr/>
        </p:nvSpPr>
        <p:spPr>
          <a:xfrm>
            <a:off x="5833872" y="1188720"/>
            <a:ext cx="274320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How to read this</a:t>
            </a:r>
            <a:endParaRPr lang="en-US" sz="1400" dirty="0"/>
          </a:p>
        </p:txBody>
      </p:sp>
      <p:sp>
        <p:nvSpPr>
          <p:cNvPr id="14" name="Text 11"/>
          <p:cNvSpPr txBox="1"/>
          <p:nvPr/>
        </p:nvSpPr>
        <p:spPr>
          <a:xfrm>
            <a:off x="5833872" y="1536192"/>
            <a:ext cx="2724912" cy="299008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Booking lead time carries about 61% of the influence. Age and past missed visits add roughly 20% more.</a:t>
            </a:r>
            <a:endParaRPr lang="en-US" sz="1200" dirty="0"/>
          </a:p>
          <a:p>
            <a:pPr indent="0" marL="0">
              <a:spcAft>
                <a:spcPts val="300"/>
              </a:spcAft>
              <a:buNone/>
            </a:pPr>
            <a:endParaRPr lang="en-US" sz="1200" dirty="0"/>
          </a:p>
          <a:p>
            <a:pPr indent="0" marL="0">
              <a:spcAft>
                <a:spcPts val="300"/>
              </a:spcAft>
              <a:buNone/>
            </a:pPr>
            <a:r>
              <a:rPr lang="en-US" sz="1200" dirty="0">
                <a:solidFill>
                  <a:srgbClr val="0F172A"/>
                </a:solidFill>
              </a:rPr>
              <a:t>Neighbourhood carries only about 2%, so it is a minor factor here.</a:t>
            </a:r>
            <a:endParaRPr lang="en-US" sz="1200" dirty="0"/>
          </a:p>
          <a:p>
            <a:pPr indent="0" marL="0">
              <a:spcAft>
                <a:spcPts val="300"/>
              </a:spcAft>
              <a:buNone/>
            </a:pPr>
            <a:endParaRPr lang="en-US" sz="1200" dirty="0"/>
          </a:p>
          <a:p>
            <a:pPr indent="0" marL="0">
              <a:spcAft>
                <a:spcPts val="300"/>
              </a:spcAft>
              <a:buNone/>
            </a:pPr>
            <a:r>
              <a:rPr lang="en-US" sz="1200" dirty="0">
                <a:solidFill>
                  <a:srgbClr val="0F172A"/>
                </a:solidFill>
              </a:rPr>
              <a:t>These are patterns in past data, not proven causes.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Three example patients, explained in plain language</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08</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Real, unseen test-set appointments; reasons come from the model's own SHAP breakdown</a:t>
            </a:r>
            <a:endParaRPr lang="en-US" sz="1000" dirty="0"/>
          </a:p>
        </p:txBody>
      </p:sp>
      <p:sp>
        <p:nvSpPr>
          <p:cNvPr id="10" name="Shape 8"/>
          <p:cNvSpPr/>
          <p:nvPr/>
        </p:nvSpPr>
        <p:spPr>
          <a:xfrm>
            <a:off x="457200" y="1051560"/>
            <a:ext cx="2651760" cy="3611880"/>
          </a:xfrm>
          <a:prstGeom prst="roundRect">
            <a:avLst>
              <a:gd name="adj" fmla="val 2759"/>
            </a:avLst>
          </a:prstGeom>
          <a:solidFill>
            <a:srgbClr val="FFFFFF"/>
          </a:solidFill>
          <a:ln w="12700">
            <a:solidFill>
              <a:srgbClr val="DC2626"/>
            </a:solidFill>
            <a:prstDash val="solid"/>
          </a:ln>
        </p:spPr>
      </p:sp>
      <p:sp>
        <p:nvSpPr>
          <p:cNvPr id="11" name="Text 9"/>
          <p:cNvSpPr txBox="1"/>
          <p:nvPr/>
        </p:nvSpPr>
        <p:spPr>
          <a:xfrm>
            <a:off x="594360" y="1115568"/>
            <a:ext cx="2377440" cy="365760"/>
          </a:xfrm>
          <a:prstGeom prst="rect">
            <a:avLst/>
          </a:prstGeom>
          <a:noFill/>
          <a:ln/>
        </p:spPr>
        <p:txBody>
          <a:bodyPr wrap="square" lIns="0" tIns="0" rIns="0" bIns="0" rtlCol="0" anchor="ctr"/>
          <a:lstStyle/>
          <a:p>
            <a:pPr indent="0" marL="0">
              <a:buNone/>
            </a:pPr>
            <a:r>
              <a:rPr lang="en-US" sz="1800" b="1" dirty="0">
                <a:solidFill>
                  <a:srgbClr val="DC2626"/>
                </a:solidFill>
                <a:latin typeface="Calibri" pitchFamily="34" charset="0"/>
                <a:ea typeface="Calibri" pitchFamily="34" charset="-122"/>
                <a:cs typeface="Calibri" pitchFamily="34" charset="-120"/>
              </a:rPr>
              <a:t>High risk: 55%</a:t>
            </a:r>
            <a:endParaRPr lang="en-US" sz="1800" dirty="0"/>
          </a:p>
        </p:txBody>
      </p:sp>
      <p:sp>
        <p:nvSpPr>
          <p:cNvPr id="12" name="Text 10"/>
          <p:cNvSpPr txBox="1"/>
          <p:nvPr/>
        </p:nvSpPr>
        <p:spPr>
          <a:xfrm>
            <a:off x="594360" y="1508760"/>
            <a:ext cx="2377440" cy="777240"/>
          </a:xfrm>
          <a:prstGeom prst="rect">
            <a:avLst/>
          </a:prstGeom>
          <a:noFill/>
          <a:ln/>
        </p:spPr>
        <p:txBody>
          <a:bodyPr wrap="square" lIns="0" tIns="0" rIns="0" bIns="0" rtlCol="0" anchor="t"/>
          <a:lstStyle/>
          <a:p>
            <a:pPr indent="0" marL="0">
              <a:buNone/>
            </a:pPr>
            <a:r>
              <a:rPr lang="en-US" sz="1100" dirty="0">
                <a:solidFill>
                  <a:srgbClr val="0F172A"/>
                </a:solidFill>
              </a:rPr>
              <a:t>Woman, age 27. Booked 27 days ahead. 2 of 3 past visits missed. SMS not sent.</a:t>
            </a:r>
            <a:endParaRPr lang="en-US" sz="1100" dirty="0"/>
          </a:p>
        </p:txBody>
      </p:sp>
      <p:sp>
        <p:nvSpPr>
          <p:cNvPr id="13" name="Text 11"/>
          <p:cNvSpPr txBox="1"/>
          <p:nvPr/>
        </p:nvSpPr>
        <p:spPr>
          <a:xfrm>
            <a:off x="594360" y="2331720"/>
            <a:ext cx="2377440" cy="228600"/>
          </a:xfrm>
          <a:prstGeom prst="rect">
            <a:avLst/>
          </a:prstGeom>
          <a:noFill/>
          <a:ln/>
        </p:spPr>
        <p:txBody>
          <a:bodyPr wrap="square" lIns="0" tIns="0" rIns="0" bIns="0" rtlCol="0" anchor="ctr"/>
          <a:lstStyle/>
          <a:p>
            <a:pPr indent="0" marL="0">
              <a:buNone/>
            </a:pPr>
            <a:r>
              <a:rPr lang="en-US" sz="1200" b="1" dirty="0">
                <a:solidFill>
                  <a:srgbClr val="0891B2"/>
                </a:solidFill>
              </a:rPr>
              <a:t>Main reasons</a:t>
            </a:r>
            <a:endParaRPr lang="en-US" sz="1200" dirty="0"/>
          </a:p>
        </p:txBody>
      </p:sp>
      <p:sp>
        <p:nvSpPr>
          <p:cNvPr id="14" name="Text 12"/>
          <p:cNvSpPr txBox="1"/>
          <p:nvPr/>
        </p:nvSpPr>
        <p:spPr>
          <a:xfrm>
            <a:off x="594360" y="2578608"/>
            <a:ext cx="2377440" cy="105156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0F172A"/>
                </a:solidFill>
              </a:rPr>
              <a:t>Raises risk: How far ahead it was booked</a:t>
            </a:r>
            <a:endParaRPr lang="en-US" sz="1100" dirty="0"/>
          </a:p>
          <a:p>
            <a:pPr marL="342900" indent="-342900">
              <a:spcAft>
                <a:spcPts val="300"/>
              </a:spcAft>
              <a:buSzPct val="100000"/>
              <a:buChar char="•"/>
            </a:pPr>
            <a:r>
              <a:rPr lang="en-US" sz="1100" dirty="0">
                <a:solidFill>
                  <a:srgbClr val="0F172A"/>
                </a:solidFill>
              </a:rPr>
              <a:t>Raises risk: Share of past visits missed</a:t>
            </a:r>
            <a:endParaRPr lang="en-US" sz="1100" dirty="0"/>
          </a:p>
          <a:p>
            <a:pPr marL="342900" indent="-342900">
              <a:spcAft>
                <a:spcPts val="300"/>
              </a:spcAft>
              <a:buSzPct val="100000"/>
              <a:buChar char="•"/>
            </a:pPr>
            <a:r>
              <a:rPr lang="en-US" sz="1100" dirty="0">
                <a:solidFill>
                  <a:srgbClr val="0F172A"/>
                </a:solidFill>
              </a:rPr>
              <a:t>Raises risk: Reminder SMS status</a:t>
            </a:r>
            <a:endParaRPr lang="en-US" sz="1100" dirty="0"/>
          </a:p>
        </p:txBody>
      </p:sp>
      <p:sp>
        <p:nvSpPr>
          <p:cNvPr id="15" name="Text 13"/>
          <p:cNvSpPr txBox="1"/>
          <p:nvPr/>
        </p:nvSpPr>
        <p:spPr>
          <a:xfrm>
            <a:off x="594360" y="4160520"/>
            <a:ext cx="2377440" cy="365760"/>
          </a:xfrm>
          <a:prstGeom prst="rect">
            <a:avLst/>
          </a:prstGeom>
          <a:noFill/>
          <a:ln/>
        </p:spPr>
        <p:txBody>
          <a:bodyPr wrap="square" lIns="0" tIns="0" rIns="0" bIns="0" rtlCol="0" anchor="b"/>
          <a:lstStyle/>
          <a:p>
            <a:pPr indent="0" marL="0">
              <a:buNone/>
            </a:pPr>
            <a:r>
              <a:rPr lang="en-US" sz="1100" i="1" dirty="0">
                <a:solidFill>
                  <a:srgbClr val="64748B"/>
                </a:solidFill>
              </a:rPr>
              <a:t>What happened: did not attend</a:t>
            </a:r>
            <a:endParaRPr lang="en-US" sz="1100" dirty="0"/>
          </a:p>
        </p:txBody>
      </p:sp>
      <p:sp>
        <p:nvSpPr>
          <p:cNvPr id="16" name="Shape 14"/>
          <p:cNvSpPr/>
          <p:nvPr/>
        </p:nvSpPr>
        <p:spPr>
          <a:xfrm>
            <a:off x="3246120" y="1051560"/>
            <a:ext cx="2651760" cy="3611880"/>
          </a:xfrm>
          <a:prstGeom prst="roundRect">
            <a:avLst>
              <a:gd name="adj" fmla="val 2759"/>
            </a:avLst>
          </a:prstGeom>
          <a:solidFill>
            <a:srgbClr val="FFFFFF"/>
          </a:solidFill>
          <a:ln w="12700">
            <a:solidFill>
              <a:srgbClr val="D97706"/>
            </a:solidFill>
            <a:prstDash val="solid"/>
          </a:ln>
        </p:spPr>
      </p:sp>
      <p:sp>
        <p:nvSpPr>
          <p:cNvPr id="17" name="Text 15"/>
          <p:cNvSpPr txBox="1"/>
          <p:nvPr/>
        </p:nvSpPr>
        <p:spPr>
          <a:xfrm>
            <a:off x="3383280" y="1115568"/>
            <a:ext cx="2377440" cy="365760"/>
          </a:xfrm>
          <a:prstGeom prst="rect">
            <a:avLst/>
          </a:prstGeom>
          <a:noFill/>
          <a:ln/>
        </p:spPr>
        <p:txBody>
          <a:bodyPr wrap="square" lIns="0" tIns="0" rIns="0" bIns="0" rtlCol="0" anchor="ctr"/>
          <a:lstStyle/>
          <a:p>
            <a:pPr indent="0" marL="0">
              <a:buNone/>
            </a:pPr>
            <a:r>
              <a:rPr lang="en-US" sz="1800" b="1" dirty="0">
                <a:solidFill>
                  <a:srgbClr val="D97706"/>
                </a:solidFill>
                <a:latin typeface="Calibri" pitchFamily="34" charset="0"/>
                <a:ea typeface="Calibri" pitchFamily="34" charset="-122"/>
                <a:cs typeface="Calibri" pitchFamily="34" charset="-120"/>
              </a:rPr>
              <a:t>Medium risk: 32%</a:t>
            </a:r>
            <a:endParaRPr lang="en-US" sz="1800" dirty="0"/>
          </a:p>
        </p:txBody>
      </p:sp>
      <p:sp>
        <p:nvSpPr>
          <p:cNvPr id="18" name="Text 16"/>
          <p:cNvSpPr txBox="1"/>
          <p:nvPr/>
        </p:nvSpPr>
        <p:spPr>
          <a:xfrm>
            <a:off x="3383280" y="1508760"/>
            <a:ext cx="2377440" cy="777240"/>
          </a:xfrm>
          <a:prstGeom prst="rect">
            <a:avLst/>
          </a:prstGeom>
          <a:noFill/>
          <a:ln/>
        </p:spPr>
        <p:txBody>
          <a:bodyPr wrap="square" lIns="0" tIns="0" rIns="0" bIns="0" rtlCol="0" anchor="t"/>
          <a:lstStyle/>
          <a:p>
            <a:pPr indent="0" marL="0">
              <a:buNone/>
            </a:pPr>
            <a:r>
              <a:rPr lang="en-US" sz="1100" dirty="0">
                <a:solidFill>
                  <a:srgbClr val="0F172A"/>
                </a:solidFill>
              </a:rPr>
              <a:t>Woman, age 39. Booked 45 days ahead. 0 of 0 past visits missed. SMS sent.</a:t>
            </a:r>
            <a:endParaRPr lang="en-US" sz="1100" dirty="0"/>
          </a:p>
        </p:txBody>
      </p:sp>
      <p:sp>
        <p:nvSpPr>
          <p:cNvPr id="19" name="Text 17"/>
          <p:cNvSpPr txBox="1"/>
          <p:nvPr/>
        </p:nvSpPr>
        <p:spPr>
          <a:xfrm>
            <a:off x="3383280" y="2331720"/>
            <a:ext cx="2377440" cy="228600"/>
          </a:xfrm>
          <a:prstGeom prst="rect">
            <a:avLst/>
          </a:prstGeom>
          <a:noFill/>
          <a:ln/>
        </p:spPr>
        <p:txBody>
          <a:bodyPr wrap="square" lIns="0" tIns="0" rIns="0" bIns="0" rtlCol="0" anchor="ctr"/>
          <a:lstStyle/>
          <a:p>
            <a:pPr indent="0" marL="0">
              <a:buNone/>
            </a:pPr>
            <a:r>
              <a:rPr lang="en-US" sz="1200" b="1" dirty="0">
                <a:solidFill>
                  <a:srgbClr val="0891B2"/>
                </a:solidFill>
              </a:rPr>
              <a:t>Main reasons</a:t>
            </a:r>
            <a:endParaRPr lang="en-US" sz="1200" dirty="0"/>
          </a:p>
        </p:txBody>
      </p:sp>
      <p:sp>
        <p:nvSpPr>
          <p:cNvPr id="20" name="Text 18"/>
          <p:cNvSpPr txBox="1"/>
          <p:nvPr/>
        </p:nvSpPr>
        <p:spPr>
          <a:xfrm>
            <a:off x="3383280" y="2578608"/>
            <a:ext cx="2377440" cy="105156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0F172A"/>
                </a:solidFill>
              </a:rPr>
              <a:t>Raises risk: How far ahead it was booked</a:t>
            </a:r>
            <a:endParaRPr lang="en-US" sz="1100" dirty="0"/>
          </a:p>
          <a:p>
            <a:pPr marL="342900" indent="-342900">
              <a:spcAft>
                <a:spcPts val="300"/>
              </a:spcAft>
              <a:buSzPct val="100000"/>
              <a:buChar char="•"/>
            </a:pPr>
            <a:r>
              <a:rPr lang="en-US" sz="1100" dirty="0">
                <a:solidFill>
                  <a:srgbClr val="0F172A"/>
                </a:solidFill>
              </a:rPr>
              <a:t>Raises risk: Patient age</a:t>
            </a:r>
            <a:endParaRPr lang="en-US" sz="1100" dirty="0"/>
          </a:p>
          <a:p>
            <a:pPr marL="342900" indent="-342900">
              <a:spcAft>
                <a:spcPts val="300"/>
              </a:spcAft>
              <a:buSzPct val="100000"/>
              <a:buChar char="•"/>
            </a:pPr>
            <a:r>
              <a:rPr lang="en-US" sz="1100" dirty="0">
                <a:solidFill>
                  <a:srgbClr val="0F172A"/>
                </a:solidFill>
              </a:rPr>
              <a:t>Lowers risk: Share of past visits missed</a:t>
            </a:r>
            <a:endParaRPr lang="en-US" sz="1100" dirty="0"/>
          </a:p>
        </p:txBody>
      </p:sp>
      <p:sp>
        <p:nvSpPr>
          <p:cNvPr id="21" name="Text 19"/>
          <p:cNvSpPr txBox="1"/>
          <p:nvPr/>
        </p:nvSpPr>
        <p:spPr>
          <a:xfrm>
            <a:off x="3383280" y="4160520"/>
            <a:ext cx="2377440" cy="365760"/>
          </a:xfrm>
          <a:prstGeom prst="rect">
            <a:avLst/>
          </a:prstGeom>
          <a:noFill/>
          <a:ln/>
        </p:spPr>
        <p:txBody>
          <a:bodyPr wrap="square" lIns="0" tIns="0" rIns="0" bIns="0" rtlCol="0" anchor="b"/>
          <a:lstStyle/>
          <a:p>
            <a:pPr indent="0" marL="0">
              <a:buNone/>
            </a:pPr>
            <a:r>
              <a:rPr lang="en-US" sz="1100" i="1" dirty="0">
                <a:solidFill>
                  <a:srgbClr val="64748B"/>
                </a:solidFill>
              </a:rPr>
              <a:t>What happened: attended</a:t>
            </a:r>
            <a:endParaRPr lang="en-US" sz="1100" dirty="0"/>
          </a:p>
        </p:txBody>
      </p:sp>
      <p:sp>
        <p:nvSpPr>
          <p:cNvPr id="22" name="Shape 20"/>
          <p:cNvSpPr/>
          <p:nvPr/>
        </p:nvSpPr>
        <p:spPr>
          <a:xfrm>
            <a:off x="6035040" y="1051560"/>
            <a:ext cx="2651760" cy="3611880"/>
          </a:xfrm>
          <a:prstGeom prst="roundRect">
            <a:avLst>
              <a:gd name="adj" fmla="val 2759"/>
            </a:avLst>
          </a:prstGeom>
          <a:solidFill>
            <a:srgbClr val="FFFFFF"/>
          </a:solidFill>
          <a:ln w="12700">
            <a:solidFill>
              <a:srgbClr val="059669"/>
            </a:solidFill>
            <a:prstDash val="solid"/>
          </a:ln>
        </p:spPr>
      </p:sp>
      <p:sp>
        <p:nvSpPr>
          <p:cNvPr id="23" name="Text 21"/>
          <p:cNvSpPr txBox="1"/>
          <p:nvPr/>
        </p:nvSpPr>
        <p:spPr>
          <a:xfrm>
            <a:off x="6172200" y="1115568"/>
            <a:ext cx="2377440" cy="365760"/>
          </a:xfrm>
          <a:prstGeom prst="rect">
            <a:avLst/>
          </a:prstGeom>
          <a:noFill/>
          <a:ln/>
        </p:spPr>
        <p:txBody>
          <a:bodyPr wrap="square" lIns="0" tIns="0" rIns="0" bIns="0" rtlCol="0" anchor="ctr"/>
          <a:lstStyle/>
          <a:p>
            <a:pPr indent="0" marL="0">
              <a:buNone/>
            </a:pPr>
            <a:r>
              <a:rPr lang="en-US" sz="1800" b="1" dirty="0">
                <a:solidFill>
                  <a:srgbClr val="059669"/>
                </a:solidFill>
                <a:latin typeface="Calibri" pitchFamily="34" charset="0"/>
                <a:ea typeface="Calibri" pitchFamily="34" charset="-122"/>
                <a:cs typeface="Calibri" pitchFamily="34" charset="-120"/>
              </a:rPr>
              <a:t>Low risk: 3%</a:t>
            </a:r>
            <a:endParaRPr lang="en-US" sz="1800" dirty="0"/>
          </a:p>
        </p:txBody>
      </p:sp>
      <p:sp>
        <p:nvSpPr>
          <p:cNvPr id="24" name="Text 22"/>
          <p:cNvSpPr txBox="1"/>
          <p:nvPr/>
        </p:nvSpPr>
        <p:spPr>
          <a:xfrm>
            <a:off x="6172200" y="1508760"/>
            <a:ext cx="2377440" cy="777240"/>
          </a:xfrm>
          <a:prstGeom prst="rect">
            <a:avLst/>
          </a:prstGeom>
          <a:noFill/>
          <a:ln/>
        </p:spPr>
        <p:txBody>
          <a:bodyPr wrap="square" lIns="0" tIns="0" rIns="0" bIns="0" rtlCol="0" anchor="t"/>
          <a:lstStyle/>
          <a:p>
            <a:pPr indent="0" marL="0">
              <a:buNone/>
            </a:pPr>
            <a:r>
              <a:rPr lang="en-US" sz="1100" dirty="0">
                <a:solidFill>
                  <a:srgbClr val="0F172A"/>
                </a:solidFill>
              </a:rPr>
              <a:t>Woman, age 60. Booked 0 days ahead. 0 of 2 past visits missed. SMS not sent.</a:t>
            </a:r>
            <a:endParaRPr lang="en-US" sz="1100" dirty="0"/>
          </a:p>
        </p:txBody>
      </p:sp>
      <p:sp>
        <p:nvSpPr>
          <p:cNvPr id="25" name="Text 23"/>
          <p:cNvSpPr txBox="1"/>
          <p:nvPr/>
        </p:nvSpPr>
        <p:spPr>
          <a:xfrm>
            <a:off x="6172200" y="2331720"/>
            <a:ext cx="2377440" cy="228600"/>
          </a:xfrm>
          <a:prstGeom prst="rect">
            <a:avLst/>
          </a:prstGeom>
          <a:noFill/>
          <a:ln/>
        </p:spPr>
        <p:txBody>
          <a:bodyPr wrap="square" lIns="0" tIns="0" rIns="0" bIns="0" rtlCol="0" anchor="ctr"/>
          <a:lstStyle/>
          <a:p>
            <a:pPr indent="0" marL="0">
              <a:buNone/>
            </a:pPr>
            <a:r>
              <a:rPr lang="en-US" sz="1200" b="1" dirty="0">
                <a:solidFill>
                  <a:srgbClr val="0891B2"/>
                </a:solidFill>
              </a:rPr>
              <a:t>Main reasons</a:t>
            </a:r>
            <a:endParaRPr lang="en-US" sz="1200" dirty="0"/>
          </a:p>
        </p:txBody>
      </p:sp>
      <p:sp>
        <p:nvSpPr>
          <p:cNvPr id="26" name="Text 24"/>
          <p:cNvSpPr txBox="1"/>
          <p:nvPr/>
        </p:nvSpPr>
        <p:spPr>
          <a:xfrm>
            <a:off x="6172200" y="2578608"/>
            <a:ext cx="2377440" cy="105156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0F172A"/>
                </a:solidFill>
              </a:rPr>
              <a:t>Lowers risk: How far ahead it was booked</a:t>
            </a:r>
            <a:endParaRPr lang="en-US" sz="1100" dirty="0"/>
          </a:p>
          <a:p>
            <a:pPr marL="342900" indent="-342900">
              <a:spcAft>
                <a:spcPts val="300"/>
              </a:spcAft>
              <a:buSzPct val="100000"/>
              <a:buChar char="•"/>
            </a:pPr>
            <a:r>
              <a:rPr lang="en-US" sz="1100" dirty="0">
                <a:solidFill>
                  <a:srgbClr val="0F172A"/>
                </a:solidFill>
              </a:rPr>
              <a:t>Lowers risk: Patient age</a:t>
            </a:r>
            <a:endParaRPr lang="en-US" sz="1100" dirty="0"/>
          </a:p>
          <a:p>
            <a:pPr marL="342900" indent="-342900">
              <a:spcAft>
                <a:spcPts val="300"/>
              </a:spcAft>
              <a:buSzPct val="100000"/>
              <a:buChar char="•"/>
            </a:pPr>
            <a:r>
              <a:rPr lang="en-US" sz="1100" dirty="0">
                <a:solidFill>
                  <a:srgbClr val="0F172A"/>
                </a:solidFill>
              </a:rPr>
              <a:t>Lowers risk: Share of past visits missed</a:t>
            </a:r>
            <a:endParaRPr lang="en-US" sz="1100" dirty="0"/>
          </a:p>
        </p:txBody>
      </p:sp>
      <p:sp>
        <p:nvSpPr>
          <p:cNvPr id="27" name="Text 25"/>
          <p:cNvSpPr txBox="1"/>
          <p:nvPr/>
        </p:nvSpPr>
        <p:spPr>
          <a:xfrm>
            <a:off x="6172200" y="4160520"/>
            <a:ext cx="2377440" cy="365760"/>
          </a:xfrm>
          <a:prstGeom prst="rect">
            <a:avLst/>
          </a:prstGeom>
          <a:noFill/>
          <a:ln/>
        </p:spPr>
        <p:txBody>
          <a:bodyPr wrap="square" lIns="0" tIns="0" rIns="0" bIns="0" rtlCol="0" anchor="b"/>
          <a:lstStyle/>
          <a:p>
            <a:pPr indent="0" marL="0">
              <a:buNone/>
            </a:pPr>
            <a:r>
              <a:rPr lang="en-US" sz="1100" i="1" dirty="0">
                <a:solidFill>
                  <a:srgbClr val="64748B"/>
                </a:solidFill>
              </a:rPr>
              <a:t>What happened: attended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What-if analysis: changing one input moves the score only modestly</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09</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Average change in predicted risk across all unseen test appointments, in percentage points. The dashboard lets you try any patient.</a:t>
            </a:r>
            <a:endParaRPr lang="en-US" sz="1000" dirty="0"/>
          </a:p>
        </p:txBody>
      </p:sp>
      <p:graphicFrame>
        <p:nvGraphicFramePr>
          <p:cNvPr id="10" name="Chart 0" descr=""/>
          <p:cNvGraphicFramePr/>
          <p:nvPr/>
        </p:nvGraphicFramePr>
        <p:xfrm>
          <a:off x="365760" y="105156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5669280" y="1097280"/>
            <a:ext cx="3017520" cy="3520440"/>
          </a:xfrm>
          <a:prstGeom prst="roundRect">
            <a:avLst>
              <a:gd name="adj" fmla="val 3030"/>
            </a:avLst>
          </a:prstGeom>
          <a:solidFill>
            <a:srgbClr val="FFFFFF"/>
          </a:solidFill>
          <a:ln w="9525">
            <a:solidFill>
              <a:srgbClr val="0891B2">
                <a:alpha val="55000"/>
              </a:srgbClr>
            </a:solidFill>
            <a:prstDash val="solid"/>
          </a:ln>
        </p:spPr>
      </p:sp>
      <p:sp>
        <p:nvSpPr>
          <p:cNvPr id="12" name="Shape 9"/>
          <p:cNvSpPr/>
          <p:nvPr/>
        </p:nvSpPr>
        <p:spPr>
          <a:xfrm>
            <a:off x="5687568" y="1225296"/>
            <a:ext cx="45720" cy="292608"/>
          </a:xfrm>
          <a:prstGeom prst="rect">
            <a:avLst/>
          </a:prstGeom>
          <a:solidFill>
            <a:srgbClr val="0891B2"/>
          </a:solidFill>
          <a:ln w="12700">
            <a:solidFill>
              <a:srgbClr val="0891B2">
                <a:alpha val="0"/>
              </a:srgbClr>
            </a:solidFill>
            <a:prstDash val="solid"/>
          </a:ln>
        </p:spPr>
      </p:sp>
      <p:sp>
        <p:nvSpPr>
          <p:cNvPr id="13" name="Text 10"/>
          <p:cNvSpPr txBox="1"/>
          <p:nvPr/>
        </p:nvSpPr>
        <p:spPr>
          <a:xfrm>
            <a:off x="5833872" y="1188720"/>
            <a:ext cx="274320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What this shows</a:t>
            </a:r>
            <a:endParaRPr lang="en-US" sz="1400" dirty="0"/>
          </a:p>
        </p:txBody>
      </p:sp>
      <p:sp>
        <p:nvSpPr>
          <p:cNvPr id="14" name="Text 11"/>
          <p:cNvSpPr txBox="1"/>
          <p:nvPr/>
        </p:nvSpPr>
        <p:spPr>
          <a:xfrm>
            <a:off x="5833872" y="1536192"/>
            <a:ext cx="2724912" cy="2990088"/>
          </a:xfrm>
          <a:prstGeom prst="rect">
            <a:avLst/>
          </a:prstGeom>
          <a:noFill/>
          <a:ln/>
        </p:spPr>
        <p:txBody>
          <a:bodyPr wrap="square" lIns="0" tIns="0" rIns="0" bIns="0" rtlCol="0" anchor="t"/>
          <a:lstStyle/>
          <a:p>
            <a:pPr indent="0" marL="0">
              <a:spcAft>
                <a:spcPts val="300"/>
              </a:spcAft>
              <a:buNone/>
            </a:pPr>
            <a:r>
              <a:rPr lang="en-US" sz="1150" dirty="0">
                <a:solidFill>
                  <a:srgbClr val="0F172A"/>
                </a:solidFill>
              </a:rPr>
              <a:t>Capping lead time at 7 days lowers the average score by 1.9 points; removing past misses by 1.4.</a:t>
            </a:r>
            <a:endParaRPr lang="en-US" sz="1150" dirty="0"/>
          </a:p>
          <a:p>
            <a:pPr indent="0" marL="0">
              <a:spcAft>
                <a:spcPts val="300"/>
              </a:spcAft>
              <a:buNone/>
            </a:pPr>
            <a:endParaRPr lang="en-US" sz="1150" dirty="0"/>
          </a:p>
          <a:p>
            <a:pPr indent="0" marL="0">
              <a:spcAft>
                <a:spcPts val="300"/>
              </a:spcAft>
              <a:buNone/>
            </a:pPr>
            <a:r>
              <a:rPr lang="en-US" sz="1150" dirty="0">
                <a:solidFill>
                  <a:srgbClr val="0F172A"/>
                </a:solidFill>
              </a:rPr>
              <a:t>The SMS result runs against intuition in the raw data (SMS patients miss more: 28% vs 17%) because reminders go mostly to visits booked further ahead.</a:t>
            </a:r>
            <a:endParaRPr lang="en-US" sz="1150" dirty="0"/>
          </a:p>
          <a:p>
            <a:pPr indent="0" marL="0">
              <a:spcAft>
                <a:spcPts val="300"/>
              </a:spcAft>
              <a:buNone/>
            </a:pPr>
            <a:endParaRPr lang="en-US" sz="1150" dirty="0"/>
          </a:p>
          <a:p>
            <a:pPr indent="0" marL="0">
              <a:spcAft>
                <a:spcPts val="300"/>
              </a:spcAft>
              <a:buNone/>
            </a:pPr>
            <a:r>
              <a:rPr lang="en-US" sz="1150" dirty="0">
                <a:solidFill>
                  <a:srgbClr val="0F172A"/>
                </a:solidFill>
              </a:rPr>
              <a:t>These show how the score moves, not that real behaviour will change.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Fairness summary: gender is even, but older patients are flagged far less often</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10</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Standard flagging rule on unseen test data. Charter limit: gaps of 0.05 or less.</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3108960"/>
                <a:gridCol w="1097280"/>
                <a:gridCol w="1188720"/>
                <a:gridCol w="1737360"/>
                <a:gridCol w="1097280"/>
              </a:tblGrid>
              <a:tr h="310896">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Groups compared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Flagging gap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Error-rate gap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Lowest ÷ highest flag rate</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Within limit?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31089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Gender</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0.010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0.015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0.97</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Age group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0.521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0.687</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0.14</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Welfare scholarship (socio-economic stand-in)</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0.151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0.198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0.71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graphicFrame>
        <p:nvGraphicFramePr>
          <p:cNvPr id="11" name="Chart 0" descr=""/>
          <p:cNvGraphicFramePr/>
          <p:nvPr/>
        </p:nvGraphicFramePr>
        <p:xfrm>
          <a:off x="365760" y="2423160"/>
          <a:ext cx="5303520" cy="237744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5806440" y="2697480"/>
            <a:ext cx="2880360" cy="2011680"/>
          </a:xfrm>
          <a:prstGeom prst="roundRect">
            <a:avLst>
              <a:gd name="adj" fmla="val 4545"/>
            </a:avLst>
          </a:prstGeom>
          <a:solidFill>
            <a:srgbClr val="FFFFFF"/>
          </a:solidFill>
          <a:ln w="9525">
            <a:solidFill>
              <a:srgbClr val="0891B2">
                <a:alpha val="55000"/>
              </a:srgbClr>
            </a:solidFill>
            <a:prstDash val="solid"/>
          </a:ln>
        </p:spPr>
      </p:sp>
      <p:sp>
        <p:nvSpPr>
          <p:cNvPr id="13" name="Shape 9"/>
          <p:cNvSpPr/>
          <p:nvPr/>
        </p:nvSpPr>
        <p:spPr>
          <a:xfrm>
            <a:off x="5824728" y="2825496"/>
            <a:ext cx="45720" cy="292608"/>
          </a:xfrm>
          <a:prstGeom prst="rect">
            <a:avLst/>
          </a:prstGeom>
          <a:solidFill>
            <a:srgbClr val="0891B2"/>
          </a:solidFill>
          <a:ln w="12700">
            <a:solidFill>
              <a:srgbClr val="0891B2">
                <a:alpha val="0"/>
              </a:srgbClr>
            </a:solidFill>
            <a:prstDash val="solid"/>
          </a:ln>
        </p:spPr>
      </p:sp>
      <p:sp>
        <p:nvSpPr>
          <p:cNvPr id="14" name="Text 10"/>
          <p:cNvSpPr txBox="1"/>
          <p:nvPr/>
        </p:nvSpPr>
        <p:spPr>
          <a:xfrm>
            <a:off x="5971032" y="2788920"/>
            <a:ext cx="260604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In plain terms</a:t>
            </a:r>
            <a:endParaRPr lang="en-US" sz="1400" dirty="0"/>
          </a:p>
        </p:txBody>
      </p:sp>
      <p:sp>
        <p:nvSpPr>
          <p:cNvPr id="15" name="Text 11"/>
          <p:cNvSpPr txBox="1"/>
          <p:nvPr/>
        </p:nvSpPr>
        <p:spPr>
          <a:xfrm>
            <a:off x="5971032" y="3136392"/>
            <a:ext cx="2587752" cy="1481328"/>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Seniors miss 15% of visits but are flagged 9% of the time; young adults miss 24% and are flagged 59%. The model catches 20% of senior no-shows vs 88% of young adults'.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Bias mitigation: what was found, what was tried, what it cost</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11</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Fairlearn ThresholdOptimizer fitted on training-set predictions; all results on unseen test data</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468880"/>
                <a:gridCol w="1005840"/>
                <a:gridCol w="1005840"/>
                <a:gridCol w="1097280"/>
                <a:gridCol w="868680"/>
                <a:gridCol w="868680"/>
                <a:gridCol w="914400"/>
              </a:tblGrid>
              <a:tr h="457200">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Approach</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No-shows caught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Flags that are real</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Appointments flagged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Age gap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Gender gap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Scholarship gap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45720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Standard single cut-off</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0.687</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0.015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0.198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 Separate cut-off per age group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66%</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0.113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0.022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0.163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B. Fairlearn equalized-odds rule</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84%</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0.045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0.017</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0.018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11" name="Shape 8"/>
          <p:cNvSpPr/>
          <p:nvPr/>
        </p:nvSpPr>
        <p:spPr>
          <a:xfrm>
            <a:off x="457200" y="3017520"/>
            <a:ext cx="2651760" cy="1645920"/>
          </a:xfrm>
          <a:prstGeom prst="roundRect">
            <a:avLst>
              <a:gd name="adj" fmla="val 5556"/>
            </a:avLst>
          </a:prstGeom>
          <a:solidFill>
            <a:srgbClr val="FFFFFF"/>
          </a:solidFill>
          <a:ln w="9525">
            <a:solidFill>
              <a:srgbClr val="0891B2">
                <a:alpha val="55000"/>
              </a:srgbClr>
            </a:solidFill>
            <a:prstDash val="solid"/>
          </a:ln>
        </p:spPr>
      </p:sp>
      <p:sp>
        <p:nvSpPr>
          <p:cNvPr id="12" name="Shape 9"/>
          <p:cNvSpPr/>
          <p:nvPr/>
        </p:nvSpPr>
        <p:spPr>
          <a:xfrm>
            <a:off x="475488" y="3145536"/>
            <a:ext cx="45720" cy="292608"/>
          </a:xfrm>
          <a:prstGeom prst="rect">
            <a:avLst/>
          </a:prstGeom>
          <a:solidFill>
            <a:srgbClr val="0891B2"/>
          </a:solidFill>
          <a:ln w="12700">
            <a:solidFill>
              <a:srgbClr val="0891B2">
                <a:alpha val="0"/>
              </a:srgbClr>
            </a:solidFill>
            <a:prstDash val="solid"/>
          </a:ln>
        </p:spPr>
      </p:sp>
      <p:sp>
        <p:nvSpPr>
          <p:cNvPr id="13" name="Text 10"/>
          <p:cNvSpPr txBox="1"/>
          <p:nvPr/>
        </p:nvSpPr>
        <p:spPr>
          <a:xfrm>
            <a:off x="621792" y="3108960"/>
            <a:ext cx="237744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Found</a:t>
            </a:r>
            <a:endParaRPr lang="en-US" sz="1400" dirty="0"/>
          </a:p>
        </p:txBody>
      </p:sp>
      <p:sp>
        <p:nvSpPr>
          <p:cNvPr id="14" name="Text 11"/>
          <p:cNvSpPr txBox="1"/>
          <p:nvPr/>
        </p:nvSpPr>
        <p:spPr>
          <a:xfrm>
            <a:off x="621792" y="3456432"/>
            <a:ext cx="2359152" cy="111556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The model flags young patients much more than older ones, and catches far fewer of the older patients' no-shows.</a:t>
            </a:r>
            <a:endParaRPr lang="en-US" sz="1200" dirty="0"/>
          </a:p>
        </p:txBody>
      </p:sp>
      <p:sp>
        <p:nvSpPr>
          <p:cNvPr id="15" name="Shape 12"/>
          <p:cNvSpPr/>
          <p:nvPr/>
        </p:nvSpPr>
        <p:spPr>
          <a:xfrm>
            <a:off x="3246120" y="3017520"/>
            <a:ext cx="2651760" cy="1645920"/>
          </a:xfrm>
          <a:prstGeom prst="roundRect">
            <a:avLst>
              <a:gd name="adj" fmla="val 5556"/>
            </a:avLst>
          </a:prstGeom>
          <a:solidFill>
            <a:srgbClr val="FFFFFF"/>
          </a:solidFill>
          <a:ln w="9525">
            <a:solidFill>
              <a:srgbClr val="0891B2">
                <a:alpha val="55000"/>
              </a:srgbClr>
            </a:solidFill>
            <a:prstDash val="solid"/>
          </a:ln>
        </p:spPr>
      </p:sp>
      <p:sp>
        <p:nvSpPr>
          <p:cNvPr id="16" name="Shape 13"/>
          <p:cNvSpPr/>
          <p:nvPr/>
        </p:nvSpPr>
        <p:spPr>
          <a:xfrm>
            <a:off x="3264408" y="3145536"/>
            <a:ext cx="45720" cy="292608"/>
          </a:xfrm>
          <a:prstGeom prst="rect">
            <a:avLst/>
          </a:prstGeom>
          <a:solidFill>
            <a:srgbClr val="0891B2"/>
          </a:solidFill>
          <a:ln w="12700">
            <a:solidFill>
              <a:srgbClr val="0891B2">
                <a:alpha val="0"/>
              </a:srgbClr>
            </a:solidFill>
            <a:prstDash val="solid"/>
          </a:ln>
        </p:spPr>
      </p:sp>
      <p:sp>
        <p:nvSpPr>
          <p:cNvPr id="17" name="Text 14"/>
          <p:cNvSpPr txBox="1"/>
          <p:nvPr/>
        </p:nvSpPr>
        <p:spPr>
          <a:xfrm>
            <a:off x="3410712" y="3108960"/>
            <a:ext cx="237744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Tried</a:t>
            </a:r>
            <a:endParaRPr lang="en-US" sz="1400" dirty="0"/>
          </a:p>
        </p:txBody>
      </p:sp>
      <p:sp>
        <p:nvSpPr>
          <p:cNvPr id="18" name="Text 15"/>
          <p:cNvSpPr txBox="1"/>
          <p:nvPr/>
        </p:nvSpPr>
        <p:spPr>
          <a:xfrm>
            <a:off x="3410712" y="3456432"/>
            <a:ext cx="2359152" cy="111556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A narrows the age gap to 0.11 but not under 0.05. B brings every gap under 0.05.</a:t>
            </a:r>
            <a:endParaRPr lang="en-US" sz="1200" dirty="0"/>
          </a:p>
        </p:txBody>
      </p:sp>
      <p:sp>
        <p:nvSpPr>
          <p:cNvPr id="19" name="Shape 16"/>
          <p:cNvSpPr/>
          <p:nvPr/>
        </p:nvSpPr>
        <p:spPr>
          <a:xfrm>
            <a:off x="6035040" y="3017520"/>
            <a:ext cx="2651760" cy="1645920"/>
          </a:xfrm>
          <a:prstGeom prst="roundRect">
            <a:avLst>
              <a:gd name="adj" fmla="val 5556"/>
            </a:avLst>
          </a:prstGeom>
          <a:solidFill>
            <a:srgbClr val="FFF7E6"/>
          </a:solidFill>
          <a:ln w="9525">
            <a:solidFill>
              <a:srgbClr val="D97706">
                <a:alpha val="55000"/>
              </a:srgbClr>
            </a:solidFill>
            <a:prstDash val="solid"/>
          </a:ln>
        </p:spPr>
      </p:sp>
      <p:sp>
        <p:nvSpPr>
          <p:cNvPr id="20" name="Shape 17"/>
          <p:cNvSpPr/>
          <p:nvPr/>
        </p:nvSpPr>
        <p:spPr>
          <a:xfrm>
            <a:off x="6053328" y="3145536"/>
            <a:ext cx="45720" cy="292608"/>
          </a:xfrm>
          <a:prstGeom prst="rect">
            <a:avLst/>
          </a:prstGeom>
          <a:solidFill>
            <a:srgbClr val="D97706"/>
          </a:solidFill>
          <a:ln w="12700">
            <a:solidFill>
              <a:srgbClr val="D97706">
                <a:alpha val="0"/>
              </a:srgbClr>
            </a:solidFill>
            <a:prstDash val="solid"/>
          </a:ln>
        </p:spPr>
      </p:sp>
      <p:sp>
        <p:nvSpPr>
          <p:cNvPr id="21" name="Text 18"/>
          <p:cNvSpPr txBox="1"/>
          <p:nvPr/>
        </p:nvSpPr>
        <p:spPr>
          <a:xfrm>
            <a:off x="6199632" y="3108960"/>
            <a:ext cx="2377440" cy="320040"/>
          </a:xfrm>
          <a:prstGeom prst="rect">
            <a:avLst/>
          </a:prstGeom>
          <a:noFill/>
          <a:ln/>
        </p:spPr>
        <p:txBody>
          <a:bodyPr wrap="square" lIns="0" tIns="0" rIns="0" bIns="0" rtlCol="0" anchor="t"/>
          <a:lstStyle/>
          <a:p>
            <a:pPr indent="0" marL="0">
              <a:buNone/>
            </a:pPr>
            <a:r>
              <a:rPr lang="en-US" sz="1400" b="1" dirty="0">
                <a:solidFill>
                  <a:srgbClr val="D97706"/>
                </a:solidFill>
                <a:latin typeface="Calibri" pitchFamily="34" charset="0"/>
                <a:ea typeface="Calibri" pitchFamily="34" charset="-122"/>
                <a:cs typeface="Calibri" pitchFamily="34" charset="-120"/>
              </a:rPr>
              <a:t>Cost</a:t>
            </a:r>
            <a:endParaRPr lang="en-US" sz="1400" dirty="0"/>
          </a:p>
        </p:txBody>
      </p:sp>
      <p:sp>
        <p:nvSpPr>
          <p:cNvPr id="22" name="Text 19"/>
          <p:cNvSpPr txBox="1"/>
          <p:nvPr/>
        </p:nvSpPr>
        <p:spPr>
          <a:xfrm>
            <a:off x="6199632" y="3456432"/>
            <a:ext cx="2359152" cy="111556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B flags 60% of appointments instead of 39%, and part of its rule is randomised.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What the model cannot do: limits stakeholders should know first</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12</a:t>
            </a:r>
            <a:endParaRPr lang="en-US" sz="1000" dirty="0"/>
          </a:p>
        </p:txBody>
      </p:sp>
      <p:sp>
        <p:nvSpPr>
          <p:cNvPr id="9" name="Shape 7"/>
          <p:cNvSpPr/>
          <p:nvPr/>
        </p:nvSpPr>
        <p:spPr>
          <a:xfrm>
            <a:off x="457200" y="1097280"/>
            <a:ext cx="2651760" cy="1645920"/>
          </a:xfrm>
          <a:prstGeom prst="roundRect">
            <a:avLst>
              <a:gd name="adj" fmla="val 5556"/>
            </a:avLst>
          </a:prstGeom>
          <a:solidFill>
            <a:srgbClr val="FFFFFF"/>
          </a:solidFill>
          <a:ln w="9525">
            <a:solidFill>
              <a:srgbClr val="0891B2">
                <a:alpha val="55000"/>
              </a:srgbClr>
            </a:solidFill>
            <a:prstDash val="solid"/>
          </a:ln>
        </p:spPr>
      </p:sp>
      <p:sp>
        <p:nvSpPr>
          <p:cNvPr id="10" name="Shape 8"/>
          <p:cNvSpPr/>
          <p:nvPr/>
        </p:nvSpPr>
        <p:spPr>
          <a:xfrm>
            <a:off x="475488" y="1225296"/>
            <a:ext cx="45720" cy="292608"/>
          </a:xfrm>
          <a:prstGeom prst="rect">
            <a:avLst/>
          </a:prstGeom>
          <a:solidFill>
            <a:srgbClr val="0891B2"/>
          </a:solidFill>
          <a:ln w="12700">
            <a:solidFill>
              <a:srgbClr val="0891B2">
                <a:alpha val="0"/>
              </a:srgbClr>
            </a:solidFill>
            <a:prstDash val="solid"/>
          </a:ln>
        </p:spPr>
      </p:sp>
      <p:sp>
        <p:nvSpPr>
          <p:cNvPr id="11" name="Text 9"/>
          <p:cNvSpPr txBox="1"/>
          <p:nvPr/>
        </p:nvSpPr>
        <p:spPr>
          <a:xfrm>
            <a:off x="621792" y="118872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Not trained on CrescentCare</a:t>
            </a:r>
            <a:endParaRPr lang="en-US" sz="1300" dirty="0"/>
          </a:p>
        </p:txBody>
      </p:sp>
      <p:sp>
        <p:nvSpPr>
          <p:cNvPr id="12" name="Text 10"/>
          <p:cNvSpPr txBox="1"/>
          <p:nvPr/>
        </p:nvSpPr>
        <p:spPr>
          <a:xfrm>
            <a:off x="621792" y="1536192"/>
            <a:ext cx="2359152" cy="1115568"/>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Data are Brazilian public-health visits from 2016, about six weeks. The hospital's 28% rate is above the data's 20%.</a:t>
            </a:r>
            <a:endParaRPr lang="en-US" sz="1100" dirty="0"/>
          </a:p>
        </p:txBody>
      </p:sp>
      <p:sp>
        <p:nvSpPr>
          <p:cNvPr id="13" name="Shape 11"/>
          <p:cNvSpPr/>
          <p:nvPr/>
        </p:nvSpPr>
        <p:spPr>
          <a:xfrm>
            <a:off x="3246120" y="1097280"/>
            <a:ext cx="2651760" cy="1645920"/>
          </a:xfrm>
          <a:prstGeom prst="roundRect">
            <a:avLst>
              <a:gd name="adj" fmla="val 5556"/>
            </a:avLst>
          </a:prstGeom>
          <a:solidFill>
            <a:srgbClr val="FFFFFF"/>
          </a:solidFill>
          <a:ln w="9525">
            <a:solidFill>
              <a:srgbClr val="0891B2">
                <a:alpha val="55000"/>
              </a:srgbClr>
            </a:solidFill>
            <a:prstDash val="solid"/>
          </a:ln>
        </p:spPr>
      </p:sp>
      <p:sp>
        <p:nvSpPr>
          <p:cNvPr id="14" name="Shape 12"/>
          <p:cNvSpPr/>
          <p:nvPr/>
        </p:nvSpPr>
        <p:spPr>
          <a:xfrm>
            <a:off x="3264408" y="1225296"/>
            <a:ext cx="45720" cy="292608"/>
          </a:xfrm>
          <a:prstGeom prst="rect">
            <a:avLst/>
          </a:prstGeom>
          <a:solidFill>
            <a:srgbClr val="0891B2"/>
          </a:solidFill>
          <a:ln w="12700">
            <a:solidFill>
              <a:srgbClr val="0891B2">
                <a:alpha val="0"/>
              </a:srgbClr>
            </a:solidFill>
            <a:prstDash val="solid"/>
          </a:ln>
        </p:spPr>
      </p:sp>
      <p:sp>
        <p:nvSpPr>
          <p:cNvPr id="15" name="Text 13"/>
          <p:cNvSpPr txBox="1"/>
          <p:nvPr/>
        </p:nvSpPr>
        <p:spPr>
          <a:xfrm>
            <a:off x="3410712" y="118872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Often wrong about individuals</a:t>
            </a:r>
            <a:endParaRPr lang="en-US" sz="1300" dirty="0"/>
          </a:p>
        </p:txBody>
      </p:sp>
      <p:sp>
        <p:nvSpPr>
          <p:cNvPr id="16" name="Text 14"/>
          <p:cNvSpPr txBox="1"/>
          <p:nvPr/>
        </p:nvSpPr>
        <p:spPr>
          <a:xfrm>
            <a:off x="3410712" y="1536192"/>
            <a:ext cx="2359152" cy="1115568"/>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Of 8,659 flagged on the test set, 5,633 attended anyway; 1,436 real no-shows were missed.</a:t>
            </a:r>
            <a:endParaRPr lang="en-US" sz="1100" dirty="0"/>
          </a:p>
        </p:txBody>
      </p:sp>
      <p:sp>
        <p:nvSpPr>
          <p:cNvPr id="17" name="Shape 15"/>
          <p:cNvSpPr/>
          <p:nvPr/>
        </p:nvSpPr>
        <p:spPr>
          <a:xfrm>
            <a:off x="6035040" y="1097280"/>
            <a:ext cx="2651760" cy="1645920"/>
          </a:xfrm>
          <a:prstGeom prst="roundRect">
            <a:avLst>
              <a:gd name="adj" fmla="val 5556"/>
            </a:avLst>
          </a:prstGeom>
          <a:solidFill>
            <a:srgbClr val="FFFFFF"/>
          </a:solidFill>
          <a:ln w="9525">
            <a:solidFill>
              <a:srgbClr val="0891B2">
                <a:alpha val="55000"/>
              </a:srgbClr>
            </a:solidFill>
            <a:prstDash val="solid"/>
          </a:ln>
        </p:spPr>
      </p:sp>
      <p:sp>
        <p:nvSpPr>
          <p:cNvPr id="18" name="Shape 16"/>
          <p:cNvSpPr/>
          <p:nvPr/>
        </p:nvSpPr>
        <p:spPr>
          <a:xfrm>
            <a:off x="6053328" y="1225296"/>
            <a:ext cx="45720" cy="292608"/>
          </a:xfrm>
          <a:prstGeom prst="rect">
            <a:avLst/>
          </a:prstGeom>
          <a:solidFill>
            <a:srgbClr val="0891B2"/>
          </a:solidFill>
          <a:ln w="12700">
            <a:solidFill>
              <a:srgbClr val="0891B2">
                <a:alpha val="0"/>
              </a:srgbClr>
            </a:solidFill>
            <a:prstDash val="solid"/>
          </a:ln>
        </p:spPr>
      </p:sp>
      <p:sp>
        <p:nvSpPr>
          <p:cNvPr id="19" name="Text 17"/>
          <p:cNvSpPr txBox="1"/>
          <p:nvPr/>
        </p:nvSpPr>
        <p:spPr>
          <a:xfrm>
            <a:off x="6199632" y="118872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Does not know why</a:t>
            </a:r>
            <a:endParaRPr lang="en-US" sz="1300" dirty="0"/>
          </a:p>
        </p:txBody>
      </p:sp>
      <p:sp>
        <p:nvSpPr>
          <p:cNvPr id="20" name="Text 18"/>
          <p:cNvSpPr txBox="1"/>
          <p:nvPr/>
        </p:nvSpPr>
        <p:spPr>
          <a:xfrm>
            <a:off x="6199632" y="1536192"/>
            <a:ext cx="2359152" cy="1115568"/>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Transport, childcare, cost and health literacy are not in the data; reasons shown are statistical patterns.</a:t>
            </a:r>
            <a:endParaRPr lang="en-US" sz="1100" dirty="0"/>
          </a:p>
        </p:txBody>
      </p:sp>
      <p:sp>
        <p:nvSpPr>
          <p:cNvPr id="21" name="Shape 19"/>
          <p:cNvSpPr/>
          <p:nvPr/>
        </p:nvSpPr>
        <p:spPr>
          <a:xfrm>
            <a:off x="457200" y="2880360"/>
            <a:ext cx="2651760" cy="1645920"/>
          </a:xfrm>
          <a:prstGeom prst="roundRect">
            <a:avLst>
              <a:gd name="adj" fmla="val 5556"/>
            </a:avLst>
          </a:prstGeom>
          <a:solidFill>
            <a:srgbClr val="FFFFFF"/>
          </a:solidFill>
          <a:ln w="9525">
            <a:solidFill>
              <a:srgbClr val="0891B2">
                <a:alpha val="55000"/>
              </a:srgbClr>
            </a:solidFill>
            <a:prstDash val="solid"/>
          </a:ln>
        </p:spPr>
      </p:sp>
      <p:sp>
        <p:nvSpPr>
          <p:cNvPr id="22" name="Shape 20"/>
          <p:cNvSpPr/>
          <p:nvPr/>
        </p:nvSpPr>
        <p:spPr>
          <a:xfrm>
            <a:off x="475488" y="3008376"/>
            <a:ext cx="45720" cy="292608"/>
          </a:xfrm>
          <a:prstGeom prst="rect">
            <a:avLst/>
          </a:prstGeom>
          <a:solidFill>
            <a:srgbClr val="0891B2"/>
          </a:solidFill>
          <a:ln w="12700">
            <a:solidFill>
              <a:srgbClr val="0891B2">
                <a:alpha val="0"/>
              </a:srgbClr>
            </a:solidFill>
            <a:prstDash val="solid"/>
          </a:ln>
        </p:spPr>
      </p:sp>
      <p:sp>
        <p:nvSpPr>
          <p:cNvPr id="23" name="Text 21"/>
          <p:cNvSpPr txBox="1"/>
          <p:nvPr/>
        </p:nvSpPr>
        <p:spPr>
          <a:xfrm>
            <a:off x="621792" y="297180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Misses some Module 4 targets</a:t>
            </a:r>
            <a:endParaRPr lang="en-US" sz="1300" dirty="0"/>
          </a:p>
        </p:txBody>
      </p:sp>
      <p:sp>
        <p:nvSpPr>
          <p:cNvPr id="24" name="Text 22"/>
          <p:cNvSpPr txBox="1"/>
          <p:nvPr/>
        </p:nvSpPr>
        <p:spPr>
          <a:xfrm>
            <a:off x="621792" y="3319272"/>
            <a:ext cx="2359152" cy="1115568"/>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F1 is 0.46 (target 0.55). The standard rule fails the age-group fairness limit.</a:t>
            </a:r>
            <a:endParaRPr lang="en-US" sz="1100" dirty="0"/>
          </a:p>
        </p:txBody>
      </p:sp>
      <p:sp>
        <p:nvSpPr>
          <p:cNvPr id="25" name="Shape 23"/>
          <p:cNvSpPr/>
          <p:nvPr/>
        </p:nvSpPr>
        <p:spPr>
          <a:xfrm>
            <a:off x="3246120" y="2880360"/>
            <a:ext cx="2651760" cy="1645920"/>
          </a:xfrm>
          <a:prstGeom prst="roundRect">
            <a:avLst>
              <a:gd name="adj" fmla="val 5556"/>
            </a:avLst>
          </a:prstGeom>
          <a:solidFill>
            <a:srgbClr val="FFFFFF"/>
          </a:solidFill>
          <a:ln w="9525">
            <a:solidFill>
              <a:srgbClr val="0891B2">
                <a:alpha val="55000"/>
              </a:srgbClr>
            </a:solidFill>
            <a:prstDash val="solid"/>
          </a:ln>
        </p:spPr>
      </p:sp>
      <p:sp>
        <p:nvSpPr>
          <p:cNvPr id="26" name="Shape 24"/>
          <p:cNvSpPr/>
          <p:nvPr/>
        </p:nvSpPr>
        <p:spPr>
          <a:xfrm>
            <a:off x="3264408" y="3008376"/>
            <a:ext cx="45720" cy="292608"/>
          </a:xfrm>
          <a:prstGeom prst="rect">
            <a:avLst/>
          </a:prstGeom>
          <a:solidFill>
            <a:srgbClr val="0891B2"/>
          </a:solidFill>
          <a:ln w="12700">
            <a:solidFill>
              <a:srgbClr val="0891B2">
                <a:alpha val="0"/>
              </a:srgbClr>
            </a:solidFill>
            <a:prstDash val="solid"/>
          </a:ln>
        </p:spPr>
      </p:sp>
      <p:sp>
        <p:nvSpPr>
          <p:cNvPr id="27" name="Text 25"/>
          <p:cNvSpPr txBox="1"/>
          <p:nvPr/>
        </p:nvSpPr>
        <p:spPr>
          <a:xfrm>
            <a:off x="3410712" y="297180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Equity goal not measurable</a:t>
            </a:r>
            <a:endParaRPr lang="en-US" sz="1300" dirty="0"/>
          </a:p>
        </p:txBody>
      </p:sp>
      <p:sp>
        <p:nvSpPr>
          <p:cNvPr id="28" name="Text 26"/>
          <p:cNvSpPr txBox="1"/>
          <p:nvPr/>
        </p:nvSpPr>
        <p:spPr>
          <a:xfrm>
            <a:off x="3410712" y="3319272"/>
            <a:ext cx="2359152" cy="1115568"/>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Module 1's Medicaid-vs-private gap needs an insurance field the dataset lacks.</a:t>
            </a:r>
            <a:endParaRPr lang="en-US" sz="1100" dirty="0"/>
          </a:p>
        </p:txBody>
      </p:sp>
      <p:sp>
        <p:nvSpPr>
          <p:cNvPr id="29" name="Shape 27"/>
          <p:cNvSpPr/>
          <p:nvPr/>
        </p:nvSpPr>
        <p:spPr>
          <a:xfrm>
            <a:off x="6035040" y="2880360"/>
            <a:ext cx="2651760" cy="1645920"/>
          </a:xfrm>
          <a:prstGeom prst="roundRect">
            <a:avLst>
              <a:gd name="adj" fmla="val 5556"/>
            </a:avLst>
          </a:prstGeom>
          <a:solidFill>
            <a:srgbClr val="FFFFFF"/>
          </a:solidFill>
          <a:ln w="9525">
            <a:solidFill>
              <a:srgbClr val="0891B2">
                <a:alpha val="55000"/>
              </a:srgbClr>
            </a:solidFill>
            <a:prstDash val="solid"/>
          </a:ln>
        </p:spPr>
      </p:sp>
      <p:sp>
        <p:nvSpPr>
          <p:cNvPr id="30" name="Shape 28"/>
          <p:cNvSpPr/>
          <p:nvPr/>
        </p:nvSpPr>
        <p:spPr>
          <a:xfrm>
            <a:off x="6053328" y="3008376"/>
            <a:ext cx="45720" cy="292608"/>
          </a:xfrm>
          <a:prstGeom prst="rect">
            <a:avLst/>
          </a:prstGeom>
          <a:solidFill>
            <a:srgbClr val="0891B2"/>
          </a:solidFill>
          <a:ln w="12700">
            <a:solidFill>
              <a:srgbClr val="0891B2">
                <a:alpha val="0"/>
              </a:srgbClr>
            </a:solidFill>
            <a:prstDash val="solid"/>
          </a:ln>
        </p:spPr>
      </p:sp>
      <p:sp>
        <p:nvSpPr>
          <p:cNvPr id="31" name="Text 29"/>
          <p:cNvSpPr txBox="1"/>
          <p:nvPr/>
        </p:nvSpPr>
        <p:spPr>
          <a:xfrm>
            <a:off x="6199632" y="297180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Associations, not causes</a:t>
            </a:r>
            <a:endParaRPr lang="en-US" sz="1300" dirty="0"/>
          </a:p>
        </p:txBody>
      </p:sp>
      <p:sp>
        <p:nvSpPr>
          <p:cNvPr id="32" name="Text 30"/>
          <p:cNvSpPr txBox="1"/>
          <p:nvPr/>
        </p:nvSpPr>
        <p:spPr>
          <a:xfrm>
            <a:off x="6199632" y="3319272"/>
            <a:ext cx="2359152" cy="1115568"/>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A short window cannot show seasonal change or prove that any action changes attendance.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Transparency and ethics: what the system will and will not do</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13</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Ethical Charter and governance from Module 1; privacy plan from Modules 2-3</a:t>
            </a:r>
            <a:endParaRPr lang="en-US" sz="1000" dirty="0"/>
          </a:p>
        </p:txBody>
      </p:sp>
      <p:sp>
        <p:nvSpPr>
          <p:cNvPr id="10" name="Shape 8"/>
          <p:cNvSpPr/>
          <p:nvPr/>
        </p:nvSpPr>
        <p:spPr>
          <a:xfrm>
            <a:off x="457200" y="1097280"/>
            <a:ext cx="3977640" cy="1463040"/>
          </a:xfrm>
          <a:prstGeom prst="roundRect">
            <a:avLst>
              <a:gd name="adj" fmla="val 6250"/>
            </a:avLst>
          </a:prstGeom>
          <a:solidFill>
            <a:srgbClr val="E8F8F2"/>
          </a:solidFill>
          <a:ln w="9525">
            <a:solidFill>
              <a:srgbClr val="059669">
                <a:alpha val="55000"/>
              </a:srgbClr>
            </a:solidFill>
            <a:prstDash val="solid"/>
          </a:ln>
        </p:spPr>
      </p:sp>
      <p:sp>
        <p:nvSpPr>
          <p:cNvPr id="11" name="Shape 9"/>
          <p:cNvSpPr/>
          <p:nvPr/>
        </p:nvSpPr>
        <p:spPr>
          <a:xfrm>
            <a:off x="475488" y="1225296"/>
            <a:ext cx="45720" cy="292608"/>
          </a:xfrm>
          <a:prstGeom prst="rect">
            <a:avLst/>
          </a:prstGeom>
          <a:solidFill>
            <a:srgbClr val="059669"/>
          </a:solidFill>
          <a:ln w="12700">
            <a:solidFill>
              <a:srgbClr val="059669">
                <a:alpha val="0"/>
              </a:srgbClr>
            </a:solidFill>
            <a:prstDash val="solid"/>
          </a:ln>
        </p:spPr>
      </p:sp>
      <p:sp>
        <p:nvSpPr>
          <p:cNvPr id="12" name="Text 10"/>
          <p:cNvSpPr txBox="1"/>
          <p:nvPr/>
        </p:nvSpPr>
        <p:spPr>
          <a:xfrm>
            <a:off x="621792" y="1188720"/>
            <a:ext cx="3703320" cy="320040"/>
          </a:xfrm>
          <a:prstGeom prst="rect">
            <a:avLst/>
          </a:prstGeom>
          <a:noFill/>
          <a:ln/>
        </p:spPr>
        <p:txBody>
          <a:bodyPr wrap="square" lIns="0" tIns="0" rIns="0" bIns="0" rtlCol="0" anchor="t"/>
          <a:lstStyle/>
          <a:p>
            <a:pPr indent="0" marL="0">
              <a:buNone/>
            </a:pPr>
            <a:r>
              <a:rPr lang="en-US" sz="1400" b="1" dirty="0">
                <a:solidFill>
                  <a:srgbClr val="059669"/>
                </a:solidFill>
                <a:latin typeface="Calibri" pitchFamily="34" charset="0"/>
                <a:ea typeface="Calibri" pitchFamily="34" charset="-122"/>
                <a:cs typeface="Calibri" pitchFamily="34" charset="-120"/>
              </a:rPr>
              <a:t>Transparency statement</a:t>
            </a:r>
            <a:endParaRPr lang="en-US" sz="1400" dirty="0"/>
          </a:p>
        </p:txBody>
      </p:sp>
      <p:sp>
        <p:nvSpPr>
          <p:cNvPr id="13" name="Text 11"/>
          <p:cNvSpPr txBox="1"/>
          <p:nvPr/>
        </p:nvSpPr>
        <p:spPr>
          <a:xfrm>
            <a:off x="621792" y="1536192"/>
            <a:ext cx="3685032" cy="93268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CareConnect is decision support only. It never denies, delays or restricts care, never penalises a patient, and never schedules or contacts anyone automatically.</a:t>
            </a:r>
            <a:endParaRPr lang="en-US" sz="1200" dirty="0"/>
          </a:p>
        </p:txBody>
      </p:sp>
      <p:sp>
        <p:nvSpPr>
          <p:cNvPr id="14" name="Shape 12"/>
          <p:cNvSpPr/>
          <p:nvPr/>
        </p:nvSpPr>
        <p:spPr>
          <a:xfrm>
            <a:off x="4709160" y="1097280"/>
            <a:ext cx="3977640" cy="1463040"/>
          </a:xfrm>
          <a:prstGeom prst="roundRect">
            <a:avLst>
              <a:gd name="adj" fmla="val 6250"/>
            </a:avLst>
          </a:prstGeom>
          <a:solidFill>
            <a:srgbClr val="FFFFFF"/>
          </a:solidFill>
          <a:ln w="9525">
            <a:solidFill>
              <a:srgbClr val="0891B2">
                <a:alpha val="55000"/>
              </a:srgbClr>
            </a:solidFill>
            <a:prstDash val="solid"/>
          </a:ln>
        </p:spPr>
      </p:sp>
      <p:sp>
        <p:nvSpPr>
          <p:cNvPr id="15" name="Shape 13"/>
          <p:cNvSpPr/>
          <p:nvPr/>
        </p:nvSpPr>
        <p:spPr>
          <a:xfrm>
            <a:off x="4727448" y="1225296"/>
            <a:ext cx="45720" cy="292608"/>
          </a:xfrm>
          <a:prstGeom prst="rect">
            <a:avLst/>
          </a:prstGeom>
          <a:solidFill>
            <a:srgbClr val="0891B2"/>
          </a:solidFill>
          <a:ln w="12700">
            <a:solidFill>
              <a:srgbClr val="0891B2">
                <a:alpha val="0"/>
              </a:srgbClr>
            </a:solidFill>
            <a:prstDash val="solid"/>
          </a:ln>
        </p:spPr>
      </p:sp>
      <p:sp>
        <p:nvSpPr>
          <p:cNvPr id="16" name="Text 14"/>
          <p:cNvSpPr txBox="1"/>
          <p:nvPr/>
        </p:nvSpPr>
        <p:spPr>
          <a:xfrm>
            <a:off x="4873752" y="1188720"/>
            <a:ext cx="370332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Can do / cannot do</a:t>
            </a:r>
            <a:endParaRPr lang="en-US" sz="1400" dirty="0"/>
          </a:p>
        </p:txBody>
      </p:sp>
      <p:sp>
        <p:nvSpPr>
          <p:cNvPr id="17" name="Text 15"/>
          <p:cNvSpPr txBox="1"/>
          <p:nvPr/>
        </p:nvSpPr>
        <p:spPr>
          <a:xfrm>
            <a:off x="4873752" y="1536192"/>
            <a:ext cx="3685032" cy="93268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Can: rank appointments by risk and show reasons.</a:t>
            </a:r>
            <a:endParaRPr lang="en-US" sz="1200" dirty="0"/>
          </a:p>
          <a:p>
            <a:pPr indent="0" marL="0">
              <a:spcAft>
                <a:spcPts val="300"/>
              </a:spcAft>
              <a:buNone/>
            </a:pPr>
            <a:r>
              <a:rPr lang="en-US" sz="1200" dirty="0">
                <a:solidFill>
                  <a:srgbClr val="0F172A"/>
                </a:solidFill>
              </a:rPr>
              <a:t>Cannot: diagnose, explain causes, or decide who is offered what.</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8229600" cy="914400"/>
        </p:xfrm>
        <a:graphic>
          <a:graphicData uri="http://schemas.openxmlformats.org/drawingml/2006/table">
            <a:tbl>
              <a:tblPr/>
              <a:tblGrid>
                <a:gridCol w="2377440"/>
                <a:gridCol w="5852160"/>
              </a:tblGrid>
              <a:tr h="384048">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Charter principle</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How it appears in this work</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38404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Beneficence / Non-maleficence</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Outputs trigger supportive offers only; fairness gaps are published, including the failures.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Autonomy / Privacy</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IDs are hashed, appointment IDs dropped, opt-out honoured, no personal data in the repository.</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Justice</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The equity limit (0.05) is a halt condition; the age-group breach is reported, not hidden.</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Human accountability</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Every outreach is a documented human decision; the Ethics Committee holds a veto.</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Business implications: what the findings mean for operations</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14</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Per 1,000 booked appointments, using the unseen test-set rates. Illustrative; CrescentCare's own rates may differ.</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651760"/>
                <a:gridCol w="5577840"/>
              </a:tblGrid>
              <a:tr h="548640">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What it means for the business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54864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Lead time is the biggest factor</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Visits booked a month or more ahead are missed 33% of the time, same-day ones 5%. Booking windows are linked to attendance in the data.</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Flagged lists include many false alarms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Per 1,000 appointments, about 202 are real no-shows. The standard rule flags 392, of which about 137 are real; roughly 255 flagged patients would have attended anyway.</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Fairness fixes change workload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The equalized-odds rule flags about 602 per 1,000 (about 170 real), so outreach volume rises by roughly 210 appointments per 1,000.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Equity and efficiency pull apart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The rule that catches no-shows most efficiently is the one that flags older patients least.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Impact is unproven</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Savings depend on whether outreach changes attendance, which only a pilot can show.</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Possible next steps for stakeholder discussion (not a recommendation)</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15</a:t>
            </a:r>
            <a:endParaRPr lang="en-US" sz="1000" dirty="0"/>
          </a:p>
        </p:txBody>
      </p:sp>
      <p:sp>
        <p:nvSpPr>
          <p:cNvPr id="9" name="Shape 7"/>
          <p:cNvSpPr/>
          <p:nvPr/>
        </p:nvSpPr>
        <p:spPr>
          <a:xfrm>
            <a:off x="457200" y="1051560"/>
            <a:ext cx="2651760" cy="1298448"/>
          </a:xfrm>
          <a:prstGeom prst="roundRect">
            <a:avLst>
              <a:gd name="adj" fmla="val 7042"/>
            </a:avLst>
          </a:prstGeom>
          <a:solidFill>
            <a:srgbClr val="FFFFFF"/>
          </a:solidFill>
          <a:ln w="9525">
            <a:solidFill>
              <a:srgbClr val="0891B2">
                <a:alpha val="55000"/>
              </a:srgbClr>
            </a:solidFill>
            <a:prstDash val="solid"/>
          </a:ln>
        </p:spPr>
      </p:sp>
      <p:sp>
        <p:nvSpPr>
          <p:cNvPr id="10" name="Shape 8"/>
          <p:cNvSpPr/>
          <p:nvPr/>
        </p:nvSpPr>
        <p:spPr>
          <a:xfrm>
            <a:off x="475488" y="1179576"/>
            <a:ext cx="45720" cy="292608"/>
          </a:xfrm>
          <a:prstGeom prst="rect">
            <a:avLst/>
          </a:prstGeom>
          <a:solidFill>
            <a:srgbClr val="0891B2"/>
          </a:solidFill>
          <a:ln w="12700">
            <a:solidFill>
              <a:srgbClr val="0891B2">
                <a:alpha val="0"/>
              </a:srgbClr>
            </a:solidFill>
            <a:prstDash val="solid"/>
          </a:ln>
        </p:spPr>
      </p:sp>
      <p:sp>
        <p:nvSpPr>
          <p:cNvPr id="11" name="Text 9"/>
          <p:cNvSpPr txBox="1"/>
          <p:nvPr/>
        </p:nvSpPr>
        <p:spPr>
          <a:xfrm>
            <a:off x="621792" y="114300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Local validation</a:t>
            </a:r>
            <a:endParaRPr lang="en-US" sz="1300" dirty="0"/>
          </a:p>
        </p:txBody>
      </p:sp>
      <p:sp>
        <p:nvSpPr>
          <p:cNvPr id="12" name="Text 10"/>
          <p:cNvSpPr txBox="1"/>
          <p:nvPr/>
        </p:nvSpPr>
        <p:spPr>
          <a:xfrm>
            <a:off x="621792" y="1490472"/>
            <a:ext cx="2359152" cy="768096"/>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Test the model on a CrescentCare EHR sample (Module 2 assumption A-1) before relying on any score.</a:t>
            </a:r>
            <a:endParaRPr lang="en-US" sz="1100" dirty="0"/>
          </a:p>
        </p:txBody>
      </p:sp>
      <p:sp>
        <p:nvSpPr>
          <p:cNvPr id="13" name="Shape 11"/>
          <p:cNvSpPr/>
          <p:nvPr/>
        </p:nvSpPr>
        <p:spPr>
          <a:xfrm>
            <a:off x="3246120" y="1051560"/>
            <a:ext cx="2651760" cy="1298448"/>
          </a:xfrm>
          <a:prstGeom prst="roundRect">
            <a:avLst>
              <a:gd name="adj" fmla="val 7042"/>
            </a:avLst>
          </a:prstGeom>
          <a:solidFill>
            <a:srgbClr val="FFFFFF"/>
          </a:solidFill>
          <a:ln w="9525">
            <a:solidFill>
              <a:srgbClr val="0891B2">
                <a:alpha val="55000"/>
              </a:srgbClr>
            </a:solidFill>
            <a:prstDash val="solid"/>
          </a:ln>
        </p:spPr>
      </p:sp>
      <p:sp>
        <p:nvSpPr>
          <p:cNvPr id="14" name="Shape 12"/>
          <p:cNvSpPr/>
          <p:nvPr/>
        </p:nvSpPr>
        <p:spPr>
          <a:xfrm>
            <a:off x="3264408" y="1179576"/>
            <a:ext cx="45720" cy="292608"/>
          </a:xfrm>
          <a:prstGeom prst="rect">
            <a:avLst/>
          </a:prstGeom>
          <a:solidFill>
            <a:srgbClr val="0891B2"/>
          </a:solidFill>
          <a:ln w="12700">
            <a:solidFill>
              <a:srgbClr val="0891B2">
                <a:alpha val="0"/>
              </a:srgbClr>
            </a:solidFill>
            <a:prstDash val="solid"/>
          </a:ln>
        </p:spPr>
      </p:sp>
      <p:sp>
        <p:nvSpPr>
          <p:cNvPr id="15" name="Text 13"/>
          <p:cNvSpPr txBox="1"/>
          <p:nvPr/>
        </p:nvSpPr>
        <p:spPr>
          <a:xfrm>
            <a:off x="3410712" y="114300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Fairness decision</a:t>
            </a:r>
            <a:endParaRPr lang="en-US" sz="1300" dirty="0"/>
          </a:p>
        </p:txBody>
      </p:sp>
      <p:sp>
        <p:nvSpPr>
          <p:cNvPr id="16" name="Text 14"/>
          <p:cNvSpPr txBox="1"/>
          <p:nvPr/>
        </p:nvSpPr>
        <p:spPr>
          <a:xfrm>
            <a:off x="3410712" y="1490472"/>
            <a:ext cx="2359152" cy="768096"/>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The Ethics Committee weighs options A and B (slide 11) against coordinator capacity.</a:t>
            </a:r>
            <a:endParaRPr lang="en-US" sz="1100" dirty="0"/>
          </a:p>
        </p:txBody>
      </p:sp>
      <p:sp>
        <p:nvSpPr>
          <p:cNvPr id="17" name="Shape 15"/>
          <p:cNvSpPr/>
          <p:nvPr/>
        </p:nvSpPr>
        <p:spPr>
          <a:xfrm>
            <a:off x="6035040" y="1051560"/>
            <a:ext cx="2651760" cy="1298448"/>
          </a:xfrm>
          <a:prstGeom prst="roundRect">
            <a:avLst>
              <a:gd name="adj" fmla="val 7042"/>
            </a:avLst>
          </a:prstGeom>
          <a:solidFill>
            <a:srgbClr val="FFFFFF"/>
          </a:solidFill>
          <a:ln w="9525">
            <a:solidFill>
              <a:srgbClr val="0891B2">
                <a:alpha val="55000"/>
              </a:srgbClr>
            </a:solidFill>
            <a:prstDash val="solid"/>
          </a:ln>
        </p:spPr>
      </p:sp>
      <p:sp>
        <p:nvSpPr>
          <p:cNvPr id="18" name="Shape 16"/>
          <p:cNvSpPr/>
          <p:nvPr/>
        </p:nvSpPr>
        <p:spPr>
          <a:xfrm>
            <a:off x="6053328" y="1179576"/>
            <a:ext cx="45720" cy="292608"/>
          </a:xfrm>
          <a:prstGeom prst="rect">
            <a:avLst/>
          </a:prstGeom>
          <a:solidFill>
            <a:srgbClr val="0891B2"/>
          </a:solidFill>
          <a:ln w="12700">
            <a:solidFill>
              <a:srgbClr val="0891B2">
                <a:alpha val="0"/>
              </a:srgbClr>
            </a:solidFill>
            <a:prstDash val="solid"/>
          </a:ln>
        </p:spPr>
      </p:sp>
      <p:sp>
        <p:nvSpPr>
          <p:cNvPr id="19" name="Text 17"/>
          <p:cNvSpPr txBox="1"/>
          <p:nvPr/>
        </p:nvSpPr>
        <p:spPr>
          <a:xfrm>
            <a:off x="6199632" y="114300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Measure the equity goal</a:t>
            </a:r>
            <a:endParaRPr lang="en-US" sz="1300" dirty="0"/>
          </a:p>
        </p:txBody>
      </p:sp>
      <p:sp>
        <p:nvSpPr>
          <p:cNvPr id="20" name="Text 18"/>
          <p:cNvSpPr txBox="1"/>
          <p:nvPr/>
        </p:nvSpPr>
        <p:spPr>
          <a:xfrm>
            <a:off x="6199632" y="1490472"/>
            <a:ext cx="2359152" cy="768096"/>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Add an insurance-type field so Module 1's Medicaid-vs-private gap can be tracked directly.</a:t>
            </a:r>
            <a:endParaRPr lang="en-US" sz="1100" dirty="0"/>
          </a:p>
        </p:txBody>
      </p:sp>
      <p:sp>
        <p:nvSpPr>
          <p:cNvPr id="21" name="Shape 19"/>
          <p:cNvSpPr/>
          <p:nvPr/>
        </p:nvSpPr>
        <p:spPr>
          <a:xfrm>
            <a:off x="457200" y="2468880"/>
            <a:ext cx="2651760" cy="1298448"/>
          </a:xfrm>
          <a:prstGeom prst="roundRect">
            <a:avLst>
              <a:gd name="adj" fmla="val 7042"/>
            </a:avLst>
          </a:prstGeom>
          <a:solidFill>
            <a:srgbClr val="FFFFFF"/>
          </a:solidFill>
          <a:ln w="9525">
            <a:solidFill>
              <a:srgbClr val="0891B2">
                <a:alpha val="55000"/>
              </a:srgbClr>
            </a:solidFill>
            <a:prstDash val="solid"/>
          </a:ln>
        </p:spPr>
      </p:sp>
      <p:sp>
        <p:nvSpPr>
          <p:cNvPr id="22" name="Shape 20"/>
          <p:cNvSpPr/>
          <p:nvPr/>
        </p:nvSpPr>
        <p:spPr>
          <a:xfrm>
            <a:off x="475488" y="2596896"/>
            <a:ext cx="45720" cy="292608"/>
          </a:xfrm>
          <a:prstGeom prst="rect">
            <a:avLst/>
          </a:prstGeom>
          <a:solidFill>
            <a:srgbClr val="0891B2"/>
          </a:solidFill>
          <a:ln w="12700">
            <a:solidFill>
              <a:srgbClr val="0891B2">
                <a:alpha val="0"/>
              </a:srgbClr>
            </a:solidFill>
            <a:prstDash val="solid"/>
          </a:ln>
        </p:spPr>
      </p:sp>
      <p:sp>
        <p:nvSpPr>
          <p:cNvPr id="23" name="Text 21"/>
          <p:cNvSpPr txBox="1"/>
          <p:nvPr/>
        </p:nvSpPr>
        <p:spPr>
          <a:xfrm>
            <a:off x="621792" y="256032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Design a pilot</a:t>
            </a:r>
            <a:endParaRPr lang="en-US" sz="1300" dirty="0"/>
          </a:p>
        </p:txBody>
      </p:sp>
      <p:sp>
        <p:nvSpPr>
          <p:cNvPr id="24" name="Text 22"/>
          <p:cNvSpPr txBox="1"/>
          <p:nvPr/>
        </p:nvSpPr>
        <p:spPr>
          <a:xfrm>
            <a:off x="621792" y="2907792"/>
            <a:ext cx="2359152" cy="768096"/>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Define what outreach is offered, to whom, and how attendance and fairness are measured.</a:t>
            </a:r>
            <a:endParaRPr lang="en-US" sz="1100" dirty="0"/>
          </a:p>
        </p:txBody>
      </p:sp>
      <p:sp>
        <p:nvSpPr>
          <p:cNvPr id="25" name="Shape 23"/>
          <p:cNvSpPr/>
          <p:nvPr/>
        </p:nvSpPr>
        <p:spPr>
          <a:xfrm>
            <a:off x="3246120" y="2468880"/>
            <a:ext cx="2651760" cy="1298448"/>
          </a:xfrm>
          <a:prstGeom prst="roundRect">
            <a:avLst>
              <a:gd name="adj" fmla="val 7042"/>
            </a:avLst>
          </a:prstGeom>
          <a:solidFill>
            <a:srgbClr val="FFFFFF"/>
          </a:solidFill>
          <a:ln w="9525">
            <a:solidFill>
              <a:srgbClr val="0891B2">
                <a:alpha val="55000"/>
              </a:srgbClr>
            </a:solidFill>
            <a:prstDash val="solid"/>
          </a:ln>
        </p:spPr>
      </p:sp>
      <p:sp>
        <p:nvSpPr>
          <p:cNvPr id="26" name="Shape 24"/>
          <p:cNvSpPr/>
          <p:nvPr/>
        </p:nvSpPr>
        <p:spPr>
          <a:xfrm>
            <a:off x="3264408" y="2596896"/>
            <a:ext cx="45720" cy="292608"/>
          </a:xfrm>
          <a:prstGeom prst="rect">
            <a:avLst/>
          </a:prstGeom>
          <a:solidFill>
            <a:srgbClr val="0891B2"/>
          </a:solidFill>
          <a:ln w="12700">
            <a:solidFill>
              <a:srgbClr val="0891B2">
                <a:alpha val="0"/>
              </a:srgbClr>
            </a:solidFill>
            <a:prstDash val="solid"/>
          </a:ln>
        </p:spPr>
      </p:sp>
      <p:sp>
        <p:nvSpPr>
          <p:cNvPr id="27" name="Text 25"/>
          <p:cNvSpPr txBox="1"/>
          <p:nvPr/>
        </p:nvSpPr>
        <p:spPr>
          <a:xfrm>
            <a:off x="3410712" y="256032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Close the F1 gap</a:t>
            </a:r>
            <a:endParaRPr lang="en-US" sz="1300" dirty="0"/>
          </a:p>
        </p:txBody>
      </p:sp>
      <p:sp>
        <p:nvSpPr>
          <p:cNvPr id="28" name="Text 26"/>
          <p:cNvSpPr txBox="1"/>
          <p:nvPr/>
        </p:nvSpPr>
        <p:spPr>
          <a:xfrm>
            <a:off x="3410712" y="2907792"/>
            <a:ext cx="2359152" cy="768096"/>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Review whether the 0.55 F1 target is realistic for this data, or improve features.</a:t>
            </a:r>
            <a:endParaRPr lang="en-US" sz="1100" dirty="0"/>
          </a:p>
        </p:txBody>
      </p:sp>
      <p:sp>
        <p:nvSpPr>
          <p:cNvPr id="29" name="Shape 27"/>
          <p:cNvSpPr/>
          <p:nvPr/>
        </p:nvSpPr>
        <p:spPr>
          <a:xfrm>
            <a:off x="6035040" y="2468880"/>
            <a:ext cx="2651760" cy="1298448"/>
          </a:xfrm>
          <a:prstGeom prst="roundRect">
            <a:avLst>
              <a:gd name="adj" fmla="val 7042"/>
            </a:avLst>
          </a:prstGeom>
          <a:solidFill>
            <a:srgbClr val="FFFFFF"/>
          </a:solidFill>
          <a:ln w="9525">
            <a:solidFill>
              <a:srgbClr val="0891B2">
                <a:alpha val="55000"/>
              </a:srgbClr>
            </a:solidFill>
            <a:prstDash val="solid"/>
          </a:ln>
        </p:spPr>
      </p:sp>
      <p:sp>
        <p:nvSpPr>
          <p:cNvPr id="30" name="Shape 28"/>
          <p:cNvSpPr/>
          <p:nvPr/>
        </p:nvSpPr>
        <p:spPr>
          <a:xfrm>
            <a:off x="6053328" y="2596896"/>
            <a:ext cx="45720" cy="292608"/>
          </a:xfrm>
          <a:prstGeom prst="rect">
            <a:avLst/>
          </a:prstGeom>
          <a:solidFill>
            <a:srgbClr val="0891B2"/>
          </a:solidFill>
          <a:ln w="12700">
            <a:solidFill>
              <a:srgbClr val="0891B2">
                <a:alpha val="0"/>
              </a:srgbClr>
            </a:solidFill>
            <a:prstDash val="solid"/>
          </a:ln>
        </p:spPr>
      </p:sp>
      <p:sp>
        <p:nvSpPr>
          <p:cNvPr id="31" name="Text 29"/>
          <p:cNvSpPr txBox="1"/>
          <p:nvPr/>
        </p:nvSpPr>
        <p:spPr>
          <a:xfrm>
            <a:off x="6199632" y="2560320"/>
            <a:ext cx="2377440" cy="320040"/>
          </a:xfrm>
          <a:prstGeom prst="rect">
            <a:avLst/>
          </a:prstGeom>
          <a:noFill/>
          <a:ln/>
        </p:spPr>
        <p:txBody>
          <a:bodyPr wrap="square" lIns="0" tIns="0" rIns="0" bIns="0" rtlCol="0" anchor="t"/>
          <a:lstStyle/>
          <a:p>
            <a:pPr indent="0" marL="0">
              <a:buNone/>
            </a:pPr>
            <a:r>
              <a:rPr lang="en-US" sz="1300" b="1" dirty="0">
                <a:solidFill>
                  <a:srgbClr val="0891B2"/>
                </a:solidFill>
                <a:latin typeface="Calibri" pitchFamily="34" charset="0"/>
                <a:ea typeface="Calibri" pitchFamily="34" charset="-122"/>
                <a:cs typeface="Calibri" pitchFamily="34" charset="-120"/>
              </a:rPr>
              <a:t>Monitor after launch</a:t>
            </a:r>
            <a:endParaRPr lang="en-US" sz="1300" dirty="0"/>
          </a:p>
        </p:txBody>
      </p:sp>
      <p:sp>
        <p:nvSpPr>
          <p:cNvPr id="32" name="Text 30"/>
          <p:cNvSpPr txBox="1"/>
          <p:nvPr/>
        </p:nvSpPr>
        <p:spPr>
          <a:xfrm>
            <a:off x="6199632" y="2907792"/>
            <a:ext cx="2359152" cy="768096"/>
          </a:xfrm>
          <a:prstGeom prst="rect">
            <a:avLst/>
          </a:prstGeom>
          <a:noFill/>
          <a:ln/>
        </p:spPr>
        <p:txBody>
          <a:bodyPr wrap="square" lIns="0" tIns="0" rIns="0" bIns="0" rtlCol="0" anchor="t"/>
          <a:lstStyle/>
          <a:p>
            <a:pPr indent="0" marL="0">
              <a:spcAft>
                <a:spcPts val="300"/>
              </a:spcAft>
              <a:buNone/>
            </a:pPr>
            <a:r>
              <a:rPr lang="en-US" sz="1100" dirty="0">
                <a:solidFill>
                  <a:srgbClr val="0F172A"/>
                </a:solidFill>
              </a:rPr>
              <a:t>Track score drift and group gaps monthly, with the halt rule from the Charter.</a:t>
            </a:r>
            <a:endParaRPr lang="en-US" sz="1100" dirty="0"/>
          </a:p>
        </p:txBody>
      </p:sp>
      <p:sp>
        <p:nvSpPr>
          <p:cNvPr id="33" name="Shape 31"/>
          <p:cNvSpPr/>
          <p:nvPr/>
        </p:nvSpPr>
        <p:spPr>
          <a:xfrm>
            <a:off x="457200" y="3931920"/>
            <a:ext cx="8229600" cy="731520"/>
          </a:xfrm>
          <a:prstGeom prst="roundRect">
            <a:avLst>
              <a:gd name="adj" fmla="val 12500"/>
            </a:avLst>
          </a:prstGeom>
          <a:solidFill>
            <a:srgbClr val="FFFFFF"/>
          </a:solidFill>
          <a:ln w="12700">
            <a:solidFill>
              <a:srgbClr val="0891B2">
                <a:alpha val="60000"/>
              </a:srgbClr>
            </a:solidFill>
            <a:prstDash val="solid"/>
          </a:ln>
        </p:spPr>
      </p:sp>
      <p:sp>
        <p:nvSpPr>
          <p:cNvPr id="34" name="Text 32"/>
          <p:cNvSpPr txBox="1"/>
          <p:nvPr/>
        </p:nvSpPr>
        <p:spPr>
          <a:xfrm>
            <a:off x="640080" y="3950208"/>
            <a:ext cx="7863840" cy="694944"/>
          </a:xfrm>
          <a:prstGeom prst="rect">
            <a:avLst/>
          </a:prstGeom>
          <a:noFill/>
          <a:ln/>
        </p:spPr>
        <p:txBody>
          <a:bodyPr wrap="square" lIns="0" tIns="0" rIns="0" bIns="0" rtlCol="0" anchor="ctr"/>
          <a:lstStyle/>
          <a:p>
            <a:pPr indent="0" marL="0">
              <a:buNone/>
            </a:pPr>
            <a:r>
              <a:rPr lang="en-US" sz="1200" b="1" dirty="0">
                <a:solidFill>
                  <a:srgbClr val="D97706"/>
                </a:solidFill>
              </a:rPr>
              <a:t>Explore it yourself:  </a:t>
            </a:r>
            <a:pPr indent="0" marL="0">
              <a:buNone/>
            </a:pPr>
            <a:r>
              <a:rPr lang="en-US" sz="1200" u="sng" dirty="0">
                <a:solidFill>
                  <a:srgbClr val="0891B2"/>
                </a:solidFill>
                <a:hlinkClick r:id="rId1" invalidUrl="" action="" tgtFrame="" tooltip="" history="1" highlightClick="0" endSnd="0">
                  <a:extLst>
                    <a:ext uri="{A12FA001-AC4F-418D-AE19-62706E023703}">
                      <ahyp:hlinkClr xmlns:ahyp="http://schemas.microsoft.com/office/drawing/2018/hyperlinkcolor" val="tx"/>
                    </a:ext>
                  </a:extLst>
                </a:hlinkClick>
              </a:rPr>
              <a:t>https://YOUR-APP-NAME.streamlit.app</a:t>
            </a:r>
            <a:pPr indent="0" marL="0">
              <a:buNone/>
            </a:pPr>
            <a:r>
              <a:rPr lang="en-US" sz="1200" dirty="0">
                <a:solidFill>
                  <a:srgbClr val="64748B"/>
                </a:solidFill>
              </a:rPr>
              <a:t>   |   Six pages: results, drivers, risk explorer with what-if, ethical compliance dashboard, limitations.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Shape 2"/>
          <p:cNvSpPr/>
          <p:nvPr/>
        </p:nvSpPr>
        <p:spPr>
          <a:xfrm>
            <a:off x="5029200" y="548640"/>
            <a:ext cx="4572000" cy="4572000"/>
          </a:xfrm>
          <a:prstGeom prst="ellipse">
            <a:avLst/>
          </a:prstGeom>
          <a:solidFill>
            <a:srgbClr val="0891B2">
              <a:alpha val="14000"/>
            </a:srgbClr>
          </a:solidFill>
          <a:ln w="12700">
            <a:solidFill>
              <a:srgbClr val="0891B2">
                <a:alpha val="0"/>
              </a:srgbClr>
            </a:solidFill>
            <a:prstDash val="solid"/>
          </a:ln>
        </p:spPr>
      </p:sp>
      <p:sp>
        <p:nvSpPr>
          <p:cNvPr id="5" name="Shape 3"/>
          <p:cNvSpPr/>
          <p:nvPr/>
        </p:nvSpPr>
        <p:spPr>
          <a:xfrm>
            <a:off x="7315200" y="2743200"/>
            <a:ext cx="3200400" cy="3200400"/>
          </a:xfrm>
          <a:prstGeom prst="ellipse">
            <a:avLst/>
          </a:prstGeom>
          <a:solidFill>
            <a:srgbClr val="DB2777">
              <a:alpha val="10000"/>
            </a:srgbClr>
          </a:solidFill>
          <a:ln w="12700">
            <a:solidFill>
              <a:srgbClr val="DB2777">
                <a:alpha val="0"/>
              </a:srgbClr>
            </a:solidFill>
            <a:prstDash val="solid"/>
          </a:ln>
        </p:spPr>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16</a:t>
            </a:r>
            <a:endParaRPr lang="en-US" sz="1000" dirty="0"/>
          </a:p>
        </p:txBody>
      </p:sp>
      <p:sp>
        <p:nvSpPr>
          <p:cNvPr id="7" name="Shape 5"/>
          <p:cNvSpPr/>
          <p:nvPr/>
        </p:nvSpPr>
        <p:spPr>
          <a:xfrm flipV="1">
            <a:off x="5760720" y="1440180"/>
            <a:ext cx="975360" cy="342900"/>
          </a:xfrm>
          <a:prstGeom prst="line">
            <a:avLst/>
          </a:prstGeom>
          <a:noFill/>
          <a:ln w="7620">
            <a:solidFill>
              <a:srgbClr val="0891B2">
                <a:alpha val="45000"/>
              </a:srgbClr>
            </a:solidFill>
            <a:prstDash val="solid"/>
          </a:ln>
        </p:spPr>
      </p:sp>
      <p:sp>
        <p:nvSpPr>
          <p:cNvPr id="8" name="Shape 6"/>
          <p:cNvSpPr/>
          <p:nvPr/>
        </p:nvSpPr>
        <p:spPr>
          <a:xfrm>
            <a:off x="5760720" y="1783080"/>
            <a:ext cx="975360" cy="342900"/>
          </a:xfrm>
          <a:prstGeom prst="line">
            <a:avLst/>
          </a:prstGeom>
          <a:noFill/>
          <a:ln w="7620">
            <a:solidFill>
              <a:srgbClr val="0891B2">
                <a:alpha val="45000"/>
              </a:srgbClr>
            </a:solidFill>
            <a:prstDash val="solid"/>
          </a:ln>
        </p:spPr>
      </p:sp>
      <p:sp>
        <p:nvSpPr>
          <p:cNvPr id="9" name="Shape 7"/>
          <p:cNvSpPr/>
          <p:nvPr/>
        </p:nvSpPr>
        <p:spPr>
          <a:xfrm>
            <a:off x="5760720" y="1783080"/>
            <a:ext cx="975360" cy="1028700"/>
          </a:xfrm>
          <a:prstGeom prst="line">
            <a:avLst/>
          </a:prstGeom>
          <a:noFill/>
          <a:ln w="7620">
            <a:solidFill>
              <a:srgbClr val="0891B2">
                <a:alpha val="45000"/>
              </a:srgbClr>
            </a:solidFill>
            <a:prstDash val="solid"/>
          </a:ln>
        </p:spPr>
      </p:sp>
      <p:sp>
        <p:nvSpPr>
          <p:cNvPr id="10" name="Shape 8"/>
          <p:cNvSpPr/>
          <p:nvPr/>
        </p:nvSpPr>
        <p:spPr>
          <a:xfrm>
            <a:off x="5760720" y="1783080"/>
            <a:ext cx="975360" cy="1714500"/>
          </a:xfrm>
          <a:prstGeom prst="line">
            <a:avLst/>
          </a:prstGeom>
          <a:noFill/>
          <a:ln w="7620">
            <a:solidFill>
              <a:srgbClr val="0891B2">
                <a:alpha val="45000"/>
              </a:srgbClr>
            </a:solidFill>
            <a:prstDash val="solid"/>
          </a:ln>
        </p:spPr>
      </p:sp>
      <p:sp>
        <p:nvSpPr>
          <p:cNvPr id="11" name="Shape 9"/>
          <p:cNvSpPr/>
          <p:nvPr/>
        </p:nvSpPr>
        <p:spPr>
          <a:xfrm flipV="1">
            <a:off x="5760720" y="1440180"/>
            <a:ext cx="975360" cy="1714500"/>
          </a:xfrm>
          <a:prstGeom prst="line">
            <a:avLst/>
          </a:prstGeom>
          <a:noFill/>
          <a:ln w="7620">
            <a:solidFill>
              <a:srgbClr val="0891B2">
                <a:alpha val="45000"/>
              </a:srgbClr>
            </a:solidFill>
            <a:prstDash val="solid"/>
          </a:ln>
        </p:spPr>
      </p:sp>
      <p:sp>
        <p:nvSpPr>
          <p:cNvPr id="12" name="Shape 10"/>
          <p:cNvSpPr/>
          <p:nvPr/>
        </p:nvSpPr>
        <p:spPr>
          <a:xfrm flipV="1">
            <a:off x="5760720" y="2125980"/>
            <a:ext cx="975360" cy="1028700"/>
          </a:xfrm>
          <a:prstGeom prst="line">
            <a:avLst/>
          </a:prstGeom>
          <a:noFill/>
          <a:ln w="7620">
            <a:solidFill>
              <a:srgbClr val="0891B2">
                <a:alpha val="45000"/>
              </a:srgbClr>
            </a:solidFill>
            <a:prstDash val="solid"/>
          </a:ln>
        </p:spPr>
      </p:sp>
      <p:sp>
        <p:nvSpPr>
          <p:cNvPr id="13" name="Shape 11"/>
          <p:cNvSpPr/>
          <p:nvPr/>
        </p:nvSpPr>
        <p:spPr>
          <a:xfrm flipV="1">
            <a:off x="5760720" y="2811780"/>
            <a:ext cx="975360" cy="342900"/>
          </a:xfrm>
          <a:prstGeom prst="line">
            <a:avLst/>
          </a:prstGeom>
          <a:noFill/>
          <a:ln w="7620">
            <a:solidFill>
              <a:srgbClr val="0891B2">
                <a:alpha val="45000"/>
              </a:srgbClr>
            </a:solidFill>
            <a:prstDash val="solid"/>
          </a:ln>
        </p:spPr>
      </p:sp>
      <p:sp>
        <p:nvSpPr>
          <p:cNvPr id="14" name="Shape 12"/>
          <p:cNvSpPr/>
          <p:nvPr/>
        </p:nvSpPr>
        <p:spPr>
          <a:xfrm>
            <a:off x="5760720" y="3154680"/>
            <a:ext cx="975360" cy="342900"/>
          </a:xfrm>
          <a:prstGeom prst="line">
            <a:avLst/>
          </a:prstGeom>
          <a:noFill/>
          <a:ln w="7620">
            <a:solidFill>
              <a:srgbClr val="0891B2">
                <a:alpha val="45000"/>
              </a:srgbClr>
            </a:solidFill>
            <a:prstDash val="solid"/>
          </a:ln>
        </p:spPr>
      </p:sp>
      <p:sp>
        <p:nvSpPr>
          <p:cNvPr id="15" name="Shape 13"/>
          <p:cNvSpPr/>
          <p:nvPr/>
        </p:nvSpPr>
        <p:spPr>
          <a:xfrm>
            <a:off x="6736080" y="1440180"/>
            <a:ext cx="975360" cy="914"/>
          </a:xfrm>
          <a:prstGeom prst="line">
            <a:avLst/>
          </a:prstGeom>
          <a:noFill/>
          <a:ln w="7620">
            <a:solidFill>
              <a:srgbClr val="7C3AED">
                <a:alpha val="45000"/>
              </a:srgbClr>
            </a:solidFill>
            <a:prstDash val="solid"/>
          </a:ln>
        </p:spPr>
      </p:sp>
      <p:sp>
        <p:nvSpPr>
          <p:cNvPr id="16" name="Shape 14"/>
          <p:cNvSpPr/>
          <p:nvPr/>
        </p:nvSpPr>
        <p:spPr>
          <a:xfrm>
            <a:off x="6736080" y="1440180"/>
            <a:ext cx="975360" cy="685800"/>
          </a:xfrm>
          <a:prstGeom prst="line">
            <a:avLst/>
          </a:prstGeom>
          <a:noFill/>
          <a:ln w="7620">
            <a:solidFill>
              <a:srgbClr val="7C3AED">
                <a:alpha val="45000"/>
              </a:srgbClr>
            </a:solidFill>
            <a:prstDash val="solid"/>
          </a:ln>
        </p:spPr>
      </p:sp>
      <p:sp>
        <p:nvSpPr>
          <p:cNvPr id="17" name="Shape 15"/>
          <p:cNvSpPr/>
          <p:nvPr/>
        </p:nvSpPr>
        <p:spPr>
          <a:xfrm>
            <a:off x="6736080" y="1440180"/>
            <a:ext cx="975360" cy="1371600"/>
          </a:xfrm>
          <a:prstGeom prst="line">
            <a:avLst/>
          </a:prstGeom>
          <a:noFill/>
          <a:ln w="7620">
            <a:solidFill>
              <a:srgbClr val="7C3AED">
                <a:alpha val="45000"/>
              </a:srgbClr>
            </a:solidFill>
            <a:prstDash val="solid"/>
          </a:ln>
        </p:spPr>
      </p:sp>
      <p:sp>
        <p:nvSpPr>
          <p:cNvPr id="18" name="Shape 16"/>
          <p:cNvSpPr/>
          <p:nvPr/>
        </p:nvSpPr>
        <p:spPr>
          <a:xfrm>
            <a:off x="6736080" y="1440180"/>
            <a:ext cx="975360" cy="2057400"/>
          </a:xfrm>
          <a:prstGeom prst="line">
            <a:avLst/>
          </a:prstGeom>
          <a:noFill/>
          <a:ln w="7620">
            <a:solidFill>
              <a:srgbClr val="7C3AED">
                <a:alpha val="45000"/>
              </a:srgbClr>
            </a:solidFill>
            <a:prstDash val="solid"/>
          </a:ln>
        </p:spPr>
      </p:sp>
      <p:sp>
        <p:nvSpPr>
          <p:cNvPr id="19" name="Shape 17"/>
          <p:cNvSpPr/>
          <p:nvPr/>
        </p:nvSpPr>
        <p:spPr>
          <a:xfrm flipV="1">
            <a:off x="6736080" y="1440180"/>
            <a:ext cx="975360" cy="685800"/>
          </a:xfrm>
          <a:prstGeom prst="line">
            <a:avLst/>
          </a:prstGeom>
          <a:noFill/>
          <a:ln w="7620">
            <a:solidFill>
              <a:srgbClr val="7C3AED">
                <a:alpha val="45000"/>
              </a:srgbClr>
            </a:solidFill>
            <a:prstDash val="solid"/>
          </a:ln>
        </p:spPr>
      </p:sp>
      <p:sp>
        <p:nvSpPr>
          <p:cNvPr id="20" name="Shape 18"/>
          <p:cNvSpPr/>
          <p:nvPr/>
        </p:nvSpPr>
        <p:spPr>
          <a:xfrm>
            <a:off x="6736080" y="2125980"/>
            <a:ext cx="975360" cy="914"/>
          </a:xfrm>
          <a:prstGeom prst="line">
            <a:avLst/>
          </a:prstGeom>
          <a:noFill/>
          <a:ln w="7620">
            <a:solidFill>
              <a:srgbClr val="7C3AED">
                <a:alpha val="45000"/>
              </a:srgbClr>
            </a:solidFill>
            <a:prstDash val="solid"/>
          </a:ln>
        </p:spPr>
      </p:sp>
      <p:sp>
        <p:nvSpPr>
          <p:cNvPr id="21" name="Shape 19"/>
          <p:cNvSpPr/>
          <p:nvPr/>
        </p:nvSpPr>
        <p:spPr>
          <a:xfrm>
            <a:off x="6736080" y="2125980"/>
            <a:ext cx="975360" cy="685800"/>
          </a:xfrm>
          <a:prstGeom prst="line">
            <a:avLst/>
          </a:prstGeom>
          <a:noFill/>
          <a:ln w="7620">
            <a:solidFill>
              <a:srgbClr val="7C3AED">
                <a:alpha val="45000"/>
              </a:srgbClr>
            </a:solidFill>
            <a:prstDash val="solid"/>
          </a:ln>
        </p:spPr>
      </p:sp>
      <p:sp>
        <p:nvSpPr>
          <p:cNvPr id="22" name="Shape 20"/>
          <p:cNvSpPr/>
          <p:nvPr/>
        </p:nvSpPr>
        <p:spPr>
          <a:xfrm>
            <a:off x="6736080" y="2125980"/>
            <a:ext cx="975360" cy="1371600"/>
          </a:xfrm>
          <a:prstGeom prst="line">
            <a:avLst/>
          </a:prstGeom>
          <a:noFill/>
          <a:ln w="7620">
            <a:solidFill>
              <a:srgbClr val="7C3AED">
                <a:alpha val="45000"/>
              </a:srgbClr>
            </a:solidFill>
            <a:prstDash val="solid"/>
          </a:ln>
        </p:spPr>
      </p:sp>
      <p:sp>
        <p:nvSpPr>
          <p:cNvPr id="23" name="Shape 21"/>
          <p:cNvSpPr/>
          <p:nvPr/>
        </p:nvSpPr>
        <p:spPr>
          <a:xfrm flipV="1">
            <a:off x="6736080" y="1440180"/>
            <a:ext cx="975360" cy="1371600"/>
          </a:xfrm>
          <a:prstGeom prst="line">
            <a:avLst/>
          </a:prstGeom>
          <a:noFill/>
          <a:ln w="7620">
            <a:solidFill>
              <a:srgbClr val="7C3AED">
                <a:alpha val="45000"/>
              </a:srgbClr>
            </a:solidFill>
            <a:prstDash val="solid"/>
          </a:ln>
        </p:spPr>
      </p:sp>
      <p:sp>
        <p:nvSpPr>
          <p:cNvPr id="24" name="Shape 22"/>
          <p:cNvSpPr/>
          <p:nvPr/>
        </p:nvSpPr>
        <p:spPr>
          <a:xfrm flipV="1">
            <a:off x="6736080" y="2125980"/>
            <a:ext cx="975360" cy="685800"/>
          </a:xfrm>
          <a:prstGeom prst="line">
            <a:avLst/>
          </a:prstGeom>
          <a:noFill/>
          <a:ln w="7620">
            <a:solidFill>
              <a:srgbClr val="7C3AED">
                <a:alpha val="45000"/>
              </a:srgbClr>
            </a:solidFill>
            <a:prstDash val="solid"/>
          </a:ln>
        </p:spPr>
      </p:sp>
      <p:sp>
        <p:nvSpPr>
          <p:cNvPr id="25" name="Shape 23"/>
          <p:cNvSpPr/>
          <p:nvPr/>
        </p:nvSpPr>
        <p:spPr>
          <a:xfrm>
            <a:off x="6736080" y="2811780"/>
            <a:ext cx="975360" cy="914"/>
          </a:xfrm>
          <a:prstGeom prst="line">
            <a:avLst/>
          </a:prstGeom>
          <a:noFill/>
          <a:ln w="7620">
            <a:solidFill>
              <a:srgbClr val="7C3AED">
                <a:alpha val="45000"/>
              </a:srgbClr>
            </a:solidFill>
            <a:prstDash val="solid"/>
          </a:ln>
        </p:spPr>
      </p:sp>
      <p:sp>
        <p:nvSpPr>
          <p:cNvPr id="26" name="Shape 24"/>
          <p:cNvSpPr/>
          <p:nvPr/>
        </p:nvSpPr>
        <p:spPr>
          <a:xfrm>
            <a:off x="6736080" y="2811780"/>
            <a:ext cx="975360" cy="685800"/>
          </a:xfrm>
          <a:prstGeom prst="line">
            <a:avLst/>
          </a:prstGeom>
          <a:noFill/>
          <a:ln w="7620">
            <a:solidFill>
              <a:srgbClr val="7C3AED">
                <a:alpha val="45000"/>
              </a:srgbClr>
            </a:solidFill>
            <a:prstDash val="solid"/>
          </a:ln>
        </p:spPr>
      </p:sp>
      <p:sp>
        <p:nvSpPr>
          <p:cNvPr id="27" name="Shape 25"/>
          <p:cNvSpPr/>
          <p:nvPr/>
        </p:nvSpPr>
        <p:spPr>
          <a:xfrm flipV="1">
            <a:off x="6736080" y="1440180"/>
            <a:ext cx="975360" cy="2057400"/>
          </a:xfrm>
          <a:prstGeom prst="line">
            <a:avLst/>
          </a:prstGeom>
          <a:noFill/>
          <a:ln w="7620">
            <a:solidFill>
              <a:srgbClr val="7C3AED">
                <a:alpha val="45000"/>
              </a:srgbClr>
            </a:solidFill>
            <a:prstDash val="solid"/>
          </a:ln>
        </p:spPr>
      </p:sp>
      <p:sp>
        <p:nvSpPr>
          <p:cNvPr id="28" name="Shape 26"/>
          <p:cNvSpPr/>
          <p:nvPr/>
        </p:nvSpPr>
        <p:spPr>
          <a:xfrm flipV="1">
            <a:off x="6736080" y="2125980"/>
            <a:ext cx="975360" cy="1371600"/>
          </a:xfrm>
          <a:prstGeom prst="line">
            <a:avLst/>
          </a:prstGeom>
          <a:noFill/>
          <a:ln w="7620">
            <a:solidFill>
              <a:srgbClr val="7C3AED">
                <a:alpha val="45000"/>
              </a:srgbClr>
            </a:solidFill>
            <a:prstDash val="solid"/>
          </a:ln>
        </p:spPr>
      </p:sp>
      <p:sp>
        <p:nvSpPr>
          <p:cNvPr id="29" name="Shape 27"/>
          <p:cNvSpPr/>
          <p:nvPr/>
        </p:nvSpPr>
        <p:spPr>
          <a:xfrm flipV="1">
            <a:off x="6736080" y="2811780"/>
            <a:ext cx="975360" cy="685800"/>
          </a:xfrm>
          <a:prstGeom prst="line">
            <a:avLst/>
          </a:prstGeom>
          <a:noFill/>
          <a:ln w="7620">
            <a:solidFill>
              <a:srgbClr val="7C3AED">
                <a:alpha val="45000"/>
              </a:srgbClr>
            </a:solidFill>
            <a:prstDash val="solid"/>
          </a:ln>
        </p:spPr>
      </p:sp>
      <p:sp>
        <p:nvSpPr>
          <p:cNvPr id="30" name="Shape 28"/>
          <p:cNvSpPr/>
          <p:nvPr/>
        </p:nvSpPr>
        <p:spPr>
          <a:xfrm>
            <a:off x="6736080" y="3497580"/>
            <a:ext cx="975360" cy="914"/>
          </a:xfrm>
          <a:prstGeom prst="line">
            <a:avLst/>
          </a:prstGeom>
          <a:noFill/>
          <a:ln w="7620">
            <a:solidFill>
              <a:srgbClr val="7C3AED">
                <a:alpha val="45000"/>
              </a:srgbClr>
            </a:solidFill>
            <a:prstDash val="solid"/>
          </a:ln>
        </p:spPr>
      </p:sp>
      <p:sp>
        <p:nvSpPr>
          <p:cNvPr id="31" name="Shape 29"/>
          <p:cNvSpPr/>
          <p:nvPr/>
        </p:nvSpPr>
        <p:spPr>
          <a:xfrm>
            <a:off x="7711440" y="1440180"/>
            <a:ext cx="975360" cy="342900"/>
          </a:xfrm>
          <a:prstGeom prst="line">
            <a:avLst/>
          </a:prstGeom>
          <a:noFill/>
          <a:ln w="7620">
            <a:solidFill>
              <a:srgbClr val="DB2777">
                <a:alpha val="45000"/>
              </a:srgbClr>
            </a:solidFill>
            <a:prstDash val="solid"/>
          </a:ln>
        </p:spPr>
      </p:sp>
      <p:sp>
        <p:nvSpPr>
          <p:cNvPr id="32" name="Shape 30"/>
          <p:cNvSpPr/>
          <p:nvPr/>
        </p:nvSpPr>
        <p:spPr>
          <a:xfrm>
            <a:off x="7711440" y="1440180"/>
            <a:ext cx="975360" cy="1714500"/>
          </a:xfrm>
          <a:prstGeom prst="line">
            <a:avLst/>
          </a:prstGeom>
          <a:noFill/>
          <a:ln w="7620">
            <a:solidFill>
              <a:srgbClr val="DB2777">
                <a:alpha val="45000"/>
              </a:srgbClr>
            </a:solidFill>
            <a:prstDash val="solid"/>
          </a:ln>
        </p:spPr>
      </p:sp>
      <p:sp>
        <p:nvSpPr>
          <p:cNvPr id="33" name="Shape 31"/>
          <p:cNvSpPr/>
          <p:nvPr/>
        </p:nvSpPr>
        <p:spPr>
          <a:xfrm flipV="1">
            <a:off x="7711440" y="1783080"/>
            <a:ext cx="975360" cy="342900"/>
          </a:xfrm>
          <a:prstGeom prst="line">
            <a:avLst/>
          </a:prstGeom>
          <a:noFill/>
          <a:ln w="7620">
            <a:solidFill>
              <a:srgbClr val="DB2777">
                <a:alpha val="45000"/>
              </a:srgbClr>
            </a:solidFill>
            <a:prstDash val="solid"/>
          </a:ln>
        </p:spPr>
      </p:sp>
      <p:sp>
        <p:nvSpPr>
          <p:cNvPr id="34" name="Shape 32"/>
          <p:cNvSpPr/>
          <p:nvPr/>
        </p:nvSpPr>
        <p:spPr>
          <a:xfrm>
            <a:off x="7711440" y="2125980"/>
            <a:ext cx="975360" cy="1028700"/>
          </a:xfrm>
          <a:prstGeom prst="line">
            <a:avLst/>
          </a:prstGeom>
          <a:noFill/>
          <a:ln w="7620">
            <a:solidFill>
              <a:srgbClr val="DB2777">
                <a:alpha val="45000"/>
              </a:srgbClr>
            </a:solidFill>
            <a:prstDash val="solid"/>
          </a:ln>
        </p:spPr>
      </p:sp>
      <p:sp>
        <p:nvSpPr>
          <p:cNvPr id="35" name="Shape 33"/>
          <p:cNvSpPr/>
          <p:nvPr/>
        </p:nvSpPr>
        <p:spPr>
          <a:xfrm flipV="1">
            <a:off x="7711440" y="1783080"/>
            <a:ext cx="975360" cy="1028700"/>
          </a:xfrm>
          <a:prstGeom prst="line">
            <a:avLst/>
          </a:prstGeom>
          <a:noFill/>
          <a:ln w="7620">
            <a:solidFill>
              <a:srgbClr val="DB2777">
                <a:alpha val="45000"/>
              </a:srgbClr>
            </a:solidFill>
            <a:prstDash val="solid"/>
          </a:ln>
        </p:spPr>
      </p:sp>
      <p:sp>
        <p:nvSpPr>
          <p:cNvPr id="36" name="Shape 34"/>
          <p:cNvSpPr/>
          <p:nvPr/>
        </p:nvSpPr>
        <p:spPr>
          <a:xfrm>
            <a:off x="7711440" y="2811780"/>
            <a:ext cx="975360" cy="342900"/>
          </a:xfrm>
          <a:prstGeom prst="line">
            <a:avLst/>
          </a:prstGeom>
          <a:noFill/>
          <a:ln w="7620">
            <a:solidFill>
              <a:srgbClr val="DB2777">
                <a:alpha val="45000"/>
              </a:srgbClr>
            </a:solidFill>
            <a:prstDash val="solid"/>
          </a:ln>
        </p:spPr>
      </p:sp>
      <p:sp>
        <p:nvSpPr>
          <p:cNvPr id="37" name="Shape 35"/>
          <p:cNvSpPr/>
          <p:nvPr/>
        </p:nvSpPr>
        <p:spPr>
          <a:xfrm flipV="1">
            <a:off x="7711440" y="1783080"/>
            <a:ext cx="975360" cy="1714500"/>
          </a:xfrm>
          <a:prstGeom prst="line">
            <a:avLst/>
          </a:prstGeom>
          <a:noFill/>
          <a:ln w="7620">
            <a:solidFill>
              <a:srgbClr val="DB2777">
                <a:alpha val="45000"/>
              </a:srgbClr>
            </a:solidFill>
            <a:prstDash val="solid"/>
          </a:ln>
        </p:spPr>
      </p:sp>
      <p:sp>
        <p:nvSpPr>
          <p:cNvPr id="38" name="Shape 36"/>
          <p:cNvSpPr/>
          <p:nvPr/>
        </p:nvSpPr>
        <p:spPr>
          <a:xfrm flipV="1">
            <a:off x="7711440" y="3154680"/>
            <a:ext cx="975360" cy="342900"/>
          </a:xfrm>
          <a:prstGeom prst="line">
            <a:avLst/>
          </a:prstGeom>
          <a:noFill/>
          <a:ln w="7620">
            <a:solidFill>
              <a:srgbClr val="DB2777">
                <a:alpha val="45000"/>
              </a:srgbClr>
            </a:solidFill>
            <a:prstDash val="solid"/>
          </a:ln>
        </p:spPr>
      </p:sp>
      <p:sp>
        <p:nvSpPr>
          <p:cNvPr id="39" name="Shape 37"/>
          <p:cNvSpPr/>
          <p:nvPr/>
        </p:nvSpPr>
        <p:spPr>
          <a:xfrm>
            <a:off x="5605272" y="1627632"/>
            <a:ext cx="310896" cy="310896"/>
          </a:xfrm>
          <a:prstGeom prst="ellipse">
            <a:avLst/>
          </a:prstGeom>
          <a:solidFill>
            <a:srgbClr val="0891B2">
              <a:alpha val="25000"/>
            </a:srgbClr>
          </a:solidFill>
          <a:ln w="12700">
            <a:solidFill>
              <a:srgbClr val="0891B2">
                <a:alpha val="0"/>
              </a:srgbClr>
            </a:solidFill>
            <a:prstDash val="solid"/>
          </a:ln>
        </p:spPr>
      </p:sp>
      <p:sp>
        <p:nvSpPr>
          <p:cNvPr id="40" name="Shape 38"/>
          <p:cNvSpPr/>
          <p:nvPr/>
        </p:nvSpPr>
        <p:spPr>
          <a:xfrm>
            <a:off x="5696712" y="1719072"/>
            <a:ext cx="128016" cy="128016"/>
          </a:xfrm>
          <a:prstGeom prst="ellipse">
            <a:avLst/>
          </a:prstGeom>
          <a:solidFill>
            <a:srgbClr val="0891B2"/>
          </a:solidFill>
          <a:ln w="6350">
            <a:solidFill>
              <a:srgbClr val="FFFFFF">
                <a:alpha val="60000"/>
              </a:srgbClr>
            </a:solidFill>
            <a:prstDash val="solid"/>
          </a:ln>
        </p:spPr>
      </p:sp>
      <p:sp>
        <p:nvSpPr>
          <p:cNvPr id="41" name="Shape 39"/>
          <p:cNvSpPr/>
          <p:nvPr/>
        </p:nvSpPr>
        <p:spPr>
          <a:xfrm>
            <a:off x="5605272" y="2999232"/>
            <a:ext cx="310896" cy="310896"/>
          </a:xfrm>
          <a:prstGeom prst="ellipse">
            <a:avLst/>
          </a:prstGeom>
          <a:solidFill>
            <a:srgbClr val="0891B2">
              <a:alpha val="25000"/>
            </a:srgbClr>
          </a:solidFill>
          <a:ln w="12700">
            <a:solidFill>
              <a:srgbClr val="0891B2">
                <a:alpha val="0"/>
              </a:srgbClr>
            </a:solidFill>
            <a:prstDash val="solid"/>
          </a:ln>
        </p:spPr>
      </p:sp>
      <p:sp>
        <p:nvSpPr>
          <p:cNvPr id="42" name="Shape 40"/>
          <p:cNvSpPr/>
          <p:nvPr/>
        </p:nvSpPr>
        <p:spPr>
          <a:xfrm>
            <a:off x="5696712" y="3090672"/>
            <a:ext cx="128016" cy="128016"/>
          </a:xfrm>
          <a:prstGeom prst="ellipse">
            <a:avLst/>
          </a:prstGeom>
          <a:solidFill>
            <a:srgbClr val="0891B2"/>
          </a:solidFill>
          <a:ln w="6350">
            <a:solidFill>
              <a:srgbClr val="FFFFFF">
                <a:alpha val="60000"/>
              </a:srgbClr>
            </a:solidFill>
            <a:prstDash val="solid"/>
          </a:ln>
        </p:spPr>
      </p:sp>
      <p:sp>
        <p:nvSpPr>
          <p:cNvPr id="43" name="Shape 41"/>
          <p:cNvSpPr/>
          <p:nvPr/>
        </p:nvSpPr>
        <p:spPr>
          <a:xfrm>
            <a:off x="6580632" y="1284732"/>
            <a:ext cx="310896" cy="310896"/>
          </a:xfrm>
          <a:prstGeom prst="ellipse">
            <a:avLst/>
          </a:prstGeom>
          <a:solidFill>
            <a:srgbClr val="7C3AED">
              <a:alpha val="25000"/>
            </a:srgbClr>
          </a:solidFill>
          <a:ln w="12700">
            <a:solidFill>
              <a:srgbClr val="7C3AED">
                <a:alpha val="0"/>
              </a:srgbClr>
            </a:solidFill>
            <a:prstDash val="solid"/>
          </a:ln>
        </p:spPr>
      </p:sp>
      <p:sp>
        <p:nvSpPr>
          <p:cNvPr id="44" name="Shape 42"/>
          <p:cNvSpPr/>
          <p:nvPr/>
        </p:nvSpPr>
        <p:spPr>
          <a:xfrm>
            <a:off x="6672072" y="1376172"/>
            <a:ext cx="128016" cy="128016"/>
          </a:xfrm>
          <a:prstGeom prst="ellipse">
            <a:avLst/>
          </a:prstGeom>
          <a:solidFill>
            <a:srgbClr val="7C3AED"/>
          </a:solidFill>
          <a:ln w="6350">
            <a:solidFill>
              <a:srgbClr val="FFFFFF">
                <a:alpha val="60000"/>
              </a:srgbClr>
            </a:solidFill>
            <a:prstDash val="solid"/>
          </a:ln>
        </p:spPr>
      </p:sp>
      <p:sp>
        <p:nvSpPr>
          <p:cNvPr id="45" name="Shape 43"/>
          <p:cNvSpPr/>
          <p:nvPr/>
        </p:nvSpPr>
        <p:spPr>
          <a:xfrm>
            <a:off x="6580632" y="1970532"/>
            <a:ext cx="310896" cy="310896"/>
          </a:xfrm>
          <a:prstGeom prst="ellipse">
            <a:avLst/>
          </a:prstGeom>
          <a:solidFill>
            <a:srgbClr val="7C3AED">
              <a:alpha val="25000"/>
            </a:srgbClr>
          </a:solidFill>
          <a:ln w="12700">
            <a:solidFill>
              <a:srgbClr val="7C3AED">
                <a:alpha val="0"/>
              </a:srgbClr>
            </a:solidFill>
            <a:prstDash val="solid"/>
          </a:ln>
        </p:spPr>
      </p:sp>
      <p:sp>
        <p:nvSpPr>
          <p:cNvPr id="46" name="Shape 44"/>
          <p:cNvSpPr/>
          <p:nvPr/>
        </p:nvSpPr>
        <p:spPr>
          <a:xfrm>
            <a:off x="6672072" y="2061972"/>
            <a:ext cx="128016" cy="128016"/>
          </a:xfrm>
          <a:prstGeom prst="ellipse">
            <a:avLst/>
          </a:prstGeom>
          <a:solidFill>
            <a:srgbClr val="7C3AED"/>
          </a:solidFill>
          <a:ln w="6350">
            <a:solidFill>
              <a:srgbClr val="FFFFFF">
                <a:alpha val="60000"/>
              </a:srgbClr>
            </a:solidFill>
            <a:prstDash val="solid"/>
          </a:ln>
        </p:spPr>
      </p:sp>
      <p:sp>
        <p:nvSpPr>
          <p:cNvPr id="47" name="Shape 45"/>
          <p:cNvSpPr/>
          <p:nvPr/>
        </p:nvSpPr>
        <p:spPr>
          <a:xfrm>
            <a:off x="6580632" y="2656332"/>
            <a:ext cx="310896" cy="310896"/>
          </a:xfrm>
          <a:prstGeom prst="ellipse">
            <a:avLst/>
          </a:prstGeom>
          <a:solidFill>
            <a:srgbClr val="7C3AED">
              <a:alpha val="25000"/>
            </a:srgbClr>
          </a:solidFill>
          <a:ln w="12700">
            <a:solidFill>
              <a:srgbClr val="7C3AED">
                <a:alpha val="0"/>
              </a:srgbClr>
            </a:solidFill>
            <a:prstDash val="solid"/>
          </a:ln>
        </p:spPr>
      </p:sp>
      <p:sp>
        <p:nvSpPr>
          <p:cNvPr id="48" name="Shape 46"/>
          <p:cNvSpPr/>
          <p:nvPr/>
        </p:nvSpPr>
        <p:spPr>
          <a:xfrm>
            <a:off x="6672072" y="2747772"/>
            <a:ext cx="128016" cy="128016"/>
          </a:xfrm>
          <a:prstGeom prst="ellipse">
            <a:avLst/>
          </a:prstGeom>
          <a:solidFill>
            <a:srgbClr val="7C3AED"/>
          </a:solidFill>
          <a:ln w="6350">
            <a:solidFill>
              <a:srgbClr val="FFFFFF">
                <a:alpha val="60000"/>
              </a:srgbClr>
            </a:solidFill>
            <a:prstDash val="solid"/>
          </a:ln>
        </p:spPr>
      </p:sp>
      <p:sp>
        <p:nvSpPr>
          <p:cNvPr id="49" name="Shape 47"/>
          <p:cNvSpPr/>
          <p:nvPr/>
        </p:nvSpPr>
        <p:spPr>
          <a:xfrm>
            <a:off x="6580632" y="3342132"/>
            <a:ext cx="310896" cy="310896"/>
          </a:xfrm>
          <a:prstGeom prst="ellipse">
            <a:avLst/>
          </a:prstGeom>
          <a:solidFill>
            <a:srgbClr val="7C3AED">
              <a:alpha val="25000"/>
            </a:srgbClr>
          </a:solidFill>
          <a:ln w="12700">
            <a:solidFill>
              <a:srgbClr val="7C3AED">
                <a:alpha val="0"/>
              </a:srgbClr>
            </a:solidFill>
            <a:prstDash val="solid"/>
          </a:ln>
        </p:spPr>
      </p:sp>
      <p:sp>
        <p:nvSpPr>
          <p:cNvPr id="50" name="Shape 48"/>
          <p:cNvSpPr/>
          <p:nvPr/>
        </p:nvSpPr>
        <p:spPr>
          <a:xfrm>
            <a:off x="6672072" y="3433572"/>
            <a:ext cx="128016" cy="128016"/>
          </a:xfrm>
          <a:prstGeom prst="ellipse">
            <a:avLst/>
          </a:prstGeom>
          <a:solidFill>
            <a:srgbClr val="7C3AED"/>
          </a:solidFill>
          <a:ln w="6350">
            <a:solidFill>
              <a:srgbClr val="FFFFFF">
                <a:alpha val="60000"/>
              </a:srgbClr>
            </a:solidFill>
            <a:prstDash val="solid"/>
          </a:ln>
        </p:spPr>
      </p:sp>
      <p:sp>
        <p:nvSpPr>
          <p:cNvPr id="51" name="Shape 49"/>
          <p:cNvSpPr/>
          <p:nvPr/>
        </p:nvSpPr>
        <p:spPr>
          <a:xfrm>
            <a:off x="7555992" y="1284732"/>
            <a:ext cx="310896" cy="310896"/>
          </a:xfrm>
          <a:prstGeom prst="ellipse">
            <a:avLst/>
          </a:prstGeom>
          <a:solidFill>
            <a:srgbClr val="DB2777">
              <a:alpha val="25000"/>
            </a:srgbClr>
          </a:solidFill>
          <a:ln w="12700">
            <a:solidFill>
              <a:srgbClr val="DB2777">
                <a:alpha val="0"/>
              </a:srgbClr>
            </a:solidFill>
            <a:prstDash val="solid"/>
          </a:ln>
        </p:spPr>
      </p:sp>
      <p:sp>
        <p:nvSpPr>
          <p:cNvPr id="52" name="Shape 50"/>
          <p:cNvSpPr/>
          <p:nvPr/>
        </p:nvSpPr>
        <p:spPr>
          <a:xfrm>
            <a:off x="7647432" y="1376172"/>
            <a:ext cx="128016" cy="128016"/>
          </a:xfrm>
          <a:prstGeom prst="ellipse">
            <a:avLst/>
          </a:prstGeom>
          <a:solidFill>
            <a:srgbClr val="DB2777"/>
          </a:solidFill>
          <a:ln w="6350">
            <a:solidFill>
              <a:srgbClr val="FFFFFF">
                <a:alpha val="60000"/>
              </a:srgbClr>
            </a:solidFill>
            <a:prstDash val="solid"/>
          </a:ln>
        </p:spPr>
      </p:sp>
      <p:sp>
        <p:nvSpPr>
          <p:cNvPr id="53" name="Shape 51"/>
          <p:cNvSpPr/>
          <p:nvPr/>
        </p:nvSpPr>
        <p:spPr>
          <a:xfrm>
            <a:off x="7555992" y="1970532"/>
            <a:ext cx="310896" cy="310896"/>
          </a:xfrm>
          <a:prstGeom prst="ellipse">
            <a:avLst/>
          </a:prstGeom>
          <a:solidFill>
            <a:srgbClr val="DB2777">
              <a:alpha val="25000"/>
            </a:srgbClr>
          </a:solidFill>
          <a:ln w="12700">
            <a:solidFill>
              <a:srgbClr val="DB2777">
                <a:alpha val="0"/>
              </a:srgbClr>
            </a:solidFill>
            <a:prstDash val="solid"/>
          </a:ln>
        </p:spPr>
      </p:sp>
      <p:sp>
        <p:nvSpPr>
          <p:cNvPr id="54" name="Shape 52"/>
          <p:cNvSpPr/>
          <p:nvPr/>
        </p:nvSpPr>
        <p:spPr>
          <a:xfrm>
            <a:off x="7647432" y="2061972"/>
            <a:ext cx="128016" cy="128016"/>
          </a:xfrm>
          <a:prstGeom prst="ellipse">
            <a:avLst/>
          </a:prstGeom>
          <a:solidFill>
            <a:srgbClr val="DB2777"/>
          </a:solidFill>
          <a:ln w="6350">
            <a:solidFill>
              <a:srgbClr val="FFFFFF">
                <a:alpha val="60000"/>
              </a:srgbClr>
            </a:solidFill>
            <a:prstDash val="solid"/>
          </a:ln>
        </p:spPr>
      </p:sp>
      <p:sp>
        <p:nvSpPr>
          <p:cNvPr id="55" name="Shape 53"/>
          <p:cNvSpPr/>
          <p:nvPr/>
        </p:nvSpPr>
        <p:spPr>
          <a:xfrm>
            <a:off x="7555992" y="2656332"/>
            <a:ext cx="310896" cy="310896"/>
          </a:xfrm>
          <a:prstGeom prst="ellipse">
            <a:avLst/>
          </a:prstGeom>
          <a:solidFill>
            <a:srgbClr val="DB2777">
              <a:alpha val="25000"/>
            </a:srgbClr>
          </a:solidFill>
          <a:ln w="12700">
            <a:solidFill>
              <a:srgbClr val="DB2777">
                <a:alpha val="0"/>
              </a:srgbClr>
            </a:solidFill>
            <a:prstDash val="solid"/>
          </a:ln>
        </p:spPr>
      </p:sp>
      <p:sp>
        <p:nvSpPr>
          <p:cNvPr id="56" name="Shape 54"/>
          <p:cNvSpPr/>
          <p:nvPr/>
        </p:nvSpPr>
        <p:spPr>
          <a:xfrm>
            <a:off x="7647432" y="2747772"/>
            <a:ext cx="128016" cy="128016"/>
          </a:xfrm>
          <a:prstGeom prst="ellipse">
            <a:avLst/>
          </a:prstGeom>
          <a:solidFill>
            <a:srgbClr val="DB2777"/>
          </a:solidFill>
          <a:ln w="6350">
            <a:solidFill>
              <a:srgbClr val="FFFFFF">
                <a:alpha val="60000"/>
              </a:srgbClr>
            </a:solidFill>
            <a:prstDash val="solid"/>
          </a:ln>
        </p:spPr>
      </p:sp>
      <p:sp>
        <p:nvSpPr>
          <p:cNvPr id="57" name="Shape 55"/>
          <p:cNvSpPr/>
          <p:nvPr/>
        </p:nvSpPr>
        <p:spPr>
          <a:xfrm>
            <a:off x="7555992" y="3342132"/>
            <a:ext cx="310896" cy="310896"/>
          </a:xfrm>
          <a:prstGeom prst="ellipse">
            <a:avLst/>
          </a:prstGeom>
          <a:solidFill>
            <a:srgbClr val="DB2777">
              <a:alpha val="25000"/>
            </a:srgbClr>
          </a:solidFill>
          <a:ln w="12700">
            <a:solidFill>
              <a:srgbClr val="DB2777">
                <a:alpha val="0"/>
              </a:srgbClr>
            </a:solidFill>
            <a:prstDash val="solid"/>
          </a:ln>
        </p:spPr>
      </p:sp>
      <p:sp>
        <p:nvSpPr>
          <p:cNvPr id="58" name="Shape 56"/>
          <p:cNvSpPr/>
          <p:nvPr/>
        </p:nvSpPr>
        <p:spPr>
          <a:xfrm>
            <a:off x="7647432" y="3433572"/>
            <a:ext cx="128016" cy="128016"/>
          </a:xfrm>
          <a:prstGeom prst="ellipse">
            <a:avLst/>
          </a:prstGeom>
          <a:solidFill>
            <a:srgbClr val="DB2777"/>
          </a:solidFill>
          <a:ln w="6350">
            <a:solidFill>
              <a:srgbClr val="FFFFFF">
                <a:alpha val="60000"/>
              </a:srgbClr>
            </a:solidFill>
            <a:prstDash val="solid"/>
          </a:ln>
        </p:spPr>
      </p:sp>
      <p:sp>
        <p:nvSpPr>
          <p:cNvPr id="59" name="Shape 57"/>
          <p:cNvSpPr/>
          <p:nvPr/>
        </p:nvSpPr>
        <p:spPr>
          <a:xfrm>
            <a:off x="8531352" y="1627632"/>
            <a:ext cx="310896" cy="310896"/>
          </a:xfrm>
          <a:prstGeom prst="ellipse">
            <a:avLst/>
          </a:prstGeom>
          <a:solidFill>
            <a:srgbClr val="059669">
              <a:alpha val="25000"/>
            </a:srgbClr>
          </a:solidFill>
          <a:ln w="12700">
            <a:solidFill>
              <a:srgbClr val="059669">
                <a:alpha val="0"/>
              </a:srgbClr>
            </a:solidFill>
            <a:prstDash val="solid"/>
          </a:ln>
        </p:spPr>
      </p:sp>
      <p:sp>
        <p:nvSpPr>
          <p:cNvPr id="60" name="Shape 58"/>
          <p:cNvSpPr/>
          <p:nvPr/>
        </p:nvSpPr>
        <p:spPr>
          <a:xfrm>
            <a:off x="8622792" y="1719072"/>
            <a:ext cx="128016" cy="128016"/>
          </a:xfrm>
          <a:prstGeom prst="ellipse">
            <a:avLst/>
          </a:prstGeom>
          <a:solidFill>
            <a:srgbClr val="059669"/>
          </a:solidFill>
          <a:ln w="6350">
            <a:solidFill>
              <a:srgbClr val="FFFFFF">
                <a:alpha val="60000"/>
              </a:srgbClr>
            </a:solidFill>
            <a:prstDash val="solid"/>
          </a:ln>
        </p:spPr>
      </p:sp>
      <p:sp>
        <p:nvSpPr>
          <p:cNvPr id="61" name="Shape 59"/>
          <p:cNvSpPr/>
          <p:nvPr/>
        </p:nvSpPr>
        <p:spPr>
          <a:xfrm>
            <a:off x="8531352" y="2999232"/>
            <a:ext cx="310896" cy="310896"/>
          </a:xfrm>
          <a:prstGeom prst="ellipse">
            <a:avLst/>
          </a:prstGeom>
          <a:solidFill>
            <a:srgbClr val="059669">
              <a:alpha val="25000"/>
            </a:srgbClr>
          </a:solidFill>
          <a:ln w="12700">
            <a:solidFill>
              <a:srgbClr val="059669">
                <a:alpha val="0"/>
              </a:srgbClr>
            </a:solidFill>
            <a:prstDash val="solid"/>
          </a:ln>
        </p:spPr>
      </p:sp>
      <p:sp>
        <p:nvSpPr>
          <p:cNvPr id="62" name="Shape 60"/>
          <p:cNvSpPr/>
          <p:nvPr/>
        </p:nvSpPr>
        <p:spPr>
          <a:xfrm>
            <a:off x="8622792" y="3090672"/>
            <a:ext cx="128016" cy="128016"/>
          </a:xfrm>
          <a:prstGeom prst="ellipse">
            <a:avLst/>
          </a:prstGeom>
          <a:solidFill>
            <a:srgbClr val="059669"/>
          </a:solidFill>
          <a:ln w="6350">
            <a:solidFill>
              <a:srgbClr val="FFFFFF">
                <a:alpha val="60000"/>
              </a:srgbClr>
            </a:solidFill>
            <a:prstDash val="solid"/>
          </a:ln>
        </p:spPr>
      </p:sp>
      <p:sp>
        <p:nvSpPr>
          <p:cNvPr id="63" name="Text 61"/>
          <p:cNvSpPr txBox="1"/>
          <p:nvPr/>
        </p:nvSpPr>
        <p:spPr>
          <a:xfrm>
            <a:off x="548640" y="1371600"/>
            <a:ext cx="4572000" cy="274320"/>
          </a:xfrm>
          <a:prstGeom prst="rect">
            <a:avLst/>
          </a:prstGeom>
          <a:noFill/>
          <a:ln/>
        </p:spPr>
        <p:txBody>
          <a:bodyPr wrap="square" lIns="0" tIns="0" rIns="0" bIns="0" rtlCol="0" anchor="ctr"/>
          <a:lstStyle/>
          <a:p>
            <a:pPr indent="0" marL="0">
              <a:buNone/>
            </a:pPr>
            <a:r>
              <a:rPr lang="en-US" sz="1200" spc="300" kern="0" dirty="0">
                <a:solidFill>
                  <a:srgbClr val="0891B2"/>
                </a:solidFill>
                <a:latin typeface="Consolas" pitchFamily="34" charset="0"/>
                <a:ea typeface="Consolas" pitchFamily="34" charset="-122"/>
                <a:cs typeface="Consolas" pitchFamily="34" charset="-120"/>
              </a:rPr>
              <a:t>// APPENDIX</a:t>
            </a:r>
            <a:endParaRPr lang="en-US" sz="1200" dirty="0"/>
          </a:p>
        </p:txBody>
      </p:sp>
      <p:sp>
        <p:nvSpPr>
          <p:cNvPr id="64" name="Text 62"/>
          <p:cNvSpPr txBox="1"/>
          <p:nvPr/>
        </p:nvSpPr>
        <p:spPr>
          <a:xfrm>
            <a:off x="548640" y="1737360"/>
            <a:ext cx="5120640" cy="822960"/>
          </a:xfrm>
          <a:prstGeom prst="rect">
            <a:avLst/>
          </a:prstGeom>
          <a:noFill/>
          <a:ln/>
        </p:spPr>
        <p:txBody>
          <a:bodyPr wrap="square" lIns="0" tIns="0" rIns="0" bIns="0" rtlCol="0" anchor="ctr"/>
          <a:lstStyle/>
          <a:p>
            <a:pPr indent="0" marL="0">
              <a:buNone/>
            </a:pPr>
            <a:r>
              <a:rPr lang="en-US" sz="4800" b="1" dirty="0">
                <a:solidFill>
                  <a:srgbClr val="0F172A"/>
                </a:solidFill>
                <a:latin typeface="Calibri" pitchFamily="34" charset="0"/>
                <a:ea typeface="Calibri" pitchFamily="34" charset="-122"/>
                <a:cs typeface="Calibri" pitchFamily="34" charset="-120"/>
              </a:rPr>
              <a:t>Q&amp;A backup</a:t>
            </a:r>
            <a:endParaRPr lang="en-US" sz="4800" dirty="0"/>
          </a:p>
        </p:txBody>
      </p:sp>
      <p:sp>
        <p:nvSpPr>
          <p:cNvPr id="65" name="Text 63"/>
          <p:cNvSpPr txBox="1"/>
          <p:nvPr/>
        </p:nvSpPr>
        <p:spPr>
          <a:xfrm>
            <a:off x="548640" y="2651760"/>
            <a:ext cx="4937760" cy="1097280"/>
          </a:xfrm>
          <a:prstGeom prst="rect">
            <a:avLst/>
          </a:prstGeom>
          <a:noFill/>
          <a:ln/>
        </p:spPr>
        <p:txBody>
          <a:bodyPr wrap="square" lIns="0" tIns="0" rIns="0" bIns="0" rtlCol="0" anchor="ctr"/>
          <a:lstStyle/>
          <a:p>
            <a:pPr indent="0" marL="0">
              <a:buNone/>
            </a:pPr>
            <a:r>
              <a:rPr lang="en-US" sz="1500" dirty="0">
                <a:solidFill>
                  <a:srgbClr val="64748B"/>
                </a:solidFill>
              </a:rPr>
              <a:t>Technical detail for questions: data, method, models, thresholds, fairness detail, API, reproducibility, references and AI disclosure.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A1. Data and pipeline: what the Module 3 code did on the real file</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17</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Module 3 pipeline stages run on the public Kaggle file; Prefect/Great Expectations wrapper not executed (orchestration only)</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6492240"/>
              </a:tblGrid>
              <a:tr h="502920">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Extract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110,527 rows, 14 columns, schema matched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Clean</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13 rows removed: 8 invalid ages, 5 scheduled after the visit, 0 duplicate appointment IDs. 110,514 rows remain.</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Anonymize</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Appointment ID dropped; patient ID salted-hash pseudonym; 75 neighbourhoods kept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Features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Lead time, day/month, age band, prior visits, prior misses, prior miss rate (chronological, current visit excluded)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Bias gate (5 checks)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All pass: gender 65/35, six age bands each over 5,000, top neighbourhood 7%, no-show ratio by gender 1.02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A2. Method: split, features, tuning and one important fix</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18</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Code: run_real.py in the Module 4 package</a:t>
            </a:r>
            <a:endParaRPr lang="en-US" sz="1000" dirty="0"/>
          </a:p>
        </p:txBody>
      </p:sp>
      <p:sp>
        <p:nvSpPr>
          <p:cNvPr id="10" name="Shape 8"/>
          <p:cNvSpPr/>
          <p:nvPr/>
        </p:nvSpPr>
        <p:spPr>
          <a:xfrm>
            <a:off x="457200" y="1051560"/>
            <a:ext cx="3977640" cy="3611880"/>
          </a:xfrm>
          <a:prstGeom prst="roundRect">
            <a:avLst>
              <a:gd name="adj" fmla="val 2532"/>
            </a:avLst>
          </a:prstGeom>
          <a:solidFill>
            <a:srgbClr val="FFFFFF"/>
          </a:solidFill>
          <a:ln w="9525">
            <a:solidFill>
              <a:srgbClr val="0891B2">
                <a:alpha val="55000"/>
              </a:srgbClr>
            </a:solidFill>
            <a:prstDash val="solid"/>
          </a:ln>
        </p:spPr>
      </p:sp>
      <p:sp>
        <p:nvSpPr>
          <p:cNvPr id="11" name="Shape 9"/>
          <p:cNvSpPr/>
          <p:nvPr/>
        </p:nvSpPr>
        <p:spPr>
          <a:xfrm>
            <a:off x="475488" y="1179576"/>
            <a:ext cx="45720" cy="292608"/>
          </a:xfrm>
          <a:prstGeom prst="rect">
            <a:avLst/>
          </a:prstGeom>
          <a:solidFill>
            <a:srgbClr val="0891B2"/>
          </a:solidFill>
          <a:ln w="12700">
            <a:solidFill>
              <a:srgbClr val="0891B2">
                <a:alpha val="0"/>
              </a:srgbClr>
            </a:solidFill>
            <a:prstDash val="solid"/>
          </a:ln>
        </p:spPr>
      </p:sp>
      <p:sp>
        <p:nvSpPr>
          <p:cNvPr id="12" name="Text 10"/>
          <p:cNvSpPr txBox="1"/>
          <p:nvPr/>
        </p:nvSpPr>
        <p:spPr>
          <a:xfrm>
            <a:off x="621792" y="1143000"/>
            <a:ext cx="370332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Setup</a:t>
            </a:r>
            <a:endParaRPr lang="en-US" sz="1400" dirty="0"/>
          </a:p>
        </p:txBody>
      </p:sp>
      <p:sp>
        <p:nvSpPr>
          <p:cNvPr id="13" name="Text 11"/>
          <p:cNvSpPr txBox="1"/>
          <p:nvPr/>
        </p:nvSpPr>
        <p:spPr>
          <a:xfrm>
            <a:off x="621792" y="1490472"/>
            <a:ext cx="3685032" cy="3081528"/>
          </a:xfrm>
          <a:prstGeom prst="rect">
            <a:avLst/>
          </a:prstGeom>
          <a:noFill/>
          <a:ln/>
        </p:spPr>
        <p:txBody>
          <a:bodyPr wrap="square" lIns="0" tIns="0" rIns="0" bIns="0" rtlCol="0" anchor="t"/>
          <a:lstStyle/>
          <a:p>
            <a:pPr indent="0" marL="0">
              <a:spcAft>
                <a:spcPts val="300"/>
              </a:spcAft>
              <a:buNone/>
            </a:pPr>
            <a:r>
              <a:rPr lang="en-US" sz="1150" dirty="0">
                <a:solidFill>
                  <a:srgbClr val="0F172A"/>
                </a:solidFill>
              </a:rPr>
              <a:t>Stratified 80/20 split (seed 42): 88,411 train, 22,103 test.</a:t>
            </a:r>
            <a:endParaRPr lang="en-US" sz="1150" dirty="0"/>
          </a:p>
          <a:p>
            <a:pPr indent="0" marL="0">
              <a:spcAft>
                <a:spcPts val="300"/>
              </a:spcAft>
              <a:buNone/>
            </a:pPr>
            <a:r>
              <a:rPr lang="en-US" sz="1150" dirty="0">
                <a:solidFill>
                  <a:srgbClr val="0F172A"/>
                </a:solidFill>
              </a:rPr>
              <a:t>Features: gender, age, neighbourhood, welfare scholarship, hypertension, diabetes, alcoholism, disability level, SMS, lead time, day, month, age group, three prior-visit features.</a:t>
            </a:r>
            <a:endParaRPr lang="en-US" sz="1150" dirty="0"/>
          </a:p>
          <a:p>
            <a:pPr indent="0" marL="0">
              <a:spcAft>
                <a:spcPts val="300"/>
              </a:spcAft>
              <a:buNone/>
            </a:pPr>
            <a:r>
              <a:rPr lang="en-US" sz="1150" dirty="0">
                <a:solidFill>
                  <a:srgbClr val="0F172A"/>
                </a:solidFill>
              </a:rPr>
              <a:t>Same grids as Module 4 for all three models; tuning used a 25,000-row training sample with 3-fold cross-validation for speed, then the best settings were refitted on the full training set. The test set was used once.</a:t>
            </a:r>
            <a:endParaRPr lang="en-US" sz="1150" dirty="0"/>
          </a:p>
        </p:txBody>
      </p:sp>
      <p:sp>
        <p:nvSpPr>
          <p:cNvPr id="14" name="Shape 12"/>
          <p:cNvSpPr/>
          <p:nvPr/>
        </p:nvSpPr>
        <p:spPr>
          <a:xfrm>
            <a:off x="4709160" y="1051560"/>
            <a:ext cx="3977640" cy="1737360"/>
          </a:xfrm>
          <a:prstGeom prst="roundRect">
            <a:avLst>
              <a:gd name="adj" fmla="val 5263"/>
            </a:avLst>
          </a:prstGeom>
          <a:solidFill>
            <a:srgbClr val="FFF7E6"/>
          </a:solidFill>
          <a:ln w="9525">
            <a:solidFill>
              <a:srgbClr val="D97706">
                <a:alpha val="55000"/>
              </a:srgbClr>
            </a:solidFill>
            <a:prstDash val="solid"/>
          </a:ln>
        </p:spPr>
      </p:sp>
      <p:sp>
        <p:nvSpPr>
          <p:cNvPr id="15" name="Shape 13"/>
          <p:cNvSpPr/>
          <p:nvPr/>
        </p:nvSpPr>
        <p:spPr>
          <a:xfrm>
            <a:off x="4727448" y="1179576"/>
            <a:ext cx="45720" cy="292608"/>
          </a:xfrm>
          <a:prstGeom prst="rect">
            <a:avLst/>
          </a:prstGeom>
          <a:solidFill>
            <a:srgbClr val="D97706"/>
          </a:solidFill>
          <a:ln w="12700">
            <a:solidFill>
              <a:srgbClr val="D97706">
                <a:alpha val="0"/>
              </a:srgbClr>
            </a:solidFill>
            <a:prstDash val="solid"/>
          </a:ln>
        </p:spPr>
      </p:sp>
      <p:sp>
        <p:nvSpPr>
          <p:cNvPr id="16" name="Text 14"/>
          <p:cNvSpPr txBox="1"/>
          <p:nvPr/>
        </p:nvSpPr>
        <p:spPr>
          <a:xfrm>
            <a:off x="4873752" y="1143000"/>
            <a:ext cx="3703320" cy="320040"/>
          </a:xfrm>
          <a:prstGeom prst="rect">
            <a:avLst/>
          </a:prstGeom>
          <a:noFill/>
          <a:ln/>
        </p:spPr>
        <p:txBody>
          <a:bodyPr wrap="square" lIns="0" tIns="0" rIns="0" bIns="0" rtlCol="0" anchor="t"/>
          <a:lstStyle/>
          <a:p>
            <a:pPr indent="0" marL="0">
              <a:buNone/>
            </a:pPr>
            <a:r>
              <a:rPr lang="en-US" sz="1400" b="1" dirty="0">
                <a:solidFill>
                  <a:srgbClr val="D97706"/>
                </a:solidFill>
                <a:latin typeface="Calibri" pitchFamily="34" charset="0"/>
                <a:ea typeface="Calibri" pitchFamily="34" charset="-122"/>
                <a:cs typeface="Calibri" pitchFamily="34" charset="-120"/>
              </a:rPr>
              <a:t>Fix: target leakage</a:t>
            </a:r>
            <a:endParaRPr lang="en-US" sz="1400" dirty="0"/>
          </a:p>
        </p:txBody>
      </p:sp>
      <p:sp>
        <p:nvSpPr>
          <p:cNvPr id="17" name="Text 15"/>
          <p:cNvSpPr txBox="1"/>
          <p:nvPr/>
        </p:nvSpPr>
        <p:spPr>
          <a:xfrm>
            <a:off x="4873752" y="1490472"/>
            <a:ext cx="3685032" cy="1207008"/>
          </a:xfrm>
          <a:prstGeom prst="rect">
            <a:avLst/>
          </a:prstGeom>
          <a:noFill/>
          <a:ln/>
        </p:spPr>
        <p:txBody>
          <a:bodyPr wrap="square" lIns="0" tIns="0" rIns="0" bIns="0" rtlCol="0" anchor="t"/>
          <a:lstStyle/>
          <a:p>
            <a:pPr indent="0" marL="0">
              <a:spcAft>
                <a:spcPts val="300"/>
              </a:spcAft>
              <a:buNone/>
            </a:pPr>
            <a:r>
              <a:rPr lang="en-US" sz="1150" dirty="0">
                <a:solidFill>
                  <a:srgbClr val="0F172A"/>
                </a:solidFill>
              </a:rPr>
              <a:t>The Module 3 table keeps the raw 'No-show' text column. Module 4's train.py only dropped the numeric flag, so 'No-show' would have been fed to the model as an input. It was removed, along with raw timestamps and the patient hash.</a:t>
            </a:r>
            <a:endParaRPr lang="en-US" sz="1150" dirty="0"/>
          </a:p>
        </p:txBody>
      </p:sp>
      <p:sp>
        <p:nvSpPr>
          <p:cNvPr id="18" name="Shape 16"/>
          <p:cNvSpPr/>
          <p:nvPr/>
        </p:nvSpPr>
        <p:spPr>
          <a:xfrm>
            <a:off x="4709160" y="2926080"/>
            <a:ext cx="3977640" cy="1737360"/>
          </a:xfrm>
          <a:prstGeom prst="roundRect">
            <a:avLst>
              <a:gd name="adj" fmla="val 5263"/>
            </a:avLst>
          </a:prstGeom>
          <a:solidFill>
            <a:srgbClr val="FFFFFF"/>
          </a:solidFill>
          <a:ln w="9525">
            <a:solidFill>
              <a:srgbClr val="0891B2">
                <a:alpha val="55000"/>
              </a:srgbClr>
            </a:solidFill>
            <a:prstDash val="solid"/>
          </a:ln>
        </p:spPr>
      </p:sp>
      <p:sp>
        <p:nvSpPr>
          <p:cNvPr id="19" name="Shape 17"/>
          <p:cNvSpPr/>
          <p:nvPr/>
        </p:nvSpPr>
        <p:spPr>
          <a:xfrm>
            <a:off x="4727448" y="3054096"/>
            <a:ext cx="45720" cy="292608"/>
          </a:xfrm>
          <a:prstGeom prst="rect">
            <a:avLst/>
          </a:prstGeom>
          <a:solidFill>
            <a:srgbClr val="0891B2"/>
          </a:solidFill>
          <a:ln w="12700">
            <a:solidFill>
              <a:srgbClr val="0891B2">
                <a:alpha val="0"/>
              </a:srgbClr>
            </a:solidFill>
            <a:prstDash val="solid"/>
          </a:ln>
        </p:spPr>
      </p:sp>
      <p:sp>
        <p:nvSpPr>
          <p:cNvPr id="20" name="Text 18"/>
          <p:cNvSpPr txBox="1"/>
          <p:nvPr/>
        </p:nvSpPr>
        <p:spPr>
          <a:xfrm>
            <a:off x="4873752" y="3017520"/>
            <a:ext cx="370332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Fix: cut-off</a:t>
            </a:r>
            <a:endParaRPr lang="en-US" sz="1400" dirty="0"/>
          </a:p>
        </p:txBody>
      </p:sp>
      <p:sp>
        <p:nvSpPr>
          <p:cNvPr id="21" name="Text 19"/>
          <p:cNvSpPr txBox="1"/>
          <p:nvPr/>
        </p:nvSpPr>
        <p:spPr>
          <a:xfrm>
            <a:off x="4873752" y="3364992"/>
            <a:ext cx="3685032" cy="1207008"/>
          </a:xfrm>
          <a:prstGeom prst="rect">
            <a:avLst/>
          </a:prstGeom>
          <a:noFill/>
          <a:ln/>
        </p:spPr>
        <p:txBody>
          <a:bodyPr wrap="square" lIns="0" tIns="0" rIns="0" bIns="0" rtlCol="0" anchor="t"/>
          <a:lstStyle/>
          <a:p>
            <a:pPr indent="0" marL="0">
              <a:spcAft>
                <a:spcPts val="300"/>
              </a:spcAft>
              <a:buNone/>
            </a:pPr>
            <a:r>
              <a:rPr lang="en-US" sz="1150" dirty="0">
                <a:solidFill>
                  <a:srgbClr val="0F172A"/>
                </a:solidFill>
              </a:rPr>
              <a:t>At the default 50% cut-off XGBoost catches only 4.9% of no-shows. A cut-off of 0.252 was chosen from 3-fold out-of-fold training predictions (recall at least 0.65), never from test data.</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A3. Model comparison on the unseen test set</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19</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Baselines: most-frequent and stratified-random dummy classifiers</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0"/>
                <a:gridCol w="822960"/>
                <a:gridCol w="1005840"/>
                <a:gridCol w="914400"/>
                <a:gridCol w="1005840"/>
                <a:gridCol w="822960"/>
                <a:gridCol w="914400"/>
              </a:tblGrid>
              <a:tr h="365760">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Cut-off</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ROC-AUC</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Flagged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36576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0.48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0.690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0.651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0.309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0.419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0.755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0.664</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0.352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0.460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XGBoost (used)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0.752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0.678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0.349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0.461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XGBoost at default cut-off</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0.752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0.049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0.683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0.091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Majority-class baseline</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0.500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Random (stratified) baseline</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0.504</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0.209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0.208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0.209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200" dirty="0">
                <a:solidFill>
                  <a:srgbClr val="0F172A"/>
                </a:solidFill>
              </a:rPr>
              <a:t>Random forest scored marginally higher on ROC-AUC (0.755 vs 0.752); the three models are close. XGBoost is used throughout because it is the Module 4 API model.</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A4. What the standard flagging rule does to 22,103 unseen appointments</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20</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Cut-off 0.252</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754880" cy="914400"/>
        </p:xfrm>
        <a:graphic>
          <a:graphicData uri="http://schemas.openxmlformats.org/drawingml/2006/table">
            <a:tbl>
              <a:tblPr/>
              <a:tblGrid>
                <a:gridCol w="1463040"/>
                <a:gridCol w="1645920"/>
                <a:gridCol w="1645920"/>
              </a:tblGrid>
              <a:tr h="594360">
                <a:tc>
                  <a:txBody>
                    <a:bodyPr/>
                    <a:lstStyle/>
                    <a:p>
                      <a:pPr indent="0" marL="0">
                        <a:buNone/>
                      </a:pP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Flagged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Not flagged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594360">
                <a:tc>
                  <a:txBody>
                    <a:bodyPr/>
                    <a:lstStyle/>
                    <a:p>
                      <a:pPr indent="0" marL="0">
                        <a:buNone/>
                      </a:pPr>
                      <a:r>
                        <a:rPr lang="en-US" sz="1100" b="1" dirty="0">
                          <a:solidFill>
                            <a:srgbClr val="0F172A"/>
                          </a:solidFill>
                          <a:latin typeface="Calibri" pitchFamily="34" charset="0"/>
                          <a:ea typeface="Calibri" pitchFamily="34" charset="-122"/>
                          <a:cs typeface="Calibri" pitchFamily="34" charset="-120"/>
                        </a:rPr>
                        <a:t>Missed the visit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3,026 caught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1,436 missed by model</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94360">
                <a:tc>
                  <a:txBody>
                    <a:bodyPr/>
                    <a:lstStyle/>
                    <a:p>
                      <a:pPr indent="0" marL="0">
                        <a:buNone/>
                      </a:pPr>
                      <a:r>
                        <a:rPr lang="en-US" sz="1100" b="1" dirty="0">
                          <a:solidFill>
                            <a:srgbClr val="0F172A"/>
                          </a:solidFill>
                          <a:latin typeface="Calibri" pitchFamily="34" charset="0"/>
                          <a:ea typeface="Calibri" pitchFamily="34" charset="-122"/>
                          <a:cs typeface="Calibri" pitchFamily="34" charset="-120"/>
                        </a:rPr>
                        <a:t>Attended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DB2777"/>
                          </a:solidFill>
                          <a:latin typeface="Calibri" pitchFamily="34" charset="0"/>
                          <a:ea typeface="Calibri" pitchFamily="34" charset="-122"/>
                          <a:cs typeface="Calibri" pitchFamily="34" charset="-120"/>
                        </a:rPr>
                        <a:t>5,633 false alarms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12,008 correctly not flagged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11" name="Shape 8"/>
          <p:cNvSpPr/>
          <p:nvPr/>
        </p:nvSpPr>
        <p:spPr>
          <a:xfrm>
            <a:off x="5486400" y="1188720"/>
            <a:ext cx="3200400" cy="3291840"/>
          </a:xfrm>
          <a:prstGeom prst="roundRect">
            <a:avLst>
              <a:gd name="adj" fmla="val 2857"/>
            </a:avLst>
          </a:prstGeom>
          <a:solidFill>
            <a:srgbClr val="FFFFFF"/>
          </a:solidFill>
          <a:ln w="9525">
            <a:solidFill>
              <a:srgbClr val="0891B2">
                <a:alpha val="55000"/>
              </a:srgbClr>
            </a:solidFill>
            <a:prstDash val="solid"/>
          </a:ln>
        </p:spPr>
      </p:sp>
      <p:sp>
        <p:nvSpPr>
          <p:cNvPr id="12" name="Shape 9"/>
          <p:cNvSpPr/>
          <p:nvPr/>
        </p:nvSpPr>
        <p:spPr>
          <a:xfrm>
            <a:off x="5504688" y="1316736"/>
            <a:ext cx="45720" cy="292608"/>
          </a:xfrm>
          <a:prstGeom prst="rect">
            <a:avLst/>
          </a:prstGeom>
          <a:solidFill>
            <a:srgbClr val="0891B2"/>
          </a:solidFill>
          <a:ln w="12700">
            <a:solidFill>
              <a:srgbClr val="0891B2">
                <a:alpha val="0"/>
              </a:srgbClr>
            </a:solidFill>
            <a:prstDash val="solid"/>
          </a:ln>
        </p:spPr>
      </p:sp>
      <p:sp>
        <p:nvSpPr>
          <p:cNvPr id="13" name="Text 10"/>
          <p:cNvSpPr txBox="1"/>
          <p:nvPr/>
        </p:nvSpPr>
        <p:spPr>
          <a:xfrm>
            <a:off x="5650992" y="1280160"/>
            <a:ext cx="292608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Risk tiers (test set)</a:t>
            </a:r>
            <a:endParaRPr lang="en-US" sz="1400" dirty="0"/>
          </a:p>
        </p:txBody>
      </p:sp>
      <p:sp>
        <p:nvSpPr>
          <p:cNvPr id="14" name="Text 11"/>
          <p:cNvSpPr txBox="1"/>
          <p:nvPr/>
        </p:nvSpPr>
        <p:spPr>
          <a:xfrm>
            <a:off x="5650992" y="1627632"/>
            <a:ext cx="2907792" cy="276148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High (score 40%+): about 5% of appointments, 53% actually missed.</a:t>
            </a:r>
            <a:endParaRPr lang="en-US" sz="1200" dirty="0"/>
          </a:p>
          <a:p>
            <a:pPr indent="0" marL="0">
              <a:spcAft>
                <a:spcPts val="300"/>
              </a:spcAft>
              <a:buNone/>
            </a:pPr>
            <a:r>
              <a:rPr lang="en-US" sz="1200" dirty="0">
                <a:solidFill>
                  <a:srgbClr val="0F172A"/>
                </a:solidFill>
              </a:rPr>
              <a:t>Medium (cut-off to 40%): about 34% of appointments, 32% missed.</a:t>
            </a:r>
            <a:endParaRPr lang="en-US" sz="1200" dirty="0"/>
          </a:p>
          <a:p>
            <a:pPr indent="0" marL="0">
              <a:spcAft>
                <a:spcPts val="300"/>
              </a:spcAft>
              <a:buNone/>
            </a:pPr>
            <a:r>
              <a:rPr lang="en-US" sz="1200" dirty="0">
                <a:solidFill>
                  <a:srgbClr val="0F172A"/>
                </a:solidFill>
              </a:rPr>
              <a:t>Low (below cut-off): about 61% of appointments, 11% missed.</a:t>
            </a:r>
            <a:endParaRPr lang="en-US" sz="1200" dirty="0"/>
          </a:p>
          <a:p>
            <a:pPr indent="0" marL="0">
              <a:spcAft>
                <a:spcPts val="300"/>
              </a:spcAft>
              <a:buNone/>
            </a:pPr>
            <a:r>
              <a:rPr lang="en-US" sz="1200" dirty="0">
                <a:solidFill>
                  <a:srgbClr val="0F172A"/>
                </a:solidFill>
              </a:rPr>
              <a:t>Overall rate: 20%.</a:t>
            </a:r>
            <a:endParaRPr lang="en-US" sz="1200" dirty="0"/>
          </a:p>
        </p:txBody>
      </p:sp>
      <p:sp>
        <p:nvSpPr>
          <p:cNvPr id="15" name="Text 12"/>
          <p:cNvSpPr txBox="1"/>
          <p:nvPr/>
        </p:nvSpPr>
        <p:spPr>
          <a:xfrm>
            <a:off x="457200" y="3200400"/>
            <a:ext cx="4754880" cy="822960"/>
          </a:xfrm>
          <a:prstGeom prst="rect">
            <a:avLst/>
          </a:prstGeom>
          <a:noFill/>
          <a:ln/>
        </p:spPr>
        <p:txBody>
          <a:bodyPr wrap="square" lIns="0" tIns="0" rIns="0" bIns="0" rtlCol="0" anchor="ctr"/>
          <a:lstStyle/>
          <a:p>
            <a:pPr indent="0" marL="0">
              <a:buNone/>
            </a:pPr>
            <a:r>
              <a:rPr lang="en-US" sz="1200" dirty="0">
                <a:solidFill>
                  <a:srgbClr val="0F172A"/>
                </a:solidFill>
              </a:rPr>
              <a:t>Across the ten score groups the model's average score tracks the actual miss rate closely (slide 6), so the scores behave like genuine probabilities.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A5. Fairness detail by age group (standard rule)</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21</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Flag rate = share flagged. Catch rate = share of real no-shows flagged. False alarm = share of attendees flagged.</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1280160"/>
                <a:gridCol w="1371600"/>
                <a:gridCol w="1097280"/>
                <a:gridCol w="1188720"/>
                <a:gridCol w="1097280"/>
              </a:tblGrid>
              <a:tr h="347472">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Age group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Appointments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Actual no-show</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Flagged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Catch rate</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False alarm</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Child 0-12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4,217</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21.2%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49.5%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79.1%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41.5%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Teen 13-18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1,542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27.2%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60.6%</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89.0%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Young adult 19-35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4,792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23.8%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59.0%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87.9%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Adult 36-55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6,025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38.0%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64.6%</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31.4%</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Senior 56-75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4,412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8.6%</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20.3%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Elderly 76+</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1,115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14.3%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12.9%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26.9%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10.6%</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457200" y="3657600"/>
            <a:ext cx="8229600" cy="822960"/>
          </a:xfrm>
          <a:prstGeom prst="rect">
            <a:avLst/>
          </a:prstGeom>
          <a:noFill/>
          <a:ln/>
        </p:spPr>
        <p:txBody>
          <a:bodyPr wrap="square" lIns="0" tIns="0" rIns="0" bIns="0" rtlCol="0" anchor="ctr"/>
          <a:lstStyle/>
          <a:p>
            <a:pPr indent="0" marL="0">
              <a:buNone/>
            </a:pPr>
            <a:r>
              <a:rPr lang="en-US" sz="1200" dirty="0">
                <a:solidFill>
                  <a:srgbClr val="0F172A"/>
                </a:solidFill>
              </a:rPr>
              <a:t>Gender: women flagged 39.5%, men 38.5%; catch rates 67.7% and 68.0%. Scholarship: flagged 52.8% with vs 37.7% without. Metrics computed with Fairlearn; limit 0.05 from Charter Principle 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A6. Mitigation detail: per-age-group cut-offs and error rates</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22</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Option A cut-offs set on training out-of-fold predictions to give each age group about 65% recall</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1371600"/>
                <a:gridCol w="1188720"/>
                <a:gridCol w="1188720"/>
                <a:gridCol w="1188720"/>
                <a:gridCol w="1097280"/>
              </a:tblGrid>
              <a:tr h="347472">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Age group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Option A cut-off</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A: flagged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B: flagged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B: catch rate</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B: false alarm</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Child 0-12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0.285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83%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Teen 13-18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0.308</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86%</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Young adult 19-35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0.305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Adult 36-55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0.244</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82%</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Senior 56-75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0.194</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87%</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Elderly 76+</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0.200</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83%</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457200" y="3657600"/>
            <a:ext cx="8229600" cy="822960"/>
          </a:xfrm>
          <a:prstGeom prst="rect">
            <a:avLst/>
          </a:prstGeom>
          <a:noFill/>
          <a:ln/>
        </p:spPr>
        <p:txBody>
          <a:bodyPr wrap="square" lIns="0" tIns="0" rIns="0" bIns="0" rtlCol="0" anchor="ctr"/>
          <a:lstStyle/>
          <a:p>
            <a:pPr indent="0" marL="0">
              <a:buNone/>
            </a:pPr>
            <a:r>
              <a:rPr lang="en-US" sz="1200" dirty="0">
                <a:solidFill>
                  <a:srgbClr val="0F172A"/>
                </a:solidFill>
              </a:rPr>
              <a:t>Option B uses randomised decisions within group cut-offs, which a hospital would need to justify to patients. Option A is deterministic and explainable but leaves an age gap above the limit. Gender and scholarship gaps are under 0.05 under B.</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A7. API demo: FastAPI scoring service (api_demo.py)</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23</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Endpoints: GET /health, GET /model_info, POST /predict. Run: python api_demo.py</a:t>
            </a:r>
            <a:endParaRPr lang="en-US" sz="1000" dirty="0"/>
          </a:p>
        </p:txBody>
      </p:sp>
      <p:sp>
        <p:nvSpPr>
          <p:cNvPr id="10" name="Shape 8"/>
          <p:cNvSpPr/>
          <p:nvPr/>
        </p:nvSpPr>
        <p:spPr>
          <a:xfrm>
            <a:off x="457200" y="1097280"/>
            <a:ext cx="4754880" cy="3520440"/>
          </a:xfrm>
          <a:prstGeom prst="rect">
            <a:avLst/>
          </a:prstGeom>
          <a:solidFill>
            <a:srgbClr val="050813"/>
          </a:solidFill>
          <a:ln w="12700">
            <a:solidFill>
              <a:srgbClr val="0891B2">
                <a:alpha val="50000"/>
              </a:srgbClr>
            </a:solidFill>
            <a:prstDash val="solid"/>
          </a:ln>
        </p:spPr>
      </p:sp>
      <p:sp>
        <p:nvSpPr>
          <p:cNvPr id="11" name="Text 9"/>
          <p:cNvSpPr txBox="1"/>
          <p:nvPr/>
        </p:nvSpPr>
        <p:spPr>
          <a:xfrm>
            <a:off x="640080" y="1188720"/>
            <a:ext cx="4480560" cy="3383280"/>
          </a:xfrm>
          <a:prstGeom prst="rect">
            <a:avLst/>
          </a:prstGeom>
          <a:noFill/>
          <a:ln/>
        </p:spPr>
        <p:txBody>
          <a:bodyPr wrap="square" lIns="0" tIns="0" rIns="0" bIns="0" rtlCol="0" anchor="t"/>
          <a:lstStyle/>
          <a:p>
            <a:pPr indent="0" marL="0">
              <a:buNone/>
            </a:pPr>
            <a:r>
              <a:rPr lang="en-US" sz="1050" dirty="0">
                <a:solidFill>
                  <a:srgbClr val="059669"/>
                </a:solidFill>
                <a:latin typeface="Courier New" pitchFamily="34" charset="0"/>
                <a:ea typeface="Courier New" pitchFamily="34" charset="-122"/>
                <a:cs typeface="Courier New" pitchFamily="34" charset="-120"/>
              </a:rPr>
              <a:t>POST /predict   (patient A)</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"no_show_probability": 0.5294,</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"risk_tier": "high",</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"flagged_for_outreach": true,</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"reason_codes": [</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"Days between booking and</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appointment: raises risk",</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"Share of past appointments</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missed: raises risk",</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"Number of past missed</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appointments: raises risk"</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059669"/>
                </a:solidFill>
                <a:latin typeface="Courier New" pitchFamily="34" charset="0"/>
                <a:ea typeface="Courier New" pitchFamily="34" charset="-122"/>
                <a:cs typeface="Courier New" pitchFamily="34" charset="-120"/>
              </a:rPr>
              <a:t>}</a:t>
            </a:r>
            <a:endParaRPr lang="en-US" sz="1050" dirty="0"/>
          </a:p>
        </p:txBody>
      </p:sp>
      <p:sp>
        <p:nvSpPr>
          <p:cNvPr id="12" name="Shape 10"/>
          <p:cNvSpPr/>
          <p:nvPr/>
        </p:nvSpPr>
        <p:spPr>
          <a:xfrm>
            <a:off x="5394960" y="1097280"/>
            <a:ext cx="3291840" cy="3520440"/>
          </a:xfrm>
          <a:prstGeom prst="roundRect">
            <a:avLst>
              <a:gd name="adj" fmla="val 2778"/>
            </a:avLst>
          </a:prstGeom>
          <a:solidFill>
            <a:srgbClr val="FFFFFF"/>
          </a:solidFill>
          <a:ln w="9525">
            <a:solidFill>
              <a:srgbClr val="0891B2">
                <a:alpha val="55000"/>
              </a:srgbClr>
            </a:solidFill>
            <a:prstDash val="solid"/>
          </a:ln>
        </p:spPr>
      </p:sp>
      <p:sp>
        <p:nvSpPr>
          <p:cNvPr id="13" name="Shape 11"/>
          <p:cNvSpPr/>
          <p:nvPr/>
        </p:nvSpPr>
        <p:spPr>
          <a:xfrm>
            <a:off x="5413248" y="1225296"/>
            <a:ext cx="45720" cy="292608"/>
          </a:xfrm>
          <a:prstGeom prst="rect">
            <a:avLst/>
          </a:prstGeom>
          <a:solidFill>
            <a:srgbClr val="0891B2"/>
          </a:solidFill>
          <a:ln w="12700">
            <a:solidFill>
              <a:srgbClr val="0891B2">
                <a:alpha val="0"/>
              </a:srgbClr>
            </a:solidFill>
            <a:prstDash val="solid"/>
          </a:ln>
        </p:spPr>
      </p:sp>
      <p:sp>
        <p:nvSpPr>
          <p:cNvPr id="14" name="Text 12"/>
          <p:cNvSpPr txBox="1"/>
          <p:nvPr/>
        </p:nvSpPr>
        <p:spPr>
          <a:xfrm>
            <a:off x="5559552" y="1188720"/>
            <a:ext cx="301752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What the demo shows</a:t>
            </a:r>
            <a:endParaRPr lang="en-US" sz="1400" dirty="0"/>
          </a:p>
        </p:txBody>
      </p:sp>
      <p:sp>
        <p:nvSpPr>
          <p:cNvPr id="15" name="Text 13"/>
          <p:cNvSpPr txBox="1"/>
          <p:nvPr/>
        </p:nvSpPr>
        <p:spPr>
          <a:xfrm>
            <a:off x="5559552" y="1536192"/>
            <a:ext cx="2999232" cy="2990088"/>
          </a:xfrm>
          <a:prstGeom prst="rect">
            <a:avLst/>
          </a:prstGeom>
          <a:noFill/>
          <a:ln/>
        </p:spPr>
        <p:txBody>
          <a:bodyPr wrap="square" lIns="0" tIns="0" rIns="0" bIns="0" rtlCol="0" anchor="t"/>
          <a:lstStyle/>
          <a:p>
            <a:pPr indent="0" marL="0">
              <a:spcAft>
                <a:spcPts val="300"/>
              </a:spcAft>
              <a:buNone/>
            </a:pPr>
            <a:r>
              <a:rPr lang="en-US" sz="1150" dirty="0">
                <a:solidFill>
                  <a:srgbClr val="0F172A"/>
                </a:solidFill>
              </a:rPr>
              <a:t>Starts the service, checks health and model info, then scores three patients: A (long lead time, past misses): high; B (mid lead time, one past miss): medium; C (same-day booking, reliable): low.</a:t>
            </a:r>
            <a:endParaRPr lang="en-US" sz="1150" dirty="0"/>
          </a:p>
          <a:p>
            <a:pPr indent="0" marL="0">
              <a:spcAft>
                <a:spcPts val="300"/>
              </a:spcAft>
              <a:buNone/>
            </a:pPr>
            <a:endParaRPr lang="en-US" sz="1150" dirty="0"/>
          </a:p>
          <a:p>
            <a:pPr indent="0" marL="0">
              <a:spcAft>
                <a:spcPts val="300"/>
              </a:spcAft>
              <a:buNone/>
            </a:pPr>
            <a:r>
              <a:rPr lang="en-US" sz="1150" dirty="0">
                <a:solidFill>
                  <a:srgbClr val="0F172A"/>
                </a:solidFill>
              </a:rPr>
              <a:t>A request with missing fields returns a clear 422 error.</a:t>
            </a:r>
            <a:endParaRPr lang="en-US" sz="1150" dirty="0"/>
          </a:p>
          <a:p>
            <a:pPr indent="0" marL="0">
              <a:spcAft>
                <a:spcPts val="300"/>
              </a:spcAft>
              <a:buNone/>
            </a:pPr>
            <a:endParaRPr lang="en-US" sz="1150" dirty="0"/>
          </a:p>
          <a:p>
            <a:pPr indent="0" marL="0">
              <a:spcAft>
                <a:spcPts val="300"/>
              </a:spcAft>
              <a:buNone/>
            </a:pPr>
            <a:r>
              <a:rPr lang="en-US" sz="1150" dirty="0">
                <a:solidFill>
                  <a:srgbClr val="0F172A"/>
                </a:solidFill>
              </a:rPr>
              <a:t>Every response carries the note that a human decides.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A8. Differences between earlier modules and the real run</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24</a:t>
            </a:r>
            <a:endParaRPr lang="en-US" sz="1000" dirty="0"/>
          </a:p>
        </p:txBody>
      </p:sp>
      <p:sp>
        <p:nvSpPr>
          <p:cNvPr id="9" name="Text 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i="1" dirty="0">
                <a:solidFill>
                  <a:srgbClr val="64748B"/>
                </a:solidFill>
              </a:rPr>
              <a:t>Noted so the final project integrates consistent figures</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383280"/>
                <a:gridCol w="4846320"/>
              </a:tblGrid>
              <a:tr h="502920">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Earlier statement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c>
                  <a:txBody>
                    <a:bodyPr/>
                    <a:lstStyle/>
                    <a:p>
                      <a:pPr indent="0" marL="0">
                        <a:buNone/>
                      </a:pPr>
                      <a:r>
                        <a:rPr lang="en-US" sz="1100" b="1" dirty="0">
                          <a:solidFill>
                            <a:srgbClr val="0E7490"/>
                          </a:solidFill>
                          <a:latin typeface="Calibri" pitchFamily="34" charset="0"/>
                          <a:ea typeface="Calibri" pitchFamily="34" charset="-122"/>
                          <a:cs typeface="Calibri" pitchFamily="34" charset="-120"/>
                        </a:rPr>
                        <a:t>What the real run shows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6F0FB"/>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Module 4: 110,527 records after cleaning</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110,514 after the documented cleaning rules (13 removed)</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Module 4: results 'populated from MLflow'</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Real values: AUC 0.752, recall 0.678, precision 0.349, F1 0.461</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Modules 3-4: bias checks 'expected', fairness assumed to pass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Data checks pass on the real file; the model fails age-group and scholarship fairness limits</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Module 2: ED wait-time and churn text</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Left over from another project; this work uses the no-show framing only</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Module 1 G3: Medicaid vs private gap</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Not in the dataset; welfare scholarship used as a stand-in and labelled as such</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API tiers fixed at 0.4 / 0.7</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Scores rarely exceed 0.5, so tiers are now cut-off to 0.40 (medium) and 0.40+ (high)</a:t>
                      </a:r>
                      <a:endParaRPr lang="en-US" sz="1100" dirty="0">
                        <a:latin typeface="Calibri" charset="0"/>
                        <a:ea typeface="Calibri" charset="0"/>
                        <a:cs typeface="Calibri" charset="0"/>
                      </a:endParaRPr>
                    </a:p>
                  </a:txBody>
                  <a:tcPr marL="73152" marR="73152" marT="27432" marB="27432"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A9. References (NXU / APA 7th)</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25</a:t>
            </a:r>
            <a:endParaRPr lang="en-US" sz="1000" dirty="0"/>
          </a:p>
        </p:txBody>
      </p:sp>
      <p:sp>
        <p:nvSpPr>
          <p:cNvPr id="9" name="Text 7"/>
          <p:cNvSpPr txBox="1"/>
          <p:nvPr/>
        </p:nvSpPr>
        <p:spPr>
          <a:xfrm>
            <a:off x="457200" y="1005840"/>
            <a:ext cx="8229600" cy="3749040"/>
          </a:xfrm>
          <a:prstGeom prst="rect">
            <a:avLst/>
          </a:prstGeom>
          <a:noFill/>
          <a:ln/>
        </p:spPr>
        <p:txBody>
          <a:bodyPr wrap="square" lIns="0" tIns="0" rIns="0" bIns="0" rtlCol="0" anchor="t"/>
          <a:lstStyle/>
          <a:p>
            <a:pPr indent="0" marL="0">
              <a:spcAft>
                <a:spcPts val="500"/>
              </a:spcAft>
              <a:buNone/>
            </a:pPr>
            <a:r>
              <a:rPr lang="en-US" sz="1100" dirty="0">
                <a:solidFill>
                  <a:srgbClr val="0F172A"/>
                </a:solidFill>
              </a:rPr>
              <a:t>Barredo Arrieta, A., Díaz-Rodríguez, N., Del Ser, J., Bennetot, A., Tabik, S., Barbado, A., ... Herrera, F. (2020). Explainable artificial intelligence (XAI): Concepts, taxonomies, opportunities and challenges toward responsible AI. Information Fusion, 58, 82-115. https://doi.org/10.1016/j.inffus.2019.12.012</a:t>
            </a:r>
            <a:endParaRPr lang="en-US" sz="1100" dirty="0"/>
          </a:p>
          <a:p>
            <a:pPr indent="0" marL="0">
              <a:spcAft>
                <a:spcPts val="500"/>
              </a:spcAft>
              <a:buNone/>
            </a:pPr>
            <a:r>
              <a:rPr lang="en-US" sz="1100" dirty="0">
                <a:solidFill>
                  <a:srgbClr val="0F172A"/>
                </a:solidFill>
              </a:rPr>
              <a:t>Bird, S., Dudík, M., Edgar, R., Horn, B., Lutz, R., Milan, V., ... Walker, K. (2020). Fairlearn: A toolkit for assessing and improving fairness in AI (Technical Report MSR-TR-2020-32). Microsoft.</a:t>
            </a:r>
            <a:endParaRPr lang="en-US" sz="1100" dirty="0"/>
          </a:p>
          <a:p>
            <a:pPr indent="0" marL="0">
              <a:spcAft>
                <a:spcPts val="500"/>
              </a:spcAft>
              <a:buNone/>
            </a:pPr>
            <a:r>
              <a:rPr lang="en-US" sz="1100" dirty="0">
                <a:solidFill>
                  <a:srgbClr val="0F172A"/>
                </a:solidFill>
              </a:rPr>
              <a:t>Chen, T., &amp; Guestrin, C. (2016). XGBoost: A scalable tree boosting system. In Proceedings of the 22nd ACM SIGKDD International Conference on Knowledge Discovery and Data Mining (pp. 785-794). ACM. https://doi.org/10.1145/2939672.2939785</a:t>
            </a:r>
            <a:endParaRPr lang="en-US" sz="1100" dirty="0"/>
          </a:p>
          <a:p>
            <a:pPr indent="0" marL="0">
              <a:spcAft>
                <a:spcPts val="500"/>
              </a:spcAft>
              <a:buNone/>
            </a:pPr>
            <a:r>
              <a:rPr lang="en-US" sz="1100" dirty="0">
                <a:solidFill>
                  <a:srgbClr val="0F172A"/>
                </a:solidFill>
              </a:rPr>
              <a:t>Hardt, M., Price, E., &amp; Srebro, N. (2016). Equality of opportunity in supervised learning. In Advances in Neural Information Processing Systems 29 (pp. 3315-3323).</a:t>
            </a:r>
            <a:endParaRPr lang="en-US" sz="1100" dirty="0"/>
          </a:p>
          <a:p>
            <a:pPr indent="0" marL="0">
              <a:spcAft>
                <a:spcPts val="500"/>
              </a:spcAft>
              <a:buNone/>
            </a:pPr>
            <a:r>
              <a:rPr lang="en-US" sz="1100" dirty="0">
                <a:solidFill>
                  <a:srgbClr val="0F172A"/>
                </a:solidFill>
              </a:rPr>
              <a:t>Lundberg, S. M., &amp; Lee, S.-I. (2017). A unified approach to interpreting model predictions. In Advances in Neural Information Processing Systems 30 (pp. 4765-4774).</a:t>
            </a:r>
            <a:endParaRPr lang="en-US" sz="1100" dirty="0"/>
          </a:p>
          <a:p>
            <a:pPr indent="0" marL="0">
              <a:spcAft>
                <a:spcPts val="500"/>
              </a:spcAft>
              <a:buNone/>
            </a:pPr>
            <a:r>
              <a:rPr lang="en-US" sz="1100" dirty="0">
                <a:solidFill>
                  <a:srgbClr val="0F172A"/>
                </a:solidFill>
              </a:rPr>
              <a:t>Mehrabi, N., Morstatter, F., Saxena, N., Lerman, K., &amp; Galstyan, A. (2021). A survey on bias and fairness in machine learning. ACM Computing Surveys, 54(6), 1-35. https://doi.org/10.1145/3457607</a:t>
            </a:r>
            <a:endParaRPr lang="en-US" sz="1100" dirty="0"/>
          </a:p>
          <a:p>
            <a:pPr indent="0" marL="0">
              <a:spcAft>
                <a:spcPts val="500"/>
              </a:spcAft>
              <a:buNone/>
            </a:pPr>
            <a:r>
              <a:rPr lang="en-US" sz="1100" dirty="0">
                <a:solidFill>
                  <a:srgbClr val="0F172A"/>
                </a:solidFill>
              </a:rPr>
              <a:t>Mitchell, M., Wu, S., Zaldivar, A., Barnes, P., Vasserman, L., Hutchinson, B., ... Gebru, T. (2019). Model cards for model reporting. In Proceedings of the Conference on Fairness, Accountability, and Transparency (pp. 220-229). ACM. https://doi.org/10.1145/3287560.3287596</a:t>
            </a:r>
            <a:endParaRPr lang="en-US" sz="1100" dirty="0"/>
          </a:p>
          <a:p>
            <a:pPr indent="0" marL="0">
              <a:spcAft>
                <a:spcPts val="500"/>
              </a:spcAft>
              <a:buNone/>
            </a:pPr>
            <a:r>
              <a:rPr lang="en-US" sz="1100" dirty="0">
                <a:solidFill>
                  <a:srgbClr val="0F172A"/>
                </a:solidFill>
              </a:rPr>
              <a:t>Obermeyer, Z., Powers, B., Vogeli, C., &amp; Mullainathan, S. (2019). Dissecting racial bias in an algorithm used to manage the health of populations. Science, 366(6464), 447-453. https://doi.org/10.1126/science.aax2342</a:t>
            </a:r>
            <a:endParaRPr lang="en-US" sz="1100" dirty="0"/>
          </a:p>
          <a:p>
            <a:pPr indent="0" marL="0">
              <a:spcAft>
                <a:spcPts val="500"/>
              </a:spcAft>
              <a:buNone/>
            </a:pPr>
            <a:r>
              <a:rPr lang="en-US" sz="1100" dirty="0">
                <a:solidFill>
                  <a:srgbClr val="0F172A"/>
                </a:solidFill>
              </a:rPr>
              <a:t>Vianna, J. (2016). Medical appointment no shows [Data set]. Kaggle. https://www.kaggle.com/datasets/joniarroba/noshowappointments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7C3AED">
              <a:alpha val="12000"/>
            </a:srgbClr>
          </a:solidFill>
          <a:ln w="12700">
            <a:solidFill>
              <a:srgbClr val="7C3AED">
                <a:alpha val="0"/>
              </a:srgbClr>
            </a:solidFill>
            <a:prstDash val="solid"/>
          </a:ln>
        </p:spPr>
      </p:sp>
      <p:sp>
        <p:nvSpPr>
          <p:cNvPr id="3" name="Shape 1"/>
          <p:cNvSpPr/>
          <p:nvPr/>
        </p:nvSpPr>
        <p:spPr>
          <a:xfrm>
            <a:off x="-1097280" y="3931920"/>
            <a:ext cx="2926080" cy="2926080"/>
          </a:xfrm>
          <a:prstGeom prst="ellipse">
            <a:avLst/>
          </a:prstGeom>
          <a:solidFill>
            <a:srgbClr val="0891B2">
              <a:alpha val="12000"/>
            </a:srgbClr>
          </a:solidFill>
          <a:ln w="12700">
            <a:solidFill>
              <a:srgbClr val="0891B2">
                <a:alpha val="0"/>
              </a:srgbClr>
            </a:solidFill>
            <a:prstDash val="solid"/>
          </a:ln>
        </p:spPr>
      </p:sp>
      <p:sp>
        <p:nvSpPr>
          <p:cNvPr id="4" name="Text 2"/>
          <p:cNvSpPr txBox="1"/>
          <p:nvPr/>
        </p:nvSpPr>
        <p:spPr>
          <a:xfrm>
            <a:off x="457200" y="128016"/>
            <a:ext cx="3657600" cy="201168"/>
          </a:xfrm>
          <a:prstGeom prst="rect">
            <a:avLst/>
          </a:prstGeom>
          <a:noFill/>
          <a:ln/>
        </p:spPr>
        <p:txBody>
          <a:bodyPr wrap="square" lIns="0" tIns="0" rIns="0" bIns="0" rtlCol="0" anchor="ctr"/>
          <a:lstStyle/>
          <a:p>
            <a:pPr indent="0" marL="0">
              <a:buNone/>
            </a:pPr>
            <a:r>
              <a:rPr lang="en-US" sz="900" spc="300" kern="0" dirty="0">
                <a:solidFill>
                  <a:srgbClr val="0891B2"/>
                </a:solidFill>
                <a:latin typeface="Consolas" pitchFamily="34" charset="0"/>
                <a:ea typeface="Consolas" pitchFamily="34" charset="-122"/>
                <a:cs typeface="Consolas" pitchFamily="34" charset="-120"/>
              </a:rPr>
              <a:t>// CARECONNECT  AI</a:t>
            </a:r>
            <a:endParaRPr lang="en-US" sz="900" dirty="0"/>
          </a:p>
        </p:txBody>
      </p:sp>
      <p:sp>
        <p:nvSpPr>
          <p:cNvPr id="5" name="Text 3"/>
          <p:cNvSpPr txBox="1"/>
          <p:nvPr/>
        </p:nvSpPr>
        <p:spPr>
          <a:xfrm>
            <a:off x="457200" y="310896"/>
            <a:ext cx="8229600" cy="658368"/>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Calibri" pitchFamily="34" charset="0"/>
                <a:ea typeface="Calibri" pitchFamily="34" charset="-122"/>
                <a:cs typeface="Calibri" pitchFamily="34" charset="-120"/>
              </a:rPr>
              <a:t>A10. AI disclosure and code repository</a:t>
            </a:r>
            <a:endParaRPr lang="en-US" sz="2200" dirty="0"/>
          </a:p>
        </p:txBody>
      </p:sp>
      <p:sp>
        <p:nvSpPr>
          <p:cNvPr id="6" name="Shape 4"/>
          <p:cNvSpPr/>
          <p:nvPr/>
        </p:nvSpPr>
        <p:spPr>
          <a:xfrm>
            <a:off x="457200" y="1005840"/>
            <a:ext cx="1005840" cy="36576"/>
          </a:xfrm>
          <a:prstGeom prst="rect">
            <a:avLst/>
          </a:prstGeom>
          <a:solidFill>
            <a:srgbClr val="0891B2"/>
          </a:solidFill>
          <a:ln w="12700">
            <a:solidFill>
              <a:srgbClr val="0891B2">
                <a:alpha val="0"/>
              </a:srgbClr>
            </a:solidFill>
            <a:prstDash val="solid"/>
          </a:ln>
        </p:spPr>
      </p:sp>
      <p:sp>
        <p:nvSpPr>
          <p:cNvPr id="7" name="Shape 5"/>
          <p:cNvSpPr/>
          <p:nvPr/>
        </p:nvSpPr>
        <p:spPr>
          <a:xfrm>
            <a:off x="1463040" y="1005840"/>
            <a:ext cx="457200" cy="36576"/>
          </a:xfrm>
          <a:prstGeom prst="rect">
            <a:avLst/>
          </a:prstGeom>
          <a:solidFill>
            <a:srgbClr val="7C3AED"/>
          </a:solidFill>
          <a:ln w="12700">
            <a:solidFill>
              <a:srgbClr val="7C3AED">
                <a:alpha val="0"/>
              </a:srgbClr>
            </a:solidFill>
            <a:prstDash val="solid"/>
          </a:ln>
        </p:spPr>
      </p:sp>
      <p:sp>
        <p:nvSpPr>
          <p:cNvPr id="8"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0891B2"/>
                </a:solidFill>
                <a:latin typeface="Consolas" pitchFamily="34" charset="0"/>
                <a:ea typeface="Consolas" pitchFamily="34" charset="-122"/>
                <a:cs typeface="Consolas" pitchFamily="34" charset="-120"/>
              </a:rPr>
              <a:t>26</a:t>
            </a:r>
            <a:endParaRPr lang="en-US" sz="1000" dirty="0"/>
          </a:p>
        </p:txBody>
      </p:sp>
      <p:sp>
        <p:nvSpPr>
          <p:cNvPr id="9" name="Shape 7"/>
          <p:cNvSpPr/>
          <p:nvPr/>
        </p:nvSpPr>
        <p:spPr>
          <a:xfrm>
            <a:off x="457200" y="1097280"/>
            <a:ext cx="8229600" cy="1737360"/>
          </a:xfrm>
          <a:prstGeom prst="roundRect">
            <a:avLst>
              <a:gd name="adj" fmla="val 5263"/>
            </a:avLst>
          </a:prstGeom>
          <a:solidFill>
            <a:srgbClr val="FFFFFF"/>
          </a:solidFill>
          <a:ln w="9525">
            <a:solidFill>
              <a:srgbClr val="0891B2">
                <a:alpha val="55000"/>
              </a:srgbClr>
            </a:solidFill>
            <a:prstDash val="solid"/>
          </a:ln>
        </p:spPr>
      </p:sp>
      <p:sp>
        <p:nvSpPr>
          <p:cNvPr id="10" name="Shape 8"/>
          <p:cNvSpPr/>
          <p:nvPr/>
        </p:nvSpPr>
        <p:spPr>
          <a:xfrm>
            <a:off x="475488" y="1225296"/>
            <a:ext cx="45720" cy="292608"/>
          </a:xfrm>
          <a:prstGeom prst="rect">
            <a:avLst/>
          </a:prstGeom>
          <a:solidFill>
            <a:srgbClr val="0891B2"/>
          </a:solidFill>
          <a:ln w="12700">
            <a:solidFill>
              <a:srgbClr val="0891B2">
                <a:alpha val="0"/>
              </a:srgbClr>
            </a:solidFill>
            <a:prstDash val="solid"/>
          </a:ln>
        </p:spPr>
      </p:sp>
      <p:sp>
        <p:nvSpPr>
          <p:cNvPr id="11" name="Text 9"/>
          <p:cNvSpPr txBox="1"/>
          <p:nvPr/>
        </p:nvSpPr>
        <p:spPr>
          <a:xfrm>
            <a:off x="621792" y="1188720"/>
            <a:ext cx="795528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AI Disclosure Statement</a:t>
            </a:r>
            <a:endParaRPr lang="en-US" sz="1400" dirty="0"/>
          </a:p>
        </p:txBody>
      </p:sp>
      <p:sp>
        <p:nvSpPr>
          <p:cNvPr id="12" name="Text 10"/>
          <p:cNvSpPr txBox="1"/>
          <p:nvPr/>
        </p:nvSpPr>
        <p:spPr>
          <a:xfrm>
            <a:off x="621792" y="1536192"/>
            <a:ext cx="7936992" cy="1207008"/>
          </a:xfrm>
          <a:prstGeom prst="rect">
            <a:avLst/>
          </a:prstGeom>
          <a:noFill/>
          <a:ln/>
        </p:spPr>
        <p:txBody>
          <a:bodyPr wrap="square" lIns="0" tIns="0" rIns="0" bIns="0" rtlCol="0" anchor="t"/>
          <a:lstStyle/>
          <a:p>
            <a:pPr indent="0" marL="0">
              <a:spcAft>
                <a:spcPts val="300"/>
              </a:spcAft>
              <a:buNone/>
            </a:pPr>
            <a:r>
              <a:rPr lang="en-US" sz="1250" dirty="0">
                <a:solidFill>
                  <a:srgbClr val="0F172A"/>
                </a:solidFill>
              </a:rPr>
              <a:t>This presentation, the dashboard code and the analysis scripts were developed with the assistance of Artificial Intelligence tools for structure, code drafting and visual design. The modelling run, the interpretation of results, the fairness findings and the decision to report failures plainly were reviewed and validated by the author. The official AI Disclosure Form accompanies this submission.</a:t>
            </a:r>
            <a:endParaRPr lang="en-US" sz="1250" dirty="0"/>
          </a:p>
        </p:txBody>
      </p:sp>
      <p:sp>
        <p:nvSpPr>
          <p:cNvPr id="13" name="Shape 11"/>
          <p:cNvSpPr/>
          <p:nvPr/>
        </p:nvSpPr>
        <p:spPr>
          <a:xfrm>
            <a:off x="457200" y="2971800"/>
            <a:ext cx="8229600" cy="1645920"/>
          </a:xfrm>
          <a:prstGeom prst="roundRect">
            <a:avLst>
              <a:gd name="adj" fmla="val 5556"/>
            </a:avLst>
          </a:prstGeom>
          <a:solidFill>
            <a:srgbClr val="FFFFFF"/>
          </a:solidFill>
          <a:ln w="9525">
            <a:solidFill>
              <a:srgbClr val="0891B2">
                <a:alpha val="55000"/>
              </a:srgbClr>
            </a:solidFill>
            <a:prstDash val="solid"/>
          </a:ln>
        </p:spPr>
      </p:sp>
      <p:sp>
        <p:nvSpPr>
          <p:cNvPr id="14" name="Shape 12"/>
          <p:cNvSpPr/>
          <p:nvPr/>
        </p:nvSpPr>
        <p:spPr>
          <a:xfrm>
            <a:off x="475488" y="3099816"/>
            <a:ext cx="45720" cy="292608"/>
          </a:xfrm>
          <a:prstGeom prst="rect">
            <a:avLst/>
          </a:prstGeom>
          <a:solidFill>
            <a:srgbClr val="0891B2"/>
          </a:solidFill>
          <a:ln w="12700">
            <a:solidFill>
              <a:srgbClr val="0891B2">
                <a:alpha val="0"/>
              </a:srgbClr>
            </a:solidFill>
            <a:prstDash val="solid"/>
          </a:ln>
        </p:spPr>
      </p:sp>
      <p:sp>
        <p:nvSpPr>
          <p:cNvPr id="15" name="Text 13"/>
          <p:cNvSpPr txBox="1"/>
          <p:nvPr/>
        </p:nvSpPr>
        <p:spPr>
          <a:xfrm>
            <a:off x="621792" y="3063240"/>
            <a:ext cx="7955280" cy="32004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Code and live links</a:t>
            </a:r>
            <a:endParaRPr lang="en-US" sz="1400" dirty="0"/>
          </a:p>
        </p:txBody>
      </p:sp>
      <p:sp>
        <p:nvSpPr>
          <p:cNvPr id="16" name="Text 14"/>
          <p:cNvSpPr txBox="1"/>
          <p:nvPr/>
        </p:nvSpPr>
        <p:spPr>
          <a:xfrm>
            <a:off x="621792" y="3410712"/>
            <a:ext cx="7936992" cy="1115568"/>
          </a:xfrm>
          <a:prstGeom prst="rect">
            <a:avLst/>
          </a:prstGeom>
          <a:noFill/>
          <a:ln/>
        </p:spPr>
        <p:txBody>
          <a:bodyPr wrap="square" lIns="0" tIns="0" rIns="0" bIns="0" rtlCol="0" anchor="t"/>
          <a:lstStyle/>
          <a:p>
            <a:pPr indent="0" marL="0">
              <a:spcAft>
                <a:spcPts val="300"/>
              </a:spcAft>
              <a:buNone/>
            </a:pPr>
            <a:r>
              <a:rPr lang="en-US" sz="1200" dirty="0">
                <a:solidFill>
                  <a:srgbClr val="0F172A"/>
                </a:solidFill>
              </a:rPr>
              <a:t>Dashboard: https://YOUR-APP-NAME.streamlit.app</a:t>
            </a:r>
            <a:endParaRPr lang="en-US" sz="1200" dirty="0"/>
          </a:p>
          <a:p>
            <a:pPr indent="0" marL="0">
              <a:spcAft>
                <a:spcPts val="300"/>
              </a:spcAft>
              <a:buNone/>
            </a:pPr>
            <a:r>
              <a:rPr lang="en-US" sz="1200" dirty="0">
                <a:solidFill>
                  <a:srgbClr val="0F172A"/>
                </a:solidFill>
              </a:rPr>
              <a:t>Repository: the Module 2 GitHub repository, with the Module 5 folder added (src/app.py, artifacts/, requirements.txt, api_demo.py, src/api/main.py)</a:t>
            </a:r>
            <a:endParaRPr lang="en-US" sz="1200" dirty="0"/>
          </a:p>
          <a:p>
            <a:pPr indent="0" marL="0">
              <a:spcAft>
                <a:spcPts val="300"/>
              </a:spcAft>
              <a:buNone/>
            </a:pPr>
            <a:r>
              <a:rPr lang="en-US" sz="1200" dirty="0">
                <a:solidFill>
                  <a:srgbClr val="0F172A"/>
                </a:solidFill>
              </a:rPr>
              <a:t>Rebuild locally: pip install -r requirements.txt, then streamlit run src/app.py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CareConnect - Business Insights Presentation (BAN 6800 Module 5)</dc:title>
  <dc:subject>PptxGenJS Presentation</dc:subject>
  <dc:creator>Gladys Izuagbe</dc:creator>
  <cp:lastModifiedBy>Gladys Izuagbe</cp:lastModifiedBy>
  <cp:revision>1</cp:revision>
  <dcterms:created xsi:type="dcterms:W3CDTF">2026-10-09T06:43:11Z</dcterms:created>
  <dcterms:modified xsi:type="dcterms:W3CDTF">2026-10-09T06:43:11Z</dcterms:modified>
</cp:coreProperties>
</file>